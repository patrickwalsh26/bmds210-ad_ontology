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9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gwTtu56rGevqiwSdbkv/9xS7Bs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customschemas.google.com/relationships/presentationmetadata" Target="metadata"/><Relationship Id="rId19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opens — frame the talk.</a:t>
            </a:r>
          </a:p>
          <a:p>
            <a:r>
              <a:t>SAY: Patrick Walsh &amp; Darren Chan. ADO = computable EOL preferences in advanced HF. Not a legal AD — decision support for ACP documentation.</a:t>
            </a:r>
          </a:p>
          <a:p>
            <a:r>
              <a:t>TRANSITION: "Start where clinicians live—the 2 a.m. crisis."</a:t>
            </a:r>
          </a:p>
          <a:p>
            <a:r>
              <a:t>[~25s]</a:t>
            </a: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— three instruments, translation loss.</a:t>
            </a:r>
          </a:p>
          <a:p>
            <a:r>
              <a:t>SAY: AD → POLST → code status. Loss = conditional wishes → coarse boxes. "Free text" cliché is half wrong—CA/UC forms are checkboxes. Real problem: low resolution + disease blindness.</a:t>
            </a:r>
          </a:p>
          <a:p>
            <a:r>
              <a:t>POINT AT: ventilator example on slide.</a:t>
            </a:r>
          </a:p>
          <a:p>
            <a:r>
              <a:t>TRANSITION: "HF is where that blindness hurts most."</a:t>
            </a:r>
          </a:p>
          <a:p>
            <a:r>
              <a:t>[~45s]</a:t>
            </a: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— why HF scope.</a:t>
            </a:r>
          </a:p>
          <a:p>
            <a:r>
              <a:t>SAY: Unpredictable, device-heavy, repeated ED/ICU visits. Five decision points. ICD/LVAD/inotropes missing from generic templates.</a:t>
            </a:r>
          </a:p>
          <a:p>
            <a:r>
              <a:t>TRANSITION: "What's the smallest object that preserves patient logic?"</a:t>
            </a:r>
          </a:p>
          <a:p>
            <a:r>
              <a:t>[~35s]</a:t>
            </a:r>
          </a:p>
        </p:txBody>
      </p:sp>
      <p:sp>
        <p:nvSpPr>
          <p:cNvPr id="48" name="Google Shape;4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begins — PreferenceStatement.</a:t>
            </a:r>
          </a:p>
          <a:p>
            <a:r>
              <a:t>SAY: Intervention + activation conditions + strength + negation + verbatim text. Reasoner asks: does this apply in THIS scenario? Walk 72h vasopressor example.</a:t>
            </a:r>
          </a:p>
          <a:p>
            <a:r>
              <a:t>TRANSITION: "How much structure we built around that."</a:t>
            </a:r>
          </a:p>
          <a:p>
            <a:r>
              <a:t>[~45s]</a:t>
            </a:r>
          </a:p>
        </p:txBody>
      </p:sp>
      <p:sp>
        <p:nvSpPr>
          <p:cNvPr id="67" name="Google Shape;6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ontology credibility.</a:t>
            </a:r>
          </a:p>
          <a:p>
            <a:r>
              <a:t>SAY: 67 classes, 22 properties, 21 interventions—finer than our 50-form inventory. SNOMED where possible.</a:t>
            </a:r>
          </a:p>
          <a:p>
            <a:r>
              <a:t>OPTIONAL LIVE: Open Protégé → ado_jane_doe_001.owl → expand Intervention tree (see Protege_Showcase_Guide.md). POINT AT hierarchy figure on slide.</a:t>
            </a:r>
          </a:p>
          <a:p>
            <a:r>
              <a:t>TRANSITION: "Granularity only helps if we know when NOT to answer."</a:t>
            </a:r>
          </a:p>
          <a:p>
            <a:r>
              <a:t>[~35s, +2 min if Protégé live]</a:t>
            </a:r>
          </a:p>
        </p:txBody>
      </p:sp>
      <p:sp>
        <p:nvSpPr>
          <p:cNvPr id="93" name="Google Shape;9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safety thesis (four honest outputs).</a:t>
            </a:r>
          </a:p>
          <a:p>
            <a:r>
              <a:t>SAY: Clear / Partial / No coverage / Vague. Punchline: checkbox or LLM can't say "I don't know." ADO can.</a:t>
            </a:r>
          </a:p>
          <a:p>
            <a:r>
              <a:t>TRANSITION: "How we wired that into a pipeline."</a:t>
            </a:r>
          </a:p>
          <a:p>
            <a:r>
              <a:t>[~40s]</a:t>
            </a:r>
          </a:p>
        </p:txBody>
      </p:sp>
      <p:sp>
        <p:nvSpPr>
          <p:cNvPr id="122" name="Google Shape;12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architecture.</a:t>
            </a:r>
          </a:p>
          <a:p>
            <a:r>
              <a:t>SAY: LLMs extract ONLY. Ontology = auditable truth. Reasoner decides. Closed-world: out-of-scope → extract nothing. Tagline: WITH LLMs, not vs.</a:t>
            </a:r>
          </a:p>
          <a:p>
            <a:r>
              <a:t>OPTIONAL: "We can demo scenario 1 live after results."</a:t>
            </a:r>
          </a:p>
          <a:p>
            <a:r>
              <a:t>TRANSITION: "We tested that three ways."</a:t>
            </a:r>
          </a:p>
          <a:p>
            <a:r>
              <a:t>[~45s]</a:t>
            </a:r>
          </a:p>
        </p:txBody>
      </p:sp>
      <p:sp>
        <p:nvSpPr>
          <p:cNvPr id="144" name="Google Shape;14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earn trust before numbers.</a:t>
            </a:r>
          </a:p>
          <a:p>
            <a:r>
              <a:t>SAY: 5 evaluation strands on slide. Caveat: team gold, grounded in real templates + POLST semantics. Ablation = same 16 vignettes without conditions → 75%.</a:t>
            </a:r>
          </a:p>
          <a:p>
            <a:r>
              <a:t>POINT AT: vignette pie chart (if visible).</a:t>
            </a:r>
          </a:p>
          <a:p>
            <a:r>
              <a:t>TRANSITION: "Here's what we found."</a:t>
            </a:r>
          </a:p>
          <a:p>
            <a:r>
              <a:t>[~45s]</a:t>
            </a:r>
          </a:p>
        </p:txBody>
      </p:sp>
      <p:sp>
        <p:nvSpPr>
          <p:cNvPr id="166" name="Google Shape;16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flagship results.</a:t>
            </a:r>
          </a:p>
          <a:p>
            <a:r>
              <a:t>SAY: Track 1: 16/16. Track 2: F1 0.97, 0 hallucinations on nutrition/antibiotics. Track 3: 35/36 (97%), κ 1.00/1.00/0.88. Ablation: 75% without conditions = 4 false-confident conditional errors.</a:t>
            </a:r>
          </a:p>
          <a:p>
            <a:r>
              <a:t>POINT AT: bar charts on right of slide.</a:t>
            </a:r>
          </a:p>
          <a:p>
            <a:r>
              <a:t>TRANSITION: "One profile pair shows the clinical payoff."</a:t>
            </a:r>
          </a:p>
          <a:p>
            <a:r>
              <a:t>[~55s]</a:t>
            </a:r>
          </a:p>
        </p:txBody>
      </p:sp>
      <p:sp>
        <p:nvSpPr>
          <p:cNvPr id="194" name="Google Shape;19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clinical "aha."</a:t>
            </a:r>
          </a:p>
          <a:p>
            <a:r>
              <a:t>SAY: Same directive, two scenarios → DNR vs Full code. Flat POLST can't carry if/then.</a:t>
            </a:r>
          </a:p>
          <a:p>
            <a:r>
              <a:t>POINT AT: P9/P10 figure if on slide.</a:t>
            </a:r>
          </a:p>
          <a:p>
            <a:r>
              <a:t>TRANSITION: "An ethicist placed this in workflow."</a:t>
            </a:r>
          </a:p>
          <a:p>
            <a:r>
              <a:t>[~40s]</a:t>
            </a:r>
          </a:p>
        </p:txBody>
      </p:sp>
      <p:sp>
        <p:nvSpPr>
          <p:cNvPr id="224" name="Google Shape;22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IV — Magnus reframe.</a:t>
            </a:r>
          </a:p>
          <a:p>
            <a:r>
              <a:t>SAY: Not a signed AHCD — ACP progress note. Directive → ADO → ACP pre-pop → conversation → POLST/code status.</a:t>
            </a:r>
          </a:p>
          <a:p>
            <a:r>
              <a:t>TRANSITION: "What we didn't solve."</a:t>
            </a:r>
          </a:p>
          <a:p>
            <a:r>
              <a:t>[~40s]</a:t>
            </a:r>
          </a:p>
        </p:txBody>
      </p:sp>
      <p:sp>
        <p:nvSpPr>
          <p:cNvPr id="242" name="Google Shape;24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IV — limits without retreating.</a:t>
            </a:r>
          </a:p>
          <a:p>
            <a:r>
              <a:t>SAY: No legal force; one-dimensional (who-decides next); coverage gaps; team gold; EHR validation future.</a:t>
            </a:r>
          </a:p>
          <a:p>
            <a:r>
              <a:t>TRANSITION: "Four takeaways."</a:t>
            </a:r>
          </a:p>
          <a:p>
            <a:r>
              <a:t>[~35s]</a:t>
            </a:r>
          </a:p>
        </p:txBody>
      </p:sp>
      <p:sp>
        <p:nvSpPr>
          <p:cNvPr id="261" name="Google Shape;26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Close.</a:t>
            </a:r>
          </a:p>
          <a:p>
            <a:r>
              <a:t>SAY: Read four bullets. Repo URL. Questions welcome.</a:t>
            </a:r>
          </a:p>
          <a:p>
            <a:r>
              <a:t>OFFER: "Happy to run demo scenario 1 live."</a:t>
            </a:r>
          </a:p>
          <a:p>
            <a:r>
              <a:t>[~25s]</a:t>
            </a:r>
          </a:p>
        </p:txBody>
      </p:sp>
      <p:sp>
        <p:nvSpPr>
          <p:cNvPr id="284" name="Google Shape;28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36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" y="111556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Advance Directive Ontology (ADO)</a:t>
            </a:r>
            <a:endParaRPr b="0" i="0" sz="3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713232" y="1993392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F6F5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E9F6F5"/>
                </a:solidFill>
                <a:latin typeface="Arial"/>
                <a:ea typeface="Arial"/>
                <a:cs typeface="Arial"/>
                <a:sym typeface="Arial"/>
              </a:rPr>
              <a:t>A computable representation of end-of-life care preferences in advanced heart failure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"/>
          <p:cNvCxnSpPr/>
          <p:nvPr/>
        </p:nvCxnSpPr>
        <p:spPr>
          <a:xfrm>
            <a:off x="731520" y="2670048"/>
            <a:ext cx="3840480" cy="0"/>
          </a:xfrm>
          <a:prstGeom prst="straightConnector1">
            <a:avLst/>
          </a:prstGeom>
          <a:noFill/>
          <a:ln cap="flat" cmpd="sng" w="38100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1"/>
          <p:cNvSpPr/>
          <p:nvPr/>
        </p:nvSpPr>
        <p:spPr>
          <a:xfrm>
            <a:off x="713232" y="3063240"/>
            <a:ext cx="65836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E9EC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9E9EC"/>
                </a:solidFill>
                <a:latin typeface="Arial"/>
                <a:ea typeface="Arial"/>
                <a:cs typeface="Arial"/>
                <a:sym typeface="Arial"/>
              </a:rPr>
              <a:t>Patrick Walsh  •  Darren Chan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E9EC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9E9EC"/>
                </a:solidFill>
                <a:latin typeface="Arial"/>
                <a:ea typeface="Arial"/>
                <a:cs typeface="Arial"/>
                <a:sym typeface="Arial"/>
              </a:rPr>
              <a:t>Stanford University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635240" y="4069080"/>
            <a:ext cx="1417320" cy="91440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OWL 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ontology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9372600" y="3730752"/>
            <a:ext cx="1417320" cy="914400"/>
          </a:xfrm>
          <a:prstGeom prst="rect">
            <a:avLst/>
          </a:prstGeom>
          <a:solidFill>
            <a:srgbClr val="FFF4DE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Clinical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8458200" y="5166360"/>
            <a:ext cx="1508760" cy="914400"/>
          </a:xfrm>
          <a:prstGeom prst="rect">
            <a:avLst/>
          </a:prstGeom>
          <a:solidFill>
            <a:srgbClr val="F6E9E6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Actionable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CLINICAL PROBLEM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The workflow has documents, orders, and gaps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" name="Google Shape;30;p2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2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2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713232" y="1627632"/>
            <a:ext cx="10149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End-of-life preferences often move through three different instruments. The loss happens in the middle: conditional patient wishes become coarse checkboxes or bedside orders.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777240" y="2907792"/>
            <a:ext cx="205740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Advance directive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values + wishes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3657600" y="2907792"/>
            <a:ext cx="196596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POLST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portable orders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400800" y="2907792"/>
            <a:ext cx="196596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Code status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bedside action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9144000" y="2907792"/>
            <a:ext cx="210312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Acute crisis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do we do?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2926080" y="2615184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Low resolution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5715000" y="261518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Disease blind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8412480" y="261518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No reasoning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914400" y="4617720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Example wish lost in translation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914400" y="5029200"/>
            <a:ext cx="7863840" cy="512064"/>
          </a:xfrm>
          <a:prstGeom prst="rect">
            <a:avLst/>
          </a:prstGeom>
          <a:solidFill>
            <a:srgbClr val="FFF9EA"/>
          </a:solidFill>
          <a:ln cap="flat" cmpd="sng" w="12700">
            <a:solidFill>
              <a:srgbClr val="F0D1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2000"/>
              <a:buFont typeface="Arial"/>
              <a:buNone/>
            </a:pPr>
            <a:r>
              <a:rPr b="0" i="1" lang="en-US" sz="2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“I would accept a ventilator temporarily if the cause is reversible, but never indefinitely.”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914400" y="5715000"/>
            <a:ext cx="8778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 checkbox can record “ventilator: yes/no,” but not the conditional structure.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WHY THIS CLINICAL SCOPE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Advanced heart failure makes the gap visible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" name="Google Shape;52;p3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3" name="Google Shape;53;p3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" name="Google Shape;54;p3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713232" y="1627632"/>
            <a:ext cx="100584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Heart failure is unpredictable, device-dependent, and frequently revisited in emergency/ICU settings—exactly where preference interpretation becomes time pressured.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4617720" y="2697480"/>
            <a:ext cx="2926080" cy="713232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14901"/>
              </a:srgbClr>
            </a:outerShdw>
          </a:effectLst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Advanced HF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868680" y="25420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CPR /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resuscitation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2560320" y="4572000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Mechanical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ventilation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983480" y="52852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ICD + device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management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7543800" y="4572000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Vasopressor /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inotrope escalation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9235440" y="25420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Dialysis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68680" y="6144768"/>
            <a:ext cx="10332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080"/>
              <a:buFont typeface="Arial"/>
              <a:buNone/>
            </a:pPr>
            <a:r>
              <a:rPr b="0" i="0" lang="en-US" sz="108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Generic AD templates rarely mention ICD deactivation, LVAD/device decisions, or inotrope escalation.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APPROACH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Core idea: turn patient language into computable preference objects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" name="Google Shape;71;p4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4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p4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713232" y="1609344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ADO preserves the original text, but gives a reasoner the structured facts it needs to decide whether a preference actually applies.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822960" y="2788920"/>
            <a:ext cx="3108960" cy="10058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“Do not continue vasopressors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if there is no improvement after 72 hours.”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4754880" y="2542032"/>
            <a:ext cx="2377440" cy="64008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PreferenceStatement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7635240" y="239572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Intervention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9235440" y="239572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vasopressor withdrawal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7635240" y="312724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ActivationCondition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9235440" y="312724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no improvement; 72h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635240" y="385876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Strength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235440" y="385876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strong / conditional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7635240" y="459028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Negated?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9235440" y="459028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635240" y="532180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OriginalText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9235440" y="532180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verbatim quote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960120" y="4645152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Why preserve original language?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960120" y="50109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It lets the system be auditable and lets clinicians see the patient’s words behind the inference.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ONTOLOGY SCOPE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ADO models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" name="Google Shape;98;p5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5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1005840" y="201168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1005840" y="253288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classes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2560320" y="201168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B14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8B14D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2560320" y="253288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properties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4114800" y="201168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6F5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D76F5D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4114800" y="253288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intervention subclasses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6629400" y="1993392"/>
            <a:ext cx="4206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Five decision points are expanded into intervention subclasses at a clinically meaningful level of granularity.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914400" y="329184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CPR / resuscitation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3337560" y="329184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CPR • defibrillation • transcutaneous pacing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914400" y="379476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Ventilation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3337560" y="379476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temporary vs. indefinite • invasive vs. non-invasive •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914400" y="429768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Device management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3337560" y="429768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ICD deactivation • shock therapy • LVAD • pacemaker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914400" y="480060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Escalation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3337560" y="480060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vasopressor/inotrope escalation and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914400" y="530352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Dialysis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3337560" y="530352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acute • chronic •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914400" y="5961888"/>
            <a:ext cx="8961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Grounding: clinical concepts are mapped to standard terminologies such as SNOMED CT.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Picture 118" descr="ontology_class_hierarc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51560"/>
            <a:ext cx="5394960" cy="33290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OUTPUT SEMANTICS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The reasoner is designed to be honest, not overconfident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6" name="Google Shape;126;p6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" name="Google Shape;127;p6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8" name="Google Shape;128;p6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Instead of forcing a binary answer, ADO returns one of four outputs that tell a clinician how much the directive actually says.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5303520" y="3383280"/>
            <a:ext cx="1554480" cy="82296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Clinical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960120" y="2423160"/>
            <a:ext cx="2651760" cy="438912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Clear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960120" y="291693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conditions met; unambiguous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960120" y="4572000"/>
            <a:ext cx="2651760" cy="438912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Partial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960120" y="506577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some conditions uncertain/unmet; defer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8229600" y="2423160"/>
            <a:ext cx="2651760" cy="438912"/>
          </a:xfrm>
          <a:prstGeom prst="rect">
            <a:avLst/>
          </a:prstGeom>
          <a:solidFill>
            <a:srgbClr val="D76F5D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 coverage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8229600" y="291693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directive is silent for this scenario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8229600" y="4572000"/>
            <a:ext cx="2651760" cy="438912"/>
          </a:xfrm>
          <a:prstGeom prst="rect">
            <a:avLst/>
          </a:prstGeom>
          <a:solidFill>
            <a:srgbClr val="68518A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Vague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8229600" y="506577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imprecise language surfaced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2057400" y="5925312"/>
            <a:ext cx="8092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This is the safety feature: uncertainty becomes visible rather than hidden behind a confident answer.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SYSTEM IMPLEMENTATION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End-to-end architecture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" name="Google Shape;148;p7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9" name="Google Shape;149;p7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7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713232" y="1627632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LLMs are used only at the boundary. The ontology remains the auditable source of truth, and the deterministic reasoner produces the clinical output.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685800" y="2971800"/>
            <a:ext cx="1554480" cy="7772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Structured form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or free text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2697480" y="2971800"/>
            <a:ext cx="1554480" cy="7772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Closed-world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LLM extraction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4709160" y="2971800"/>
            <a:ext cx="1554480" cy="7772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Validated JSON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preferences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6720840" y="2971800"/>
            <a:ext cx="1554480" cy="77724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OWL ontology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+ individuals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8732520" y="2971800"/>
            <a:ext cx="1554480" cy="77724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Scenario-based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reasoner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10561320" y="2971800"/>
            <a:ext cx="1417320" cy="777240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ACP note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POLST/code status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2697480" y="4160520"/>
            <a:ext cx="1554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Closed-world rule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057400" y="4498848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Extract only what the patient explicitly states; do not map out-of-scope content to the nearest covered class.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8183880" y="416052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Reasoner responsibility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7818120" y="4498848"/>
            <a:ext cx="29260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Match intervention + activation conditions + negation + strength against the clinical scenario.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STUDY DESIGN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Evaluation asked: does ADO reason correctly and integrate plausibly?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0" name="Google Shape;170;p8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1" name="Google Shape;171;p8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8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822960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1325880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Pipeline validation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822960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Example patient → populated ontology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3035808" y="2770632"/>
            <a:ext cx="411480" cy="411480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3538728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Clinical vignettes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3035808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16 scenarios across all decision points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5248656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5751576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Ablation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5248656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Full reasoner vs. condition-blind variant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7461504" y="2770632"/>
            <a:ext cx="411480" cy="411480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7964424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LLM extraction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7461504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12 real-template statements + out-of-scope tests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9674352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10177272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Mapping + expert review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9674352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12 directive profiles → code status/POLST; ethics review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1143000" y="4983480"/>
            <a:ext cx="9509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Gold standards were human-defined for vignette decisions and grounded in POLST semantics for code-status mapping.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1920240" y="5468112"/>
            <a:ext cx="7955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ablation isolates whether activation-condition modeling actually changes decisions.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Picture 190" descr="vignette_match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097280"/>
            <a:ext cx="4114800" cy="37886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9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QUANTITATIVE EVALUATION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Results: high fidelity, with conditionality doing real work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8" name="Google Shape;198;p9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9" name="Google Shape;199;p9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0" name="Google Shape;200;p9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9"/>
          <p:cNvSpPr/>
          <p:nvPr/>
        </p:nvSpPr>
        <p:spPr>
          <a:xfrm>
            <a:off x="777240" y="1847088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16/16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777240" y="236829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vignette decision accuracy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2926080" y="1847088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8A6A5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38A6A5"/>
                </a:solidFill>
                <a:latin typeface="Arial"/>
                <a:ea typeface="Arial"/>
                <a:cs typeface="Arial"/>
                <a:sym typeface="Arial"/>
              </a:rPr>
              <a:t>16/16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2926080" y="2368296"/>
            <a:ext cx="1828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match-type accuracy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4983480" y="1847088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B14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8B14D"/>
                </a:solidFill>
                <a:latin typeface="Arial"/>
                <a:ea typeface="Arial"/>
                <a:cs typeface="Arial"/>
                <a:sym typeface="Arial"/>
              </a:rPr>
              <a:t>0.97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4983480" y="2368296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LLM extraction F1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6858000" y="1847088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6F5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D76F5D"/>
                </a:solidFill>
                <a:latin typeface="Arial"/>
                <a:ea typeface="Arial"/>
                <a:cs typeface="Arial"/>
                <a:sym typeface="Arial"/>
              </a:rPr>
              <a:t>35/36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6858000" y="2368296"/>
            <a:ext cx="21031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code/POLST field agreement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9144000" y="1847088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r>
              <a:t>κ=1.00 / 1.00 / 0.88</a:t>
            </a:r>
          </a:p>
        </p:txBody>
      </p:sp>
      <p:sp>
        <p:nvSpPr>
          <p:cNvPr id="211" name="Google Shape;211;p9"/>
          <p:cNvSpPr/>
          <p:nvPr/>
        </p:nvSpPr>
        <p:spPr>
          <a:xfrm>
            <a:off x="9144000" y="2368296"/>
            <a:ext cx="19202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r>
              <a:t>code / POLST A / POLST B</a:t>
            </a:r>
          </a:p>
        </p:txBody>
      </p:sp>
      <p:sp>
        <p:nvSpPr>
          <p:cNvPr id="212" name="Google Shape;212;p9"/>
          <p:cNvSpPr/>
          <p:nvPr/>
        </p:nvSpPr>
        <p:spPr>
          <a:xfrm>
            <a:off x="1234440" y="361188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Reasoner ablation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1234440" y="40233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Full reasoner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2697480" y="4023360"/>
            <a:ext cx="3108960" cy="320040"/>
          </a:xfrm>
          <a:prstGeom prst="rect">
            <a:avLst/>
          </a:prstGeom>
          <a:solidFill>
            <a:srgbClr val="1B7F89"/>
          </a:solidFill>
          <a:ln cap="flat" cmpd="sng" w="12700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9"/>
          <p:cNvSpPr/>
          <p:nvPr/>
        </p:nvSpPr>
        <p:spPr>
          <a:xfrm>
            <a:off x="5916168" y="40599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1234440" y="4590288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Condition-blind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2697480" y="4590288"/>
            <a:ext cx="2331720" cy="320040"/>
          </a:xfrm>
          <a:prstGeom prst="rect">
            <a:avLst/>
          </a:prstGeom>
          <a:solidFill>
            <a:srgbClr val="D76F5D"/>
          </a:solidFill>
          <a:ln cap="flat" cmpd="sng" w="12700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5138928" y="4626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6565392" y="3886200"/>
            <a:ext cx="41605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r>
              <a:t>Post-hoc ablation: ignore activation conditions on the same 16 vignettes → 12/16 (75%). All four errors are conditional/partial cases.</a:t>
            </a:r>
          </a:p>
        </p:txBody>
      </p:sp>
      <p:sp>
        <p:nvSpPr>
          <p:cNvPr id="220" name="Google Shape;220;p9"/>
          <p:cNvSpPr/>
          <p:nvPr/>
        </p:nvSpPr>
        <p:spPr>
          <a:xfrm>
            <a:off x="2743200" y="5559552"/>
            <a:ext cx="6766560" cy="384048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finding: conditional logic prevents dangerous over-reading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411480" y="598932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Also: extraction P/R = 0.94 / 1.00 • 0 out-of-scope hallucinations • 11/12 profiles exact match on all three bedside fields</a:t>
            </a:r>
          </a:p>
        </p:txBody>
      </p:sp>
      <p:pic>
        <p:nvPicPr>
          <p:cNvPr id="222" name="Picture 221" descr="eval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486400" cy="2843797"/>
          </a:xfrm>
          <a:prstGeom prst="rect">
            <a:avLst/>
          </a:prstGeom>
        </p:spPr>
      </p:pic>
      <p:pic>
        <p:nvPicPr>
          <p:cNvPr id="223" name="Picture 222" descr="ablation_condi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703320"/>
            <a:ext cx="5486400" cy="36247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EXAMPLE DECISION LOGIC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conditional reasoning changes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8" name="Google Shape;228;p10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9" name="Google Shape;229;p10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0" name="Google Shape;230;p10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same directive can map to different bedside outputs depending on the scenario. ADO keeps that conditionality explicit.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3401568" y="2331720"/>
            <a:ext cx="5394960" cy="7772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Directive preference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“No CPR if NYHA IV and no reversible cause.”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1143000" y="3886200"/>
            <a:ext cx="2971800" cy="65836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 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NYHA IV + no reversible cause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1143000" y="4718304"/>
            <a:ext cx="2971800" cy="658368"/>
          </a:xfrm>
          <a:prstGeom prst="rect">
            <a:avLst/>
          </a:prstGeom>
          <a:solidFill>
            <a:srgbClr val="E8F3F2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 output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DNR / clear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8046720" y="3886200"/>
            <a:ext cx="2971800" cy="65836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 B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NYHA III + reversible cause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8046720" y="4718304"/>
            <a:ext cx="2971800" cy="658368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 output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Full code / partial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1920240" y="5797296"/>
            <a:ext cx="84124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 flat checkbox cannot carry this “if/then” structure; it must either over-apply or discard it.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9" name="Picture 238" descr="conditional_p9_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71600"/>
            <a:ext cx="5303520" cy="242671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1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CLINICAL INTEGRATION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Best workflow fit: pre-populating an ACP note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6" name="Google Shape;246;p11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7" name="Google Shape;247;p11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8" name="Google Shape;248;p11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713232" y="1627632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Expert review reframed ADO as documentation support rather than a legal directive. This preserves its value while avoiding the wrong legal claim.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822960" y="2788920"/>
            <a:ext cx="1691640" cy="82296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Existing AD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verbatim wishes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3063240" y="2788920"/>
            <a:ext cx="1828800" cy="82296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structured preferences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5486400" y="2788920"/>
            <a:ext cx="1874520" cy="82296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Epic ACP note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pre-populated fields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8001000" y="2788920"/>
            <a:ext cx="2057400" cy="82296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Provider conversation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clarify or override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10195560" y="2788920"/>
            <a:ext cx="1554480" cy="822960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Final record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ACP + POLST/code status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1234440" y="4709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Source-of-truth priority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1234440" y="5047488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20"/>
              <a:buFont typeface="Arial"/>
              <a:buNone/>
            </a:pPr>
            <a:r>
              <a:rPr b="0" i="0" lang="en-US" sz="14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ACP conversation can clarify or supersede AD preferences. But when a decision is not revisited, the structured AD remains the best available record of the patient’s wishes.</a:t>
            </a:r>
            <a:endParaRPr b="0" i="0" sz="14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2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LIMITS + PRIORITIES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2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Expert review sharpened the contribution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5" name="Google Shape;265;p12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6" name="Google Shape;266;p12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7" name="Google Shape;267;p12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critique did not eliminate the system’s value; it moved ADO to the right place in the clinical workflow and exposed the next modeling gaps.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2"/>
          <p:cNvSpPr/>
          <p:nvPr/>
        </p:nvSpPr>
        <p:spPr>
          <a:xfrm>
            <a:off x="987552" y="2542032"/>
            <a:ext cx="2148840" cy="384048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Positioning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2"/>
          <p:cNvSpPr/>
          <p:nvPr/>
        </p:nvSpPr>
        <p:spPr>
          <a:xfrm>
            <a:off x="3337560" y="2569464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Decision-support aid, not a signed legal directive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987552" y="3200400"/>
            <a:ext cx="2148840" cy="384048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Dimensionality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3337560" y="3227832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Current model covers what intervention; next model must cover who decides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2"/>
          <p:cNvSpPr/>
          <p:nvPr/>
        </p:nvSpPr>
        <p:spPr>
          <a:xfrm>
            <a:off x="987552" y="3858768"/>
            <a:ext cx="2148840" cy="384048"/>
          </a:xfrm>
          <a:prstGeom prst="rect">
            <a:avLst/>
          </a:prstGeom>
          <a:solidFill>
            <a:srgbClr val="D76F5D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Coverage gaps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2"/>
          <p:cNvSpPr/>
          <p:nvPr/>
        </p:nvSpPr>
        <p:spPr>
          <a:xfrm>
            <a:off x="3337560" y="3886200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Artificial hydration/nutrition; antibiotics; comfort-care decisions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987552" y="4517136"/>
            <a:ext cx="2148840" cy="384048"/>
          </a:xfrm>
          <a:prstGeom prst="rect">
            <a:avLst/>
          </a:prstGeom>
          <a:solidFill>
            <a:srgbClr val="68518A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Temporal limits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3337560" y="4544568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OWL lacks native temporal reasoning; ADO uses numeric time bounds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2"/>
          <p:cNvSpPr/>
          <p:nvPr/>
        </p:nvSpPr>
        <p:spPr>
          <a:xfrm>
            <a:off x="987552" y="5175504"/>
            <a:ext cx="2148840" cy="384048"/>
          </a:xfrm>
          <a:prstGeom prst="rect">
            <a:avLst/>
          </a:prstGeom>
          <a:solidFill>
            <a:srgbClr val="38A6A5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Validation limits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2"/>
          <p:cNvSpPr/>
          <p:nvPr/>
        </p:nvSpPr>
        <p:spPr>
          <a:xfrm>
            <a:off x="3337560" y="5202936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Team-authored gold standards; real-EHR validation remains future work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1554480" y="5779008"/>
            <a:ext cx="9098280" cy="384048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principle: use the reasoner to surface uncertainty, not to replace clinicians or surrogates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364A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3"/>
          <p:cNvSpPr/>
          <p:nvPr/>
        </p:nvSpPr>
        <p:spPr>
          <a:xfrm>
            <a:off x="713232" y="804672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Takeaways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7" name="Google Shape;287;p13"/>
          <p:cNvCxnSpPr/>
          <p:nvPr/>
        </p:nvCxnSpPr>
        <p:spPr>
          <a:xfrm>
            <a:off x="731520" y="1481328"/>
            <a:ext cx="2103120" cy="0"/>
          </a:xfrm>
          <a:prstGeom prst="straightConnector1">
            <a:avLst/>
          </a:prstGeom>
          <a:noFill/>
          <a:ln cap="flat" cmpd="sng" w="38100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" name="Google Shape;288;p13"/>
          <p:cNvSpPr/>
          <p:nvPr/>
        </p:nvSpPr>
        <p:spPr>
          <a:xfrm>
            <a:off x="868680" y="205740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3"/>
          <p:cNvSpPr/>
          <p:nvPr/>
        </p:nvSpPr>
        <p:spPr>
          <a:xfrm>
            <a:off x="1508760" y="207568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ADO makes conditional, graded, negatable EOL preferences computable.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3"/>
          <p:cNvSpPr/>
          <p:nvPr/>
        </p:nvSpPr>
        <p:spPr>
          <a:xfrm>
            <a:off x="868680" y="283464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1508760" y="285292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The safest outputs include honest non-answers: no coverage, partial, and vague.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3"/>
          <p:cNvSpPr/>
          <p:nvPr/>
        </p:nvSpPr>
        <p:spPr>
          <a:xfrm>
            <a:off x="868680" y="361188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1508760" y="363016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LLMs are useful for extraction, but the auditable ontology/reasoner should own inference.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868680" y="438912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1508760" y="440740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The near-term product is ACP documentation support, not a legal directive.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868680" y="5715000"/>
            <a:ext cx="10698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Next steps: surrogate/override modeling • artificial nutrition/hydration • time-limited trials • real-EHR validation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EVALUATION FIGURES — Track 3 &amp; code-status fidelity</a:t>
            </a:r>
          </a:p>
        </p:txBody>
      </p:sp>
      <p:pic>
        <p:nvPicPr>
          <p:cNvPr id="3" name="Picture 2" descr="track3_field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669280" cy="3137742"/>
          </a:xfrm>
          <a:prstGeom prst="rect">
            <a:avLst/>
          </a:prstGeom>
        </p:spPr>
      </p:pic>
      <p:pic>
        <p:nvPicPr>
          <p:cNvPr id="4" name="Picture 3" descr="code_status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914400"/>
            <a:ext cx="5669280" cy="48429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12 real-world template profiles • Gold = POLST semantics • Diagonal confusion matrix = agreement across all observed code-status categories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2026-05-31T02:48:26Z</dcterms:created>
  <dc:creator>OpenAI</dc:creator>
</cp:coreProperties>
</file>