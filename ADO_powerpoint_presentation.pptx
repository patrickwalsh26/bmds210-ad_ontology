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wTtu56rGevqiwSdbkv/9xS7Bs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[~30s] Good morning. Patrick Walsh and Darren Chan, Stanford BMDS 210 / CS 270.</a:t>
            </a:r>
          </a:p>
          <a:p/>
          <a:p>
            <a:r>
              <a:t>Hook: ADO is a computable OWL 2 representation of end-of-life preferences in advanced heart failure—not a legal advance directive, but a decision-support layer that helps clinicians reason over what patients said and pre-populate ACP documentation.</a:t>
            </a:r>
          </a:p>
          <a:p/>
          <a:p>
            <a:r>
              <a:t>Transition → why the bedside workflow breaks down.</a:t>
            </a:r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[~45s] Three instruments, three jobs: advance directive (values/wishes), POLST (portable orders), code status (what we act on at 2 a.m.).</a:t>
            </a:r>
          </a:p>
          <a:p/>
          <a:p>
            <a:r>
              <a:t>The loss is in the middle—conditional wishes become coarse checkboxes or bedside orders.</a:t>
            </a:r>
          </a:p>
          <a:p/>
          <a:p>
            <a:r>
              <a:t>Important reframe (Magnus): the problem is NOT mainly “unreadable free text.” CA and UC forms are mostly checkboxes. They are low-resolution and disease-blind.</a:t>
            </a:r>
          </a:p>
          <a:p/>
          <a:p>
            <a:r>
              <a:t>Point to the ventilator example: temporary-if-reversible vs never-indefinitely cannot fit a yes/no box.</a:t>
            </a:r>
          </a:p>
          <a:p/>
          <a:p>
            <a:r>
              <a:t>Transition → why we scoped to advanced HF.</a:t>
            </a:r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[~40s] HF is unpredictable, device-dependent, and patients revisit the ED/ICU—preference interpretation is time-pressured and repeated.</a:t>
            </a:r>
          </a:p>
          <a:p/>
          <a:p>
            <a:r>
              <a:t>Five decision points on slide: CPR, ventilation, devices, vasopressors/inotropes, dialysis.</a:t>
            </a:r>
          </a:p>
          <a:p/>
          <a:p>
            <a:r>
              <a:t>~200K HF patients have ICDs; generic ADs rarely mention ICD/LVAD/inotropes—that gap motivates our scope.</a:t>
            </a:r>
          </a:p>
          <a:p/>
          <a:p>
            <a:r>
              <a:t>Transition → how we represent a preference computationally.</a:t>
            </a:r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[~45s] Core unit: PreferenceStatement = intervention + activation conditions + strength + negation + verbatim originalText.</a:t>
            </a:r>
          </a:p>
          <a:p/>
          <a:p>
            <a:r>
              <a:t>Walk the vasopressor example: 72h “no improvement” becomes a structured activation condition the reasoner can test.</a:t>
            </a:r>
          </a:p>
          <a:p/>
          <a:p>
            <a:r>
              <a:t>Why verbatim text? Auditable—clinicians see patient language behind the inference.</a:t>
            </a:r>
          </a:p>
          <a:p/>
          <a:p>
            <a:r>
              <a:t>Transition → ontology size and granularity.</a:t>
            </a:r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[~40s] 67 classes, 22 properties, 21 intervention subclasses—finer than any single template in our 50-form inventory (e.g., six ventilation types vs one checkbox).</a:t>
            </a:r>
          </a:p>
          <a:p/>
          <a:p>
            <a:r>
              <a:t>SNOMED CT grounding where possible for interoperability.</a:t>
            </a:r>
          </a:p>
          <a:p/>
          <a:p>
            <a:r>
              <a:t>Transition → we don’t force binary answers.</a:t>
            </a:r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[~45s] Four honest outputs:</a:t>
            </a:r>
          </a:p>
          <a:p>
            <a:r>
              <a:t>• Clear — conditions met, unambiguous</a:t>
            </a:r>
          </a:p>
          <a:p>
            <a:r>
              <a:t>• Partial — some conditions unmet → defer to surrogate</a:t>
            </a:r>
          </a:p>
          <a:p>
            <a:r>
              <a:t>• No coverage — directive silent; do NOT presume</a:t>
            </a:r>
          </a:p>
          <a:p>
            <a:r>
              <a:t>• Vague — surface imprecise language (“no heroic measures”)</a:t>
            </a:r>
          </a:p>
          <a:p/>
          <a:p>
            <a:r>
              <a:t>Safety feature: uncertainty is visible. A checkbox or overconfident LLM cannot say “I don’t know.”</a:t>
            </a:r>
          </a:p>
          <a:p/>
          <a:p>
            <a:r>
              <a:t>Transition → end-to-end pipeline.</a:t>
            </a:r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[~45s] LLMs ONLY at the boundary. Closed-world extraction → validated JSON → OWL individuals → deterministic scenario reasoner → four-category output + code status/POLST.</a:t>
            </a:r>
          </a:p>
          <a:p/>
          <a:p>
            <a:r>
              <a:t>Closed-world rule: extract only what the patient stated; out-of-scope text (nutrition, antibiotics) must NOT map to nearest class—that enables trustworthy “no coverage.”</a:t>
            </a:r>
          </a:p>
          <a:p/>
          <a:p>
            <a:r>
              <a:t>Tagline: ontology WITH LLMs, not versus LLMs.</a:t>
            </a:r>
          </a:p>
          <a:p/>
          <a:p>
            <a:r>
              <a:t>Transition → how we evaluated.</a:t>
            </a:r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[~50s] Five evaluation strands:</a:t>
            </a:r>
          </a:p>
          <a:p>
            <a:r>
              <a:t>1) Pipeline: example patient populates end-to-end (9 prefs, 50 individuals).</a:t>
            </a:r>
          </a:p>
          <a:p>
            <a:r>
              <a:t>2) 16 vignettes, all decision points &amp; output types; gold = team-adjudicated expected answers.</a:t>
            </a:r>
          </a:p>
          <a:p>
            <a:r>
              <a:t>3) Ablation (post-hoc sensitivity): re-score vignettes ignoring activation conditions → 12/16 (75%) vs 16/16 (100%). All four errors are conditional/partial cases—shows condition modeling matters. (Document as sensitivity analysis, not a separate SWRL experiment.)</a:t>
            </a:r>
          </a:p>
          <a:p>
            <a:r>
              <a:t>4) LLM extraction: 12 real-template statements + 2 out-of-scope tests.</a:t>
            </a:r>
          </a:p>
          <a:p>
            <a:r>
              <a:t>5) Track 3: 12 profiles → code status/POLST vs POLST semantics gold + Magnus expert review.</a:t>
            </a:r>
          </a:p>
          <a:p/>
          <a:p>
            <a:r>
              <a:t>Caveat if asked: gold is team-authored but grounded in real templates and independent POLST definitions; blind rater sheets in repo.</a:t>
            </a:r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[~60s — FLAGSHIP] Track 1: 16/16 decision AND match-type accuracy on vignettes.</a:t>
            </a:r>
          </a:p>
          <a:p/>
          <a:p>
            <a:r>
              <a:t>Track 2: Precision 0.94, recall 1.00, F1 0.97; negation/type/conditionality 15/15; ZERO hallucinations on out-of-scope nutrition &amp; antibiotics.</a:t>
            </a:r>
          </a:p>
          <a:p/>
          <a:p>
            <a:r>
              <a:t>Track 3: 12 real template profiles → 35/36 field agreement (97%): code status 12/12, POLST A 12/12, POLST B 11/12, exact profile 11/12; κ = 1.00 / 1.00 / 0.88.</a:t>
            </a:r>
          </a:p>
          <a:p/>
          <a:p>
            <a:r>
              <a:t>Ablation: ignoring conditions → 75% (4 false-confident errors on conditional vignettes).</a:t>
            </a:r>
          </a:p>
          <a:p/>
          <a:p>
            <a:r>
              <a:t>If time: P9 vs P10 same directive flips DNR↔Full code; P5 “miss” is principled (Not specified vs presuming Full Treatment).</a:t>
            </a:r>
          </a:p>
          <a:p/>
          <a:p>
            <a:r>
              <a:t>Transition → concrete if/then example.</a:t>
            </a:r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[~50s] Same directive, two scenarios:</a:t>
            </a:r>
          </a:p>
          <a:p>
            <a:r>
              <a:t>A: NYHA IV + no reversible cause → DNR, clear.</a:t>
            </a:r>
          </a:p>
          <a:p>
            <a:r>
              <a:t>B: NYHA III + reversible cause → Full code, partial.</a:t>
            </a:r>
          </a:p>
          <a:p/>
          <a:p>
            <a:r>
              <a:t>Flat POLST/checkbox must over-apply or discard the condition. ADO preserves if/then and flags when it applies.</a:t>
            </a:r>
          </a:p>
          <a:p/>
          <a:p>
            <a:r>
              <a:t>Transition → where this lives clinically.</a:t>
            </a:r>
          </a:p>
        </p:txBody>
      </p:sp>
      <p:sp>
        <p:nvSpPr>
          <p:cNvPr id="224" name="Google Shape;22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[~40s] Dr. David Magnus (Stanford Biomedical Ethics): “You can’t think of these as AHCDs… more like a progress note.”</a:t>
            </a:r>
          </a:p>
          <a:p/>
          <a:p>
            <a:r>
              <a:t>Near-term product: pre-populate Epic-style ACP note → provider conversation can clarify/override → final ACP + POLST/code status.</a:t>
            </a:r>
          </a:p>
          <a:p/>
          <a:p>
            <a:r>
              <a:t>Not a legal directive; complements POLST and code status.</a:t>
            </a:r>
          </a:p>
          <a:p/>
          <a:p>
            <a:r>
              <a:t>If asked: next modeling gap is WHO decides (surrogate override), not just WHAT intervention.</a:t>
            </a:r>
          </a:p>
          <a:p/>
          <a:p>
            <a:r>
              <a:t>Transition → limitations.</a:t>
            </a:r>
          </a:p>
        </p:txBody>
      </p:sp>
      <p:sp>
        <p:nvSpPr>
          <p:cNvPr id="242" name="Google Shape;24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[~40s] Honest limits:</a:t>
            </a:r>
          </a:p>
          <a:p>
            <a:r>
              <a:t>• No legal force</a:t>
            </a:r>
          </a:p>
          <a:p>
            <a:r>
              <a:t>• One-dimensional (what, not who decides) — top priority extension</a:t>
            </a:r>
          </a:p>
          <a:p>
            <a:r>
              <a:t>• Coverage gaps: artificial nutrition, antibiotics, comfort care</a:t>
            </a:r>
          </a:p>
          <a:p>
            <a:r>
              <a:t>• Temporal: numeric hour bounds, not full temporal logic</a:t>
            </a:r>
          </a:p>
          <a:p>
            <a:r>
              <a:t>• Gold standards team-authored; real EHR validation (MIMIC-IV) future</a:t>
            </a:r>
          </a:p>
          <a:p/>
          <a:p>
            <a:r>
              <a:t>Principle: surface uncertainty; don’t replace clinicians/surrogates.</a:t>
            </a:r>
          </a:p>
        </p:txBody>
      </p:sp>
      <p:sp>
        <p:nvSpPr>
          <p:cNvPr id="261" name="Google Shape;26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[~30s] Four takeaways on slide—read them, don’t rush.</a:t>
            </a:r>
          </a:p>
          <a:p/>
          <a:p>
            <a:r>
              <a:t>Close: Questions welcome.</a:t>
            </a:r>
          </a:p>
          <a:p>
            <a:r>
              <a:t>Repo: https://github.com/patrickwalsh26/bmds210-AD_Ontology</a:t>
            </a:r>
          </a:p>
          <a:p/>
          <a:p>
            <a:r>
              <a:t>Q&amp;A prep: legal AD? No. Why not LLM only? Over-confident, not auditable. Weakest point? Team gold + P5 principled divergence.</a:t>
            </a:r>
          </a:p>
        </p:txBody>
      </p:sp>
      <p:sp>
        <p:nvSpPr>
          <p:cNvPr id="284" name="Google Shape;28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36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" y="1115568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Advance Directive Ontology (ADO)</a:t>
            </a:r>
            <a:endParaRPr b="0" i="0" sz="3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13232" y="1993392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6F5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9F6F5"/>
                </a:solidFill>
                <a:latin typeface="Arial"/>
                <a:ea typeface="Arial"/>
                <a:cs typeface="Arial"/>
                <a:sym typeface="Arial"/>
              </a:rPr>
              <a:t>A computable representation of end-of-life care preferences in advanced heart failure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731520" y="2670048"/>
            <a:ext cx="3840480" cy="0"/>
          </a:xfrm>
          <a:prstGeom prst="straightConnector1">
            <a:avLst/>
          </a:prstGeom>
          <a:noFill/>
          <a:ln cap="flat" cmpd="sng" w="38100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713232" y="3063240"/>
            <a:ext cx="6583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9E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9E9EC"/>
                </a:solidFill>
                <a:latin typeface="Arial"/>
                <a:ea typeface="Arial"/>
                <a:cs typeface="Arial"/>
                <a:sym typeface="Arial"/>
              </a:rPr>
              <a:t>Patrick Walsh  •  Darren Chan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9E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9E9EC"/>
                </a:solidFill>
                <a:latin typeface="Arial"/>
                <a:ea typeface="Arial"/>
                <a:cs typeface="Arial"/>
                <a:sym typeface="Arial"/>
              </a:rPr>
              <a:t>Stanford University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635240" y="4069080"/>
            <a:ext cx="1417320" cy="914400"/>
          </a:xfrm>
          <a:prstGeom prst="rect">
            <a:avLst/>
          </a:prstGeom>
          <a:solidFill>
            <a:srgbClr val="F0FAF8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OWL 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ontology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372600" y="3730752"/>
            <a:ext cx="1417320" cy="914400"/>
          </a:xfrm>
          <a:prstGeom prst="rect">
            <a:avLst/>
          </a:prstGeom>
          <a:solidFill>
            <a:srgbClr val="FFF4DE"/>
          </a:solidFill>
          <a:ln cap="flat" cmpd="sng" w="152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Clinical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scenario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458200" y="5166360"/>
            <a:ext cx="1508760" cy="914400"/>
          </a:xfrm>
          <a:prstGeom prst="rect">
            <a:avLst/>
          </a:prstGeom>
          <a:solidFill>
            <a:srgbClr val="F6E9E6"/>
          </a:solidFill>
          <a:ln cap="flat" cmpd="sng" w="15225">
            <a:solidFill>
              <a:srgbClr val="D76F5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Actionable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685800" y="438912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8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B7F89"/>
                </a:solidFill>
                <a:latin typeface="Arial"/>
                <a:ea typeface="Arial"/>
                <a:cs typeface="Arial"/>
                <a:sym typeface="Arial"/>
              </a:rPr>
              <a:t>CLINICAL PROBLEM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58368" y="713232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The workflow has documents, orders, and gaps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p2"/>
          <p:cNvCxnSpPr/>
          <p:nvPr/>
        </p:nvCxnSpPr>
        <p:spPr>
          <a:xfrm>
            <a:off x="685800" y="1389888"/>
            <a:ext cx="3200400" cy="0"/>
          </a:xfrm>
          <a:prstGeom prst="straightConnector1">
            <a:avLst/>
          </a:prstGeom>
          <a:noFill/>
          <a:ln cap="flat" cmpd="sng" w="279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2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9525">
            <a:solidFill>
              <a:srgbClr val="D8DF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"/>
          <p:cNvSpPr/>
          <p:nvPr/>
        </p:nvSpPr>
        <p:spPr>
          <a:xfrm>
            <a:off x="658368" y="6556248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Advance Directive Ontology (ADO)  |  BMDS 210 / CS 270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1201400" y="655624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13232" y="1627632"/>
            <a:ext cx="10149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End-of-life preferences often move through three different instruments. The loss happens in the middle: conditional patient wishes become coarse checkboxes or bedside orders.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77240" y="2907792"/>
            <a:ext cx="2057400" cy="9144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Advance directive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values + wishes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657600" y="2907792"/>
            <a:ext cx="1965960" cy="9144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POLST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portable orders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00800" y="2907792"/>
            <a:ext cx="1965960" cy="9144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76F5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Code status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bedside action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144000" y="2907792"/>
            <a:ext cx="2103120" cy="9144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68518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Acute crisis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what do we do?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926080" y="2615184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4C43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B84C43"/>
                </a:solidFill>
                <a:latin typeface="Arial"/>
                <a:ea typeface="Arial"/>
                <a:cs typeface="Arial"/>
                <a:sym typeface="Arial"/>
              </a:rPr>
              <a:t>Low resolution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715000" y="2615184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4C43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B84C43"/>
                </a:solidFill>
                <a:latin typeface="Arial"/>
                <a:ea typeface="Arial"/>
                <a:cs typeface="Arial"/>
                <a:sym typeface="Arial"/>
              </a:rPr>
              <a:t>Disease blind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412480" y="2615184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4C43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B84C43"/>
                </a:solidFill>
                <a:latin typeface="Arial"/>
                <a:ea typeface="Arial"/>
                <a:cs typeface="Arial"/>
                <a:sym typeface="Arial"/>
              </a:rPr>
              <a:t>No reasoning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14400" y="461772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Example wish lost in translation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14400" y="5029200"/>
            <a:ext cx="7863840" cy="512064"/>
          </a:xfrm>
          <a:prstGeom prst="rect">
            <a:avLst/>
          </a:prstGeom>
          <a:solidFill>
            <a:srgbClr val="FFF9EA"/>
          </a:solidFill>
          <a:ln cap="flat" cmpd="sng" w="12700">
            <a:solidFill>
              <a:srgbClr val="F0D1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“I would accept a ventilator temporarily if the cause is reversible, but never indefinitely.”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14400" y="571500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A checkbox can record “ventilator: yes/no,” but not the conditional structure.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685800" y="438912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8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B7F89"/>
                </a:solidFill>
                <a:latin typeface="Arial"/>
                <a:ea typeface="Arial"/>
                <a:cs typeface="Arial"/>
                <a:sym typeface="Arial"/>
              </a:rPr>
              <a:t>WHY THIS CLINICAL SCOPE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58368" y="713232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Advanced heart failure makes the gap visible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" name="Google Shape;52;p3"/>
          <p:cNvCxnSpPr/>
          <p:nvPr/>
        </p:nvCxnSpPr>
        <p:spPr>
          <a:xfrm>
            <a:off x="685800" y="1389888"/>
            <a:ext cx="3200400" cy="0"/>
          </a:xfrm>
          <a:prstGeom prst="straightConnector1">
            <a:avLst/>
          </a:prstGeom>
          <a:noFill/>
          <a:ln cap="flat" cmpd="sng" w="279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p3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9525">
            <a:solidFill>
              <a:srgbClr val="D8DF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3"/>
          <p:cNvSpPr/>
          <p:nvPr/>
        </p:nvSpPr>
        <p:spPr>
          <a:xfrm>
            <a:off x="658368" y="6556248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Advance Directive Ontology (ADO)  |  BMDS 210 / CS 270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1201400" y="655624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713232" y="162763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Heart failure is unpredictable, device-dependent, and frequently revisited in emergency/ICU settings—exactly where preference interpretation becomes time pressured.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617720" y="2697480"/>
            <a:ext cx="2926080" cy="713232"/>
          </a:xfrm>
          <a:prstGeom prst="rect">
            <a:avLst/>
          </a:prstGeom>
          <a:solidFill>
            <a:srgbClr val="11364A"/>
          </a:solidFill>
          <a:ln cap="flat" cmpd="sng" w="9525">
            <a:solidFill>
              <a:srgbClr val="11364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1"/>
              </a:srgbClr>
            </a:outerShdw>
          </a:effectLst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Advanced HF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68680" y="2542032"/>
            <a:ext cx="1783080" cy="749808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CPR /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resuscitation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560320" y="4572000"/>
            <a:ext cx="1783080" cy="749808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Mechanical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ventilation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983480" y="5285232"/>
            <a:ext cx="1783080" cy="749808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76F5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ICD + device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management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543800" y="4572000"/>
            <a:ext cx="1783080" cy="749808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68518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Vasopressor /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inotrope escalation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235440" y="2542032"/>
            <a:ext cx="1783080" cy="749808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38A6A5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Dialysis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68680" y="6144768"/>
            <a:ext cx="10332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Generic AD templates rarely mention ICD deactivation, LVAD/device decisions, or inotrope escalation.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/>
          <p:nvPr/>
        </p:nvSpPr>
        <p:spPr>
          <a:xfrm>
            <a:off x="685800" y="438912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8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B7F89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58368" y="713232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Core idea: turn patient language into computable preference objects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p4"/>
          <p:cNvCxnSpPr/>
          <p:nvPr/>
        </p:nvCxnSpPr>
        <p:spPr>
          <a:xfrm>
            <a:off x="685800" y="1389888"/>
            <a:ext cx="3200400" cy="0"/>
          </a:xfrm>
          <a:prstGeom prst="straightConnector1">
            <a:avLst/>
          </a:prstGeom>
          <a:noFill/>
          <a:ln cap="flat" cmpd="sng" w="279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4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9525">
            <a:solidFill>
              <a:srgbClr val="D8DF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4"/>
          <p:cNvSpPr/>
          <p:nvPr/>
        </p:nvSpPr>
        <p:spPr>
          <a:xfrm>
            <a:off x="658368" y="6556248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Advance Directive Ontology (ADO)  |  BMDS 210 / CS 270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1201400" y="655624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13232" y="1609344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ADO preserves the original text, but gives a reasoner the structured facts it needs to decide whether a preference actually applies.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22960" y="2788920"/>
            <a:ext cx="3108960" cy="1005840"/>
          </a:xfrm>
          <a:prstGeom prst="rect">
            <a:avLst/>
          </a:prstGeom>
          <a:solidFill>
            <a:srgbClr val="FFF9EA"/>
          </a:solidFill>
          <a:ln cap="flat" cmpd="sng" w="152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“Do not continue vasopressors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if there is no improvement after 72 hours.”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754880" y="2542032"/>
            <a:ext cx="2377440" cy="640080"/>
          </a:xfrm>
          <a:prstGeom prst="rect">
            <a:avLst/>
          </a:prstGeom>
          <a:solidFill>
            <a:srgbClr val="11364A"/>
          </a:solidFill>
          <a:ln cap="flat" cmpd="sng" w="15225">
            <a:solidFill>
              <a:srgbClr val="11364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PreferenceStatement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7635240" y="2395728"/>
            <a:ext cx="1463040" cy="43891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Intervention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9235440" y="2395728"/>
            <a:ext cx="2057400" cy="438912"/>
          </a:xfrm>
          <a:prstGeom prst="rect">
            <a:avLst/>
          </a:prstGeom>
          <a:solidFill>
            <a:srgbClr val="F8FAFA"/>
          </a:solidFill>
          <a:ln cap="flat" cmpd="sng" w="15225">
            <a:solidFill>
              <a:srgbClr val="CBD8D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vasopressor withdrawal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635240" y="3127248"/>
            <a:ext cx="1463040" cy="43891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ActivationCondition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9235440" y="3127248"/>
            <a:ext cx="2057400" cy="438912"/>
          </a:xfrm>
          <a:prstGeom prst="rect">
            <a:avLst/>
          </a:prstGeom>
          <a:solidFill>
            <a:srgbClr val="F8FAFA"/>
          </a:solidFill>
          <a:ln cap="flat" cmpd="sng" w="15225">
            <a:solidFill>
              <a:srgbClr val="CBD8D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no improvement; 72h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635240" y="3858768"/>
            <a:ext cx="1463040" cy="43891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68518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Strength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235440" y="3858768"/>
            <a:ext cx="2057400" cy="438912"/>
          </a:xfrm>
          <a:prstGeom prst="rect">
            <a:avLst/>
          </a:prstGeom>
          <a:solidFill>
            <a:srgbClr val="F8FAFA"/>
          </a:solidFill>
          <a:ln cap="flat" cmpd="sng" w="15225">
            <a:solidFill>
              <a:srgbClr val="CBD8D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strong / conditional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5240" y="4590288"/>
            <a:ext cx="1463040" cy="43891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76F5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Negated?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9235440" y="4590288"/>
            <a:ext cx="2057400" cy="438912"/>
          </a:xfrm>
          <a:prstGeom prst="rect">
            <a:avLst/>
          </a:prstGeom>
          <a:solidFill>
            <a:srgbClr val="F8FAFA"/>
          </a:solidFill>
          <a:ln cap="flat" cmpd="sng" w="15225">
            <a:solidFill>
              <a:srgbClr val="CBD8D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7635240" y="5321808"/>
            <a:ext cx="1463040" cy="43891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38A6A5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OriginalText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9235440" y="5321808"/>
            <a:ext cx="2057400" cy="438912"/>
          </a:xfrm>
          <a:prstGeom prst="rect">
            <a:avLst/>
          </a:prstGeom>
          <a:solidFill>
            <a:srgbClr val="F8FAFA"/>
          </a:solidFill>
          <a:ln cap="flat" cmpd="sng" w="15225">
            <a:solidFill>
              <a:srgbClr val="CBD8D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verbatim quote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960120" y="464515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Why preserve original language?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960120" y="501091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It lets the system be auditable and lets clinicians see the patient’s words behind the inference.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/>
          <p:nvPr/>
        </p:nvSpPr>
        <p:spPr>
          <a:xfrm>
            <a:off x="685800" y="438912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8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B7F89"/>
                </a:solidFill>
                <a:latin typeface="Arial"/>
                <a:ea typeface="Arial"/>
                <a:cs typeface="Arial"/>
                <a:sym typeface="Arial"/>
              </a:rPr>
              <a:t>ONTOLOGY SCOPE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58368" y="713232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What ADO models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5"/>
          <p:cNvCxnSpPr/>
          <p:nvPr/>
        </p:nvCxnSpPr>
        <p:spPr>
          <a:xfrm>
            <a:off x="685800" y="1389888"/>
            <a:ext cx="3200400" cy="0"/>
          </a:xfrm>
          <a:prstGeom prst="straightConnector1">
            <a:avLst/>
          </a:prstGeom>
          <a:noFill/>
          <a:ln cap="flat" cmpd="sng" w="279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5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9525">
            <a:solidFill>
              <a:srgbClr val="D8DF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5"/>
          <p:cNvSpPr/>
          <p:nvPr/>
        </p:nvSpPr>
        <p:spPr>
          <a:xfrm>
            <a:off x="658368" y="6556248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Advance Directive Ontology (ADO)  |  BMDS 210 / CS 270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1201400" y="655624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005840" y="201168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F89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B7F89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005840" y="2532888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classes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2560320" y="201168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14D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E8B14D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2560320" y="2532888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properties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114800" y="201168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6F5D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D76F5D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114800" y="2532888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intervention subclasses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629400" y="1993392"/>
            <a:ext cx="4206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Five decision points are expanded into intervention subclasses at a clinically meaningful level of granularity.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914400" y="3291840"/>
            <a:ext cx="2286000" cy="329184"/>
          </a:xfrm>
          <a:prstGeom prst="rect">
            <a:avLst/>
          </a:prstGeom>
          <a:solidFill>
            <a:srgbClr val="E8F3F2"/>
          </a:solidFill>
          <a:ln cap="flat" cmpd="sng" w="9525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CPR / resuscitation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337560" y="3291840"/>
            <a:ext cx="70408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CPR • defibrillation • transcutaneous pacing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914400" y="3794760"/>
            <a:ext cx="2286000" cy="329184"/>
          </a:xfrm>
          <a:prstGeom prst="rect">
            <a:avLst/>
          </a:prstGeom>
          <a:solidFill>
            <a:srgbClr val="E8F3F2"/>
          </a:solidFill>
          <a:ln cap="flat" cmpd="sng" w="9525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Ventilation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3337560" y="3794760"/>
            <a:ext cx="70408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temporary vs. indefinite • invasive vs. non-invasive • withdrawal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914400" y="4297680"/>
            <a:ext cx="2286000" cy="329184"/>
          </a:xfrm>
          <a:prstGeom prst="rect">
            <a:avLst/>
          </a:prstGeom>
          <a:solidFill>
            <a:srgbClr val="E8F3F2"/>
          </a:solidFill>
          <a:ln cap="flat" cmpd="sng" w="9525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Device management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337560" y="4297680"/>
            <a:ext cx="70408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ICD deactivation • shock therapy • LVAD • pacemaker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914400" y="4800600"/>
            <a:ext cx="2286000" cy="329184"/>
          </a:xfrm>
          <a:prstGeom prst="rect">
            <a:avLst/>
          </a:prstGeom>
          <a:solidFill>
            <a:srgbClr val="E8F3F2"/>
          </a:solidFill>
          <a:ln cap="flat" cmpd="sng" w="9525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Escalation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337560" y="4800600"/>
            <a:ext cx="70408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vasopressor/inotrope escalation and withdrawal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914400" y="5303520"/>
            <a:ext cx="2286000" cy="329184"/>
          </a:xfrm>
          <a:prstGeom prst="rect">
            <a:avLst/>
          </a:prstGeom>
          <a:solidFill>
            <a:srgbClr val="E8F3F2"/>
          </a:solidFill>
          <a:ln cap="flat" cmpd="sng" w="9525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Dialysis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337560" y="5303520"/>
            <a:ext cx="70408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acute • chronic • withdrawal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914400" y="5961888"/>
            <a:ext cx="8961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Grounding: clinical concepts are mapped to standard terminologies such as SNOMED CT.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685800" y="438912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8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B7F89"/>
                </a:solidFill>
                <a:latin typeface="Arial"/>
                <a:ea typeface="Arial"/>
                <a:cs typeface="Arial"/>
                <a:sym typeface="Arial"/>
              </a:rPr>
              <a:t>OUTPUT SEMANTICS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58368" y="713232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The reasoner is designed to be honest, not overconfident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6"/>
          <p:cNvCxnSpPr/>
          <p:nvPr/>
        </p:nvCxnSpPr>
        <p:spPr>
          <a:xfrm>
            <a:off x="685800" y="1389888"/>
            <a:ext cx="3200400" cy="0"/>
          </a:xfrm>
          <a:prstGeom prst="straightConnector1">
            <a:avLst/>
          </a:prstGeom>
          <a:noFill/>
          <a:ln cap="flat" cmpd="sng" w="279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6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9525">
            <a:solidFill>
              <a:srgbClr val="D8DF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6"/>
          <p:cNvSpPr/>
          <p:nvPr/>
        </p:nvSpPr>
        <p:spPr>
          <a:xfrm>
            <a:off x="658368" y="6556248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Advance Directive Ontology (ADO)  |  BMDS 210 / CS 270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11201400" y="655624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13232" y="1627632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Instead of forcing a binary answer, ADO returns one of four outputs that tell a clinician how much the directive actually says.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303520" y="3383280"/>
            <a:ext cx="1554480" cy="822960"/>
          </a:xfrm>
          <a:prstGeom prst="rect">
            <a:avLst/>
          </a:prstGeom>
          <a:solidFill>
            <a:srgbClr val="11364A"/>
          </a:solidFill>
          <a:ln cap="flat" cmpd="sng" w="15225">
            <a:solidFill>
              <a:srgbClr val="11364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Clinical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scenario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960120" y="2423160"/>
            <a:ext cx="2651760" cy="438912"/>
          </a:xfrm>
          <a:prstGeom prst="rect">
            <a:avLst/>
          </a:prstGeom>
          <a:solidFill>
            <a:srgbClr val="1B7F89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Clear match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960120" y="2916936"/>
            <a:ext cx="2651760" cy="54864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conditions met; unambiguous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960120" y="4572000"/>
            <a:ext cx="2651760" cy="438912"/>
          </a:xfrm>
          <a:prstGeom prst="rect">
            <a:avLst/>
          </a:prstGeom>
          <a:solidFill>
            <a:srgbClr val="E8B14D"/>
          </a:solidFill>
          <a:ln cap="flat" cmpd="sng" w="152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Partial match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960120" y="5065776"/>
            <a:ext cx="2651760" cy="54864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some conditions uncertain/unmet; defer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229600" y="2423160"/>
            <a:ext cx="2651760" cy="438912"/>
          </a:xfrm>
          <a:prstGeom prst="rect">
            <a:avLst/>
          </a:prstGeom>
          <a:solidFill>
            <a:srgbClr val="D76F5D"/>
          </a:solidFill>
          <a:ln cap="flat" cmpd="sng" w="15225">
            <a:solidFill>
              <a:srgbClr val="D76F5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coverage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229600" y="2916936"/>
            <a:ext cx="2651760" cy="54864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76F5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directive is silent for this scenario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229600" y="4572000"/>
            <a:ext cx="2651760" cy="438912"/>
          </a:xfrm>
          <a:prstGeom prst="rect">
            <a:avLst/>
          </a:prstGeom>
          <a:solidFill>
            <a:srgbClr val="68518A"/>
          </a:solidFill>
          <a:ln cap="flat" cmpd="sng" w="15225">
            <a:solidFill>
              <a:srgbClr val="68518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Vague match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8229600" y="5065776"/>
            <a:ext cx="2651760" cy="54864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68518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imprecise language surfaced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2057400" y="5925312"/>
            <a:ext cx="8092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This is the safety feature: uncertainty becomes visible rather than hidden behind a confident answer.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685800" y="438912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8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B7F89"/>
                </a:solidFill>
                <a:latin typeface="Arial"/>
                <a:ea typeface="Arial"/>
                <a:cs typeface="Arial"/>
                <a:sym typeface="Arial"/>
              </a:rPr>
              <a:t>SYSTEM IMPLEMENTATION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58368" y="713232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End-to-end architecture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7"/>
          <p:cNvCxnSpPr/>
          <p:nvPr/>
        </p:nvCxnSpPr>
        <p:spPr>
          <a:xfrm>
            <a:off x="685800" y="1389888"/>
            <a:ext cx="3200400" cy="0"/>
          </a:xfrm>
          <a:prstGeom prst="straightConnector1">
            <a:avLst/>
          </a:prstGeom>
          <a:noFill/>
          <a:ln cap="flat" cmpd="sng" w="279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7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9525">
            <a:solidFill>
              <a:srgbClr val="D8DF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658368" y="6556248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Advance Directive Ontology (ADO)  |  BMDS 210 / CS 270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1201400" y="655624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13232" y="162763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LLMs are used only at the boundary. The ontology remains the auditable source of truth, and the deterministic reasoner produces the clinical output.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85800" y="2971800"/>
            <a:ext cx="1554480" cy="77724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Structured form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or free text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697480" y="2971800"/>
            <a:ext cx="1554480" cy="777240"/>
          </a:xfrm>
          <a:prstGeom prst="rect">
            <a:avLst/>
          </a:prstGeom>
          <a:solidFill>
            <a:srgbClr val="FFF9EA"/>
          </a:solidFill>
          <a:ln cap="flat" cmpd="sng" w="152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Closed-world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LLM extraction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709160" y="2971800"/>
            <a:ext cx="1554480" cy="77724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38A6A5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Validated JSON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preferences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720840" y="2971800"/>
            <a:ext cx="1554480" cy="777240"/>
          </a:xfrm>
          <a:prstGeom prst="rect">
            <a:avLst/>
          </a:prstGeom>
          <a:solidFill>
            <a:srgbClr val="F0FAF8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OWL ontology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+ individuals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8732520" y="2971800"/>
            <a:ext cx="1554480" cy="777240"/>
          </a:xfrm>
          <a:prstGeom prst="rect">
            <a:avLst/>
          </a:prstGeom>
          <a:solidFill>
            <a:srgbClr val="11364A"/>
          </a:solidFill>
          <a:ln cap="flat" cmpd="sng" w="15225">
            <a:solidFill>
              <a:srgbClr val="11364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Scenario-based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reasoner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0561320" y="2971800"/>
            <a:ext cx="1417320" cy="777240"/>
          </a:xfrm>
          <a:prstGeom prst="rect">
            <a:avLst/>
          </a:prstGeom>
          <a:solidFill>
            <a:srgbClr val="FCEFEA"/>
          </a:solidFill>
          <a:ln cap="flat" cmpd="sng" w="15225">
            <a:solidFill>
              <a:srgbClr val="D76F5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ACP note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POLST/code status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697480" y="416052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Closed-world rule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2057400" y="4498848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Extract only what the patient explicitly states; do not map out-of-scope content to the nearest covered class.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8183880" y="416052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Reasoner responsibility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7818120" y="4498848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Match intervention + activation conditions + negation + strength against the clinical scenario.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/>
          <p:nvPr/>
        </p:nvSpPr>
        <p:spPr>
          <a:xfrm>
            <a:off x="685800" y="438912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8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B7F89"/>
                </a:solidFill>
                <a:latin typeface="Arial"/>
                <a:ea typeface="Arial"/>
                <a:cs typeface="Arial"/>
                <a:sym typeface="Arial"/>
              </a:rPr>
              <a:t>STUDY DESIGN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58368" y="713232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Evaluation asked: does ADO reason correctly and integrate plausibly?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8"/>
          <p:cNvCxnSpPr/>
          <p:nvPr/>
        </p:nvCxnSpPr>
        <p:spPr>
          <a:xfrm>
            <a:off x="685800" y="1389888"/>
            <a:ext cx="3200400" cy="0"/>
          </a:xfrm>
          <a:prstGeom prst="straightConnector1">
            <a:avLst/>
          </a:prstGeom>
          <a:noFill/>
          <a:ln cap="flat" cmpd="sng" w="279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8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9525">
            <a:solidFill>
              <a:srgbClr val="D8DF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8"/>
          <p:cNvSpPr/>
          <p:nvPr/>
        </p:nvSpPr>
        <p:spPr>
          <a:xfrm>
            <a:off x="658368" y="6556248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Advance Directive Ontology (ADO)  |  BMDS 210 / CS 270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1201400" y="655624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822960" y="2770632"/>
            <a:ext cx="411480" cy="411480"/>
          </a:xfrm>
          <a:prstGeom prst="rect">
            <a:avLst/>
          </a:prstGeom>
          <a:solidFill>
            <a:srgbClr val="1B7F89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325880" y="2615184"/>
            <a:ext cx="1600200" cy="43891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Pipeline validation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822960" y="3273552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Example patient → populated ontology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3035808" y="2770632"/>
            <a:ext cx="411480" cy="411480"/>
          </a:xfrm>
          <a:prstGeom prst="rect">
            <a:avLst/>
          </a:prstGeom>
          <a:solidFill>
            <a:srgbClr val="E8B14D"/>
          </a:solidFill>
          <a:ln cap="flat" cmpd="sng" w="152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538728" y="2615184"/>
            <a:ext cx="1600200" cy="43891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Clinical vignettes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035808" y="3273552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16 scenarios across all decision points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248656" y="2770632"/>
            <a:ext cx="411480" cy="411480"/>
          </a:xfrm>
          <a:prstGeom prst="rect">
            <a:avLst/>
          </a:prstGeom>
          <a:solidFill>
            <a:srgbClr val="1B7F89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751576" y="2615184"/>
            <a:ext cx="1600200" cy="43891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Ablation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248656" y="3273552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Full reasoner vs. condition-blind variant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461504" y="2770632"/>
            <a:ext cx="411480" cy="411480"/>
          </a:xfrm>
          <a:prstGeom prst="rect">
            <a:avLst/>
          </a:prstGeom>
          <a:solidFill>
            <a:srgbClr val="E8B14D"/>
          </a:solidFill>
          <a:ln cap="flat" cmpd="sng" w="152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7964424" y="2615184"/>
            <a:ext cx="1600200" cy="43891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LLM extraction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7461504" y="3273552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12 real-template statements + out-of-scope tests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9674352" y="2770632"/>
            <a:ext cx="411480" cy="411480"/>
          </a:xfrm>
          <a:prstGeom prst="rect">
            <a:avLst/>
          </a:prstGeom>
          <a:solidFill>
            <a:srgbClr val="1B7F89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0177272" y="2615184"/>
            <a:ext cx="1600200" cy="43891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Mapping + expert review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9674352" y="3273552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12 directive profiles → code status/POLST; ethics review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1143000" y="4983480"/>
            <a:ext cx="9509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Gold standards were human-defined for vignette decisions and grounded in POLST semantics for code-status mapping.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920240" y="5468112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The ablation isolates whether activation-condition modeling actually changes decisions.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/>
          <p:nvPr/>
        </p:nvSpPr>
        <p:spPr>
          <a:xfrm>
            <a:off x="685800" y="438912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8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B7F89"/>
                </a:solidFill>
                <a:latin typeface="Arial"/>
                <a:ea typeface="Arial"/>
                <a:cs typeface="Arial"/>
                <a:sym typeface="Arial"/>
              </a:rPr>
              <a:t>QUANTITATIVE EVALUATION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58368" y="713232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Results: high fidelity, with conditionality doing real work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9"/>
          <p:cNvCxnSpPr/>
          <p:nvPr/>
        </p:nvCxnSpPr>
        <p:spPr>
          <a:xfrm>
            <a:off x="685800" y="1389888"/>
            <a:ext cx="3200400" cy="0"/>
          </a:xfrm>
          <a:prstGeom prst="straightConnector1">
            <a:avLst/>
          </a:prstGeom>
          <a:noFill/>
          <a:ln cap="flat" cmpd="sng" w="279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9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9525">
            <a:solidFill>
              <a:srgbClr val="D8DF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9"/>
          <p:cNvSpPr/>
          <p:nvPr/>
        </p:nvSpPr>
        <p:spPr>
          <a:xfrm>
            <a:off x="658368" y="6556248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Advance Directive Ontology (ADO)  |  BMDS 210 / CS 270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11201400" y="655624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777240" y="1847088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F89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B7F89"/>
                </a:solidFill>
                <a:latin typeface="Arial"/>
                <a:ea typeface="Arial"/>
                <a:cs typeface="Arial"/>
                <a:sym typeface="Arial"/>
              </a:rPr>
              <a:t>16/16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777240" y="2368296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vignette decision accuracy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2926080" y="184708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A6A5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38A6A5"/>
                </a:solidFill>
                <a:latin typeface="Arial"/>
                <a:ea typeface="Arial"/>
                <a:cs typeface="Arial"/>
                <a:sym typeface="Arial"/>
              </a:rPr>
              <a:t>16/16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2926080" y="2368296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match-type accuracy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983480" y="1847088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14D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E8B14D"/>
                </a:solidFill>
                <a:latin typeface="Arial"/>
                <a:ea typeface="Arial"/>
                <a:cs typeface="Arial"/>
                <a:sym typeface="Arial"/>
              </a:rPr>
              <a:t>0.97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983480" y="2368296"/>
            <a:ext cx="1508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LLM extraction F1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858000" y="1847088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6F5D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D76F5D"/>
                </a:solidFill>
                <a:latin typeface="Arial"/>
                <a:ea typeface="Arial"/>
                <a:cs typeface="Arial"/>
                <a:sym typeface="Arial"/>
              </a:rPr>
              <a:t>35/36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858000" y="2368296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code/POLST field agreement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9144000" y="184708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rPr sz="1400"/>
              <a:t>κ=1.00 / 1.00 / 0.88</a:t>
            </a:r>
          </a:p>
        </p:txBody>
      </p:sp>
      <p:sp>
        <p:nvSpPr>
          <p:cNvPr id="211" name="Google Shape;211;p9"/>
          <p:cNvSpPr/>
          <p:nvPr/>
        </p:nvSpPr>
        <p:spPr>
          <a:xfrm>
            <a:off x="9144000" y="2368296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r>
              <a:t>code / POLST A / POLST B</a:t>
            </a:r>
          </a:p>
        </p:txBody>
      </p:sp>
      <p:sp>
        <p:nvSpPr>
          <p:cNvPr id="212" name="Google Shape;212;p9"/>
          <p:cNvSpPr/>
          <p:nvPr/>
        </p:nvSpPr>
        <p:spPr>
          <a:xfrm>
            <a:off x="1234440" y="36118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Reasoner ablation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1234440" y="402336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Full reasoner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697480" y="4023360"/>
            <a:ext cx="3108960" cy="320040"/>
          </a:xfrm>
          <a:prstGeom prst="rect">
            <a:avLst/>
          </a:prstGeom>
          <a:solidFill>
            <a:srgbClr val="1B7F89"/>
          </a:solidFill>
          <a:ln cap="flat" cmpd="sng" w="12700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5916168" y="405993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1234440" y="4590288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Condition-blind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2697480" y="4590288"/>
            <a:ext cx="2331720" cy="320040"/>
          </a:xfrm>
          <a:prstGeom prst="rect">
            <a:avLst/>
          </a:prstGeom>
          <a:solidFill>
            <a:srgbClr val="D76F5D"/>
          </a:solidFill>
          <a:ln cap="flat" cmpd="sng" w="12700">
            <a:solidFill>
              <a:srgbClr val="D76F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5138928" y="46268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565392" y="3886200"/>
            <a:ext cx="4160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r>
              <a:t>Post-hoc ablation: ignore activation conditions on the same 16 vignettes → 12/16 (75%). All four errors are conditional/partial cases.</a:t>
            </a:r>
          </a:p>
        </p:txBody>
      </p:sp>
      <p:sp>
        <p:nvSpPr>
          <p:cNvPr id="220" name="Google Shape;220;p9"/>
          <p:cNvSpPr/>
          <p:nvPr/>
        </p:nvSpPr>
        <p:spPr>
          <a:xfrm>
            <a:off x="2743200" y="5559552"/>
            <a:ext cx="6766560" cy="384048"/>
          </a:xfrm>
          <a:prstGeom prst="rect">
            <a:avLst/>
          </a:prstGeom>
          <a:solidFill>
            <a:srgbClr val="11364A"/>
          </a:solidFill>
          <a:ln cap="flat" cmpd="sng" w="9525">
            <a:solidFill>
              <a:srgbClr val="11364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finding: conditional logic prevents dangerous over-reading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411480" y="598932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Also: extraction P/R = 0.94 / 1.00 • 0 out-of-scope hallucinations • 11/12 profiles exact match on all three bedside fields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/>
          <p:nvPr/>
        </p:nvSpPr>
        <p:spPr>
          <a:xfrm>
            <a:off x="685800" y="438912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8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B7F89"/>
                </a:solidFill>
                <a:latin typeface="Arial"/>
                <a:ea typeface="Arial"/>
                <a:cs typeface="Arial"/>
                <a:sym typeface="Arial"/>
              </a:rPr>
              <a:t>EXAMPLE DECISION LOGIC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58368" y="713232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What conditional reasoning changes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10"/>
          <p:cNvCxnSpPr/>
          <p:nvPr/>
        </p:nvCxnSpPr>
        <p:spPr>
          <a:xfrm>
            <a:off x="685800" y="1389888"/>
            <a:ext cx="3200400" cy="0"/>
          </a:xfrm>
          <a:prstGeom prst="straightConnector1">
            <a:avLst/>
          </a:prstGeom>
          <a:noFill/>
          <a:ln cap="flat" cmpd="sng" w="279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10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9525">
            <a:solidFill>
              <a:srgbClr val="D8DF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10"/>
          <p:cNvSpPr/>
          <p:nvPr/>
        </p:nvSpPr>
        <p:spPr>
          <a:xfrm>
            <a:off x="658368" y="6556248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Advance Directive Ontology (ADO)  |  BMDS 210 / CS 270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11201400" y="655624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713232" y="1627632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The same directive can map to different bedside outputs depending on the scenario. ADO keeps that conditionality explicit.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3401568" y="2331720"/>
            <a:ext cx="5394960" cy="777240"/>
          </a:xfrm>
          <a:prstGeom prst="rect">
            <a:avLst/>
          </a:prstGeom>
          <a:solidFill>
            <a:srgbClr val="FFF9EA"/>
          </a:solidFill>
          <a:ln cap="flat" cmpd="sng" w="152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Directive preference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“No CPR if NYHA IV and no reversible cause.”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1143000" y="3886200"/>
            <a:ext cx="2971800" cy="658368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Scenario 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NYHA IV + no reversible cause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143000" y="4718304"/>
            <a:ext cx="2971800" cy="658368"/>
          </a:xfrm>
          <a:prstGeom prst="rect">
            <a:avLst/>
          </a:prstGeom>
          <a:solidFill>
            <a:srgbClr val="E8F3F2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ADO output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DNR / clear match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8046720" y="3886200"/>
            <a:ext cx="2971800" cy="658368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76F5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Scenario B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NYHA III + reversible cause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8046720" y="4718304"/>
            <a:ext cx="2971800" cy="658368"/>
          </a:xfrm>
          <a:prstGeom prst="rect">
            <a:avLst/>
          </a:prstGeom>
          <a:solidFill>
            <a:srgbClr val="FCEFEA"/>
          </a:solidFill>
          <a:ln cap="flat" cmpd="sng" w="15225">
            <a:solidFill>
              <a:srgbClr val="D76F5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ADO output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Full code / partial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1920240" y="5797296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A flat checkbox cannot carry this “if/then” structure; it must either over-apply or discard it.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/>
          <p:cNvSpPr/>
          <p:nvPr/>
        </p:nvSpPr>
        <p:spPr>
          <a:xfrm>
            <a:off x="685800" y="438912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8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B7F89"/>
                </a:solidFill>
                <a:latin typeface="Arial"/>
                <a:ea typeface="Arial"/>
                <a:cs typeface="Arial"/>
                <a:sym typeface="Arial"/>
              </a:rPr>
              <a:t>CLINICAL INTEGRATION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658368" y="713232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Best workflow fit: pre-populating an ACP note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p11"/>
          <p:cNvCxnSpPr/>
          <p:nvPr/>
        </p:nvCxnSpPr>
        <p:spPr>
          <a:xfrm>
            <a:off x="685800" y="1389888"/>
            <a:ext cx="3200400" cy="0"/>
          </a:xfrm>
          <a:prstGeom prst="straightConnector1">
            <a:avLst/>
          </a:prstGeom>
          <a:noFill/>
          <a:ln cap="flat" cmpd="sng" w="279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11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9525">
            <a:solidFill>
              <a:srgbClr val="D8DF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1"/>
          <p:cNvSpPr/>
          <p:nvPr/>
        </p:nvSpPr>
        <p:spPr>
          <a:xfrm>
            <a:off x="658368" y="6556248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Advance Directive Ontology (ADO)  |  BMDS 210 / CS 270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11201400" y="655624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713232" y="162763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Expert review reframed ADO as documentation support rather than a legal directive. This preserves its value while avoiding the wrong legal claim.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822960" y="2788920"/>
            <a:ext cx="1691640" cy="8229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Existing AD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verbatim wishes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3063240" y="2788920"/>
            <a:ext cx="1828800" cy="822960"/>
          </a:xfrm>
          <a:prstGeom prst="rect">
            <a:avLst/>
          </a:prstGeom>
          <a:solidFill>
            <a:srgbClr val="F0FAF8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ADO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structured preferences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5486400" y="2788920"/>
            <a:ext cx="1874520" cy="822960"/>
          </a:xfrm>
          <a:prstGeom prst="rect">
            <a:avLst/>
          </a:prstGeom>
          <a:solidFill>
            <a:srgbClr val="FFF9EA"/>
          </a:solidFill>
          <a:ln cap="flat" cmpd="sng" w="152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Epic ACP note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pre-populated fields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8001000" y="2788920"/>
            <a:ext cx="2057400" cy="8229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68518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Provider conversation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clarify or override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10195560" y="2788920"/>
            <a:ext cx="1554480" cy="822960"/>
          </a:xfrm>
          <a:prstGeom prst="rect">
            <a:avLst/>
          </a:prstGeom>
          <a:solidFill>
            <a:srgbClr val="FCEFEA"/>
          </a:solidFill>
          <a:ln cap="flat" cmpd="sng" w="15225">
            <a:solidFill>
              <a:srgbClr val="D76F5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Final record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ACP + POLST/code status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1234440" y="47091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Source-of-truth priority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1234440" y="5047488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ACP conversation can clarify or supersede AD preferences. But when a decision is not revisited, the structured AD remains the best available record of the patient’s wishes.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/>
          <p:nvPr/>
        </p:nvSpPr>
        <p:spPr>
          <a:xfrm>
            <a:off x="685800" y="438912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8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B7F89"/>
                </a:solidFill>
                <a:latin typeface="Arial"/>
                <a:ea typeface="Arial"/>
                <a:cs typeface="Arial"/>
                <a:sym typeface="Arial"/>
              </a:rPr>
              <a:t>LIMITS + PRIORITIES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658368" y="713232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Expert review sharpened the contribution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12"/>
          <p:cNvCxnSpPr/>
          <p:nvPr/>
        </p:nvCxnSpPr>
        <p:spPr>
          <a:xfrm>
            <a:off x="685800" y="1389888"/>
            <a:ext cx="3200400" cy="0"/>
          </a:xfrm>
          <a:prstGeom prst="straightConnector1">
            <a:avLst/>
          </a:prstGeom>
          <a:noFill/>
          <a:ln cap="flat" cmpd="sng" w="279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12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9525">
            <a:solidFill>
              <a:srgbClr val="D8DF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12"/>
          <p:cNvSpPr/>
          <p:nvPr/>
        </p:nvSpPr>
        <p:spPr>
          <a:xfrm>
            <a:off x="658368" y="6556248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Advance Directive Ontology (ADO)  |  BMDS 210 / CS 270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11201400" y="655624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7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67C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713232" y="1627632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The critique did not eliminate the system’s value; it moved ADO to the right place in the clinical workflow and exposed the next modeling gaps.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987552" y="2542032"/>
            <a:ext cx="2148840" cy="384048"/>
          </a:xfrm>
          <a:prstGeom prst="rect">
            <a:avLst/>
          </a:prstGeom>
          <a:solidFill>
            <a:srgbClr val="1B7F89"/>
          </a:solidFill>
          <a:ln cap="flat" cmpd="sng" w="15225">
            <a:solidFill>
              <a:srgbClr val="1B7F8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Positioning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3337560" y="2569464"/>
            <a:ext cx="7269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Decision-support aid, not a signed legal directive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987552" y="3200400"/>
            <a:ext cx="2148840" cy="384048"/>
          </a:xfrm>
          <a:prstGeom prst="rect">
            <a:avLst/>
          </a:prstGeom>
          <a:solidFill>
            <a:srgbClr val="E8B14D"/>
          </a:solidFill>
          <a:ln cap="flat" cmpd="sng" w="152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Dimensionality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3337560" y="3227832"/>
            <a:ext cx="7269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Current model covers what intervention; next model must cover who decides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987552" y="3858768"/>
            <a:ext cx="2148840" cy="384048"/>
          </a:xfrm>
          <a:prstGeom prst="rect">
            <a:avLst/>
          </a:prstGeom>
          <a:solidFill>
            <a:srgbClr val="D76F5D"/>
          </a:solidFill>
          <a:ln cap="flat" cmpd="sng" w="15225">
            <a:solidFill>
              <a:srgbClr val="D76F5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Coverage gaps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3337560" y="3886200"/>
            <a:ext cx="7269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Artificial hydration/nutrition; antibiotics; comfort-care decisions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987552" y="4517136"/>
            <a:ext cx="2148840" cy="384048"/>
          </a:xfrm>
          <a:prstGeom prst="rect">
            <a:avLst/>
          </a:prstGeom>
          <a:solidFill>
            <a:srgbClr val="68518A"/>
          </a:solidFill>
          <a:ln cap="flat" cmpd="sng" w="15225">
            <a:solidFill>
              <a:srgbClr val="68518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Temporal limits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3337560" y="4544568"/>
            <a:ext cx="7269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OWL lacks native temporal reasoning; ADO uses numeric time bounds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987552" y="5175504"/>
            <a:ext cx="2148840" cy="384048"/>
          </a:xfrm>
          <a:prstGeom prst="rect">
            <a:avLst/>
          </a:prstGeom>
          <a:solidFill>
            <a:srgbClr val="38A6A5"/>
          </a:solidFill>
          <a:ln cap="flat" cmpd="sng" w="15225">
            <a:solidFill>
              <a:srgbClr val="38A6A5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Validation limits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3337560" y="5202936"/>
            <a:ext cx="7269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6F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59656F"/>
                </a:solidFill>
                <a:latin typeface="Arial"/>
                <a:ea typeface="Arial"/>
                <a:cs typeface="Arial"/>
                <a:sym typeface="Arial"/>
              </a:rPr>
              <a:t>Team-authored gold standards; real-EHR validation remains future work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1554480" y="5779008"/>
            <a:ext cx="9098280" cy="384048"/>
          </a:xfrm>
          <a:prstGeom prst="rect">
            <a:avLst/>
          </a:prstGeom>
          <a:solidFill>
            <a:srgbClr val="11364A"/>
          </a:solidFill>
          <a:ln cap="flat" cmpd="sng" w="9525">
            <a:solidFill>
              <a:srgbClr val="11364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principle: use the reasoner to surface uncertainty, not to replace clinicians or surrogates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364A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/>
          <p:nvPr/>
        </p:nvSpPr>
        <p:spPr>
          <a:xfrm>
            <a:off x="713232" y="804672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Takeaways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" name="Google Shape;287;p13"/>
          <p:cNvCxnSpPr/>
          <p:nvPr/>
        </p:nvCxnSpPr>
        <p:spPr>
          <a:xfrm>
            <a:off x="731520" y="1481328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13"/>
          <p:cNvSpPr/>
          <p:nvPr/>
        </p:nvSpPr>
        <p:spPr>
          <a:xfrm>
            <a:off x="868680" y="2057400"/>
            <a:ext cx="411480" cy="411480"/>
          </a:xfrm>
          <a:prstGeom prst="rect">
            <a:avLst/>
          </a:prstGeom>
          <a:solidFill>
            <a:srgbClr val="E8B14D"/>
          </a:solidFill>
          <a:ln cap="flat" cmpd="sng" w="95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1508760" y="2075688"/>
            <a:ext cx="9601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F4F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7F4F4"/>
                </a:solidFill>
                <a:latin typeface="Arial"/>
                <a:ea typeface="Arial"/>
                <a:cs typeface="Arial"/>
                <a:sym typeface="Arial"/>
              </a:rPr>
              <a:t>ADO makes conditional, graded, negatable EOL preferences computable.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868680" y="2834640"/>
            <a:ext cx="411480" cy="411480"/>
          </a:xfrm>
          <a:prstGeom prst="rect">
            <a:avLst/>
          </a:prstGeom>
          <a:solidFill>
            <a:srgbClr val="E8B14D"/>
          </a:solidFill>
          <a:ln cap="flat" cmpd="sng" w="95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1508760" y="2852928"/>
            <a:ext cx="9601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F4F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7F4F4"/>
                </a:solidFill>
                <a:latin typeface="Arial"/>
                <a:ea typeface="Arial"/>
                <a:cs typeface="Arial"/>
                <a:sym typeface="Arial"/>
              </a:rPr>
              <a:t>The safest outputs include honest non-answers: no coverage, partial, and vague.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868680" y="3611880"/>
            <a:ext cx="411480" cy="411480"/>
          </a:xfrm>
          <a:prstGeom prst="rect">
            <a:avLst/>
          </a:prstGeom>
          <a:solidFill>
            <a:srgbClr val="E8B14D"/>
          </a:solidFill>
          <a:ln cap="flat" cmpd="sng" w="95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1508760" y="3630168"/>
            <a:ext cx="9601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F4F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7F4F4"/>
                </a:solidFill>
                <a:latin typeface="Arial"/>
                <a:ea typeface="Arial"/>
                <a:cs typeface="Arial"/>
                <a:sym typeface="Arial"/>
              </a:rPr>
              <a:t>LLMs are useful for extraction, but the auditable ontology/reasoner should own inference.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868680" y="4389120"/>
            <a:ext cx="411480" cy="411480"/>
          </a:xfrm>
          <a:prstGeom prst="rect">
            <a:avLst/>
          </a:prstGeom>
          <a:solidFill>
            <a:srgbClr val="E8B14D"/>
          </a:solidFill>
          <a:ln cap="flat" cmpd="sng" w="9525">
            <a:solidFill>
              <a:srgbClr val="E8B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6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364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1508760" y="4407408"/>
            <a:ext cx="9601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F4F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7F4F4"/>
                </a:solidFill>
                <a:latin typeface="Arial"/>
                <a:ea typeface="Arial"/>
                <a:cs typeface="Arial"/>
                <a:sym typeface="Arial"/>
              </a:rPr>
              <a:t>The near-term product is ACP documentation support, not a legal directive.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868680" y="571500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 steps: surrogate/override modeling • artificial nutrition/hydration • time-limited trials • real-EHR validation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2026-05-31T02:48:26Z</dcterms:created>
  <dc:creator>OpenAI</dc:creator>
</cp:coreProperties>
</file>