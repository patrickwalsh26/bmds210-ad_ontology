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8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9"/>
    <p:sldId id="270" r:id="rId20"/>
  </p:sldIdLst>
  <p:sldSz cy="6858000" cx="12191675"/>
  <p:notesSz cx="6858000" cy="12191675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18" roundtripDataSignature="AMtx7mgwTtu56rGevqiwSdbkv/9xS7BsL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slide" Target="slides/slide13.xml"/><Relationship Id="rId18" Type="http://customschemas.google.com/relationships/presentationmetadata" Target="metadata"/><Relationship Id="rId19" Type="http://schemas.openxmlformats.org/officeDocument/2006/relationships/slide" Target="slides/slide14.xml"/><Relationship Id="rId20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" name="Google Shape;13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NARRATIVE: Act I opens — frame the talk.</a:t>
            </a:r>
          </a:p>
          <a:p>
            <a:r>
              <a:t>SAY: Patrick Walsh &amp; Darren Chan. ADO = computable EOL preferences in advanced HF. Not a legal AD — decision support for ACP documentation.</a:t>
            </a:r>
          </a:p>
          <a:p>
            <a:r>
              <a:t>TRANSITION: "Start where clinicians live—the 2 a.m. crisis."</a:t>
            </a:r>
          </a:p>
          <a:p>
            <a:r>
              <a:t>[~25s]</a:t>
            </a:r>
          </a:p>
        </p:txBody>
      </p:sp>
      <p:sp>
        <p:nvSpPr>
          <p:cNvPr id="14" name="Google Shape;14;p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5" name="Google Shape;2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NARRATIVE: Act I — three instruments, translation loss.</a:t>
            </a:r>
          </a:p>
          <a:p>
            <a:r>
              <a:t>SAY: AD → POLST → code status. Loss = conditional wishes → coarse boxes. "Free text" cliché is half wrong—CA/UC forms are checkboxes. Real problem: low resolution + disease blindness.</a:t>
            </a:r>
          </a:p>
          <a:p>
            <a:r>
              <a:t>POINT AT: ventilator example on slide.</a:t>
            </a:r>
          </a:p>
          <a:p>
            <a:r>
              <a:t>TRANSITION: "HF is where that blindness hurts most."</a:t>
            </a:r>
          </a:p>
          <a:p>
            <a:r>
              <a:t>[~45s]</a:t>
            </a:r>
          </a:p>
        </p:txBody>
      </p:sp>
      <p:sp>
        <p:nvSpPr>
          <p:cNvPr id="26" name="Google Shape;26;p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7" name="Google Shape;47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NARRATIVE: Act I — why HF scope.</a:t>
            </a:r>
          </a:p>
          <a:p>
            <a:r>
              <a:t>SAY: Unpredictable, device-heavy, repeated ED/ICU visits. Five decision points. ICD/LVAD/inotropes missing from generic templates.</a:t>
            </a:r>
          </a:p>
          <a:p>
            <a:r>
              <a:t>TRANSITION: "What's the smallest object that preserves patient logic?"</a:t>
            </a:r>
          </a:p>
          <a:p>
            <a:r>
              <a:t>[~35s]</a:t>
            </a:r>
          </a:p>
        </p:txBody>
      </p:sp>
      <p:sp>
        <p:nvSpPr>
          <p:cNvPr id="48" name="Google Shape;48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4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6" name="Google Shape;66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NARRATIVE: Act II begins — PreferenceStatement.</a:t>
            </a:r>
          </a:p>
          <a:p>
            <a:r>
              <a:t>SAY: Intervention + activation conditions + strength + negation + verbatim text. Reasoner asks: does this apply in THIS scenario? Walk 72h vasopressor example.</a:t>
            </a:r>
          </a:p>
          <a:p>
            <a:r>
              <a:t>TRANSITION: "How much structure we built around that."</a:t>
            </a:r>
          </a:p>
          <a:p>
            <a:r>
              <a:t>[~45s]</a:t>
            </a:r>
          </a:p>
        </p:txBody>
      </p:sp>
      <p:sp>
        <p:nvSpPr>
          <p:cNvPr id="67" name="Google Shape;67;p4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2" name="Google Shape;92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NARRATIVE: Act II — ontology credibility.</a:t>
            </a:r>
          </a:p>
          <a:p>
            <a:r>
              <a:t>SAY: 67 classes, 22 properties, 21 interventions—finer than our 50-form inventory. SNOMED where possible.</a:t>
            </a:r>
          </a:p>
          <a:p>
            <a:r>
              <a:t>OPTIONAL LIVE: Open Protégé → ado_jane_doe_001.owl → expand Intervention tree (see Protege_Showcase_Guide.md). POINT AT hierarchy figure on slide.</a:t>
            </a:r>
          </a:p>
          <a:p>
            <a:r>
              <a:t>TRANSITION: "Granularity only helps if we know when NOT to answer."</a:t>
            </a:r>
          </a:p>
          <a:p>
            <a:r>
              <a:t>[~35s, +2 min if Protégé live]</a:t>
            </a:r>
          </a:p>
        </p:txBody>
      </p:sp>
      <p:sp>
        <p:nvSpPr>
          <p:cNvPr id="93" name="Google Shape;93;p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1" name="Google Shape;12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NARRATIVE: Act II — safety thesis (four honest outputs).</a:t>
            </a:r>
          </a:p>
          <a:p>
            <a:r>
              <a:t>SAY: Clear / Partial / No coverage / Vague. Punchline: checkbox or LLM can't say "I don't know." ADO can.</a:t>
            </a:r>
          </a:p>
          <a:p>
            <a:r>
              <a:t>TRANSITION: "How we wired that into a pipeline."</a:t>
            </a:r>
          </a:p>
          <a:p>
            <a:r>
              <a:t>[~40s]</a:t>
            </a:r>
          </a:p>
        </p:txBody>
      </p:sp>
      <p:sp>
        <p:nvSpPr>
          <p:cNvPr id="122" name="Google Shape;122;p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3" name="Google Shape;143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NARRATIVE: Act II — architecture.</a:t>
            </a:r>
          </a:p>
          <a:p>
            <a:r>
              <a:t>SAY: LLMs extract ONLY. Ontology = auditable truth. Reasoner decides. Closed-world: out-of-scope → extract nothing. Tagline: WITH LLMs, not vs.</a:t>
            </a:r>
          </a:p>
          <a:p>
            <a:r>
              <a:t>OPTIONAL: "We can demo scenario 1 live after results."</a:t>
            </a:r>
          </a:p>
          <a:p>
            <a:r>
              <a:t>TRANSITION: "We tested that three ways."</a:t>
            </a:r>
          </a:p>
          <a:p>
            <a:r>
              <a:t>[~45s]</a:t>
            </a:r>
          </a:p>
        </p:txBody>
      </p:sp>
      <p:sp>
        <p:nvSpPr>
          <p:cNvPr id="144" name="Google Shape;144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65" name="Google Shape;16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NARRATIVE: Act III — earn trust before numbers.</a:t>
            </a:r>
          </a:p>
          <a:p>
            <a:r>
              <a:t>SAY: 5 evaluation strands on slide. Caveat: team gold, grounded in real templates + POLST semantics. Ablation = same 16 vignettes without conditions → 75%.</a:t>
            </a:r>
          </a:p>
          <a:p>
            <a:r>
              <a:t>POINT AT: vignette pie chart (if visible).</a:t>
            </a:r>
          </a:p>
          <a:p>
            <a:r>
              <a:t>TRANSITION: "Here's what we found."</a:t>
            </a:r>
          </a:p>
          <a:p>
            <a:r>
              <a:t>[~45s]</a:t>
            </a:r>
          </a:p>
        </p:txBody>
      </p:sp>
      <p:sp>
        <p:nvSpPr>
          <p:cNvPr id="166" name="Google Shape;166;p8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93" name="Google Shape;19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NARRATIVE: Act III — flagship results.</a:t>
            </a:r>
          </a:p>
          <a:p>
            <a:r>
              <a:t>SAY: Track 1: 16/16. Track 2: F1 0.97, 0 hallucinations on nutrition/antibiotics. Track 3: 35/36 (97%), κ 1.00/1.00/0.88. Ablation: 75% without conditions = 4 false-confident conditional errors.</a:t>
            </a:r>
          </a:p>
          <a:p>
            <a:r>
              <a:t>POINT AT: bar charts on right of slide.</a:t>
            </a:r>
          </a:p>
          <a:p>
            <a:r>
              <a:t>TRANSITION: "One profile pair shows the clinical payoff."</a:t>
            </a:r>
          </a:p>
          <a:p>
            <a:r>
              <a:t>[~55s]</a:t>
            </a:r>
          </a:p>
        </p:txBody>
      </p:sp>
      <p:sp>
        <p:nvSpPr>
          <p:cNvPr id="194" name="Google Shape;194;p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23" name="Google Shape;223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NARRATIVE: Act III — clinical "aha."</a:t>
            </a:r>
          </a:p>
          <a:p>
            <a:r>
              <a:t>SAY: Same directive, two scenarios → DNR vs Full code. Flat POLST can't carry if/then.</a:t>
            </a:r>
          </a:p>
          <a:p>
            <a:r>
              <a:t>POINT AT: P9/P10 figure if on slide.</a:t>
            </a:r>
          </a:p>
          <a:p>
            <a:r>
              <a:t>TRANSITION: "An ethicist placed this in workflow."</a:t>
            </a:r>
          </a:p>
          <a:p>
            <a:r>
              <a:t>[~40s]</a:t>
            </a:r>
          </a:p>
        </p:txBody>
      </p:sp>
      <p:sp>
        <p:nvSpPr>
          <p:cNvPr id="224" name="Google Shape;224;p1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41" name="Google Shape;241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NARRATIVE: Act IV — Magnus reframe.</a:t>
            </a:r>
          </a:p>
          <a:p>
            <a:r>
              <a:t>SAY: Not a signed AHCD — ACP progress note. Directive → ADO → ACP pre-pop → conversation → POLST/code status.</a:t>
            </a:r>
          </a:p>
          <a:p>
            <a:r>
              <a:t>TRANSITION: "What we didn't solve."</a:t>
            </a:r>
          </a:p>
          <a:p>
            <a:r>
              <a:t>[~40s]</a:t>
            </a:r>
          </a:p>
        </p:txBody>
      </p:sp>
      <p:sp>
        <p:nvSpPr>
          <p:cNvPr id="242" name="Google Shape;242;p1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8" name="Shape 2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Google Shape;259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60" name="Google Shape;26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NARRATIVE: Act IV — limits without retreating.</a:t>
            </a:r>
          </a:p>
          <a:p>
            <a:r>
              <a:t>SAY: No legal force; one-dimensional (who-decides next); coverage gaps; team gold; EHR validation future.</a:t>
            </a:r>
          </a:p>
          <a:p>
            <a:r>
              <a:t>TRANSITION: "Four takeaways."</a:t>
            </a:r>
          </a:p>
          <a:p>
            <a:r>
              <a:t>[~35s]</a:t>
            </a:r>
          </a:p>
        </p:txBody>
      </p:sp>
      <p:sp>
        <p:nvSpPr>
          <p:cNvPr id="261" name="Google Shape;261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83" name="Google Shape;283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NARRATIVE: Close.</a:t>
            </a:r>
          </a:p>
          <a:p>
            <a:r>
              <a:t>SAY: Read four bullets. Repo URL. Questions welcome.</a:t>
            </a:r>
          </a:p>
          <a:p>
            <a:r>
              <a:t>OFFER: "Happy to run demo scenario 1 live."</a:t>
            </a:r>
          </a:p>
          <a:p>
            <a:r>
              <a:t>[~25s]</a:t>
            </a:r>
          </a:p>
        </p:txBody>
      </p:sp>
      <p:sp>
        <p:nvSpPr>
          <p:cNvPr id="284" name="Google Shape;284;p1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7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8.png"/><Relationship Id="rId6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0.png"/><Relationship Id="rId3" Type="http://schemas.openxmlformats.org/officeDocument/2006/relationships/image" Target="../media/image9.png"/><Relationship Id="rId4" Type="http://schemas.openxmlformats.org/officeDocument/2006/relationships/image" Target="../media/image11.png"/><Relationship Id="rId5" Type="http://schemas.openxmlformats.org/officeDocument/2006/relationships/image" Target="../media/image12.png"/><Relationship Id="rId6" Type="http://schemas.openxmlformats.org/officeDocument/2006/relationships/image" Target="../media/image5.png"/><Relationship Id="rId7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1364A"/>
        </a:solidFill>
      </p:bgPr>
    </p:bg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1"/>
          <p:cNvSpPr/>
          <p:nvPr/>
        </p:nvSpPr>
        <p:spPr>
          <a:xfrm>
            <a:off x="685800" y="1115568"/>
            <a:ext cx="10698480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900"/>
              <a:buFont typeface="Arial"/>
              <a:buNone/>
            </a:pPr>
            <a:r>
              <a:rPr b="1" i="0" lang="en-US" sz="3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The Advance Directive Ontology (ADO)</a:t>
            </a:r>
            <a:endParaRPr b="0" i="0" sz="3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" name="Google Shape;17;p1"/>
          <p:cNvSpPr/>
          <p:nvPr/>
        </p:nvSpPr>
        <p:spPr>
          <a:xfrm>
            <a:off x="713232" y="1993392"/>
            <a:ext cx="96012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9F6F5"/>
              </a:buClr>
              <a:buSzPts val="2000"/>
              <a:buFont typeface="Arial"/>
              <a:buNone/>
            </a:pPr>
            <a:r>
              <a:rPr b="0" i="0" lang="en-US" sz="2000" u="none" cap="none" strike="noStrike">
                <a:solidFill>
                  <a:srgbClr val="E9F6F5"/>
                </a:solidFill>
                <a:latin typeface="Arial"/>
                <a:ea typeface="Arial"/>
                <a:cs typeface="Arial"/>
                <a:sym typeface="Arial"/>
              </a:rPr>
              <a:t>A computable representation of end-of-life care preferences in advanced heart failure</a:t>
            </a:r>
            <a:endParaRPr b="0" i="0" sz="2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8" name="Google Shape;18;p1"/>
          <p:cNvCxnSpPr/>
          <p:nvPr/>
        </p:nvCxnSpPr>
        <p:spPr>
          <a:xfrm>
            <a:off x="731520" y="2670048"/>
            <a:ext cx="3840480" cy="0"/>
          </a:xfrm>
          <a:prstGeom prst="straightConnector1">
            <a:avLst/>
          </a:prstGeom>
          <a:noFill/>
          <a:ln cap="flat" cmpd="sng" w="38100">
            <a:solidFill>
              <a:srgbClr val="E8B14D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9" name="Google Shape;19;p1"/>
          <p:cNvSpPr/>
          <p:nvPr/>
        </p:nvSpPr>
        <p:spPr>
          <a:xfrm>
            <a:off x="713232" y="3063240"/>
            <a:ext cx="6583680" cy="658368"/>
          </a:xfrm>
          <a:prstGeom prst="rect">
            <a:avLst/>
          </a:prstGeom>
          <a:noFill/>
          <a:ln>
            <a:noFill/>
          </a:ln>
        </p:spPr>
        <p:txBody>
          <a:bodyPr anchorCtr="0" anchor="ctr" bIns="250" lIns="250" spcFirstLastPara="1" rIns="250" wrap="square" tIns="2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9E9EC"/>
              </a:buClr>
              <a:buSzPts val="1700"/>
              <a:buFont typeface="Arial"/>
              <a:buNone/>
            </a:pPr>
            <a:r>
              <a:rPr b="0" i="0" lang="en-US" sz="1700" u="none" cap="none" strike="noStrike">
                <a:solidFill>
                  <a:srgbClr val="D9E9EC"/>
                </a:solidFill>
                <a:latin typeface="Arial"/>
                <a:ea typeface="Arial"/>
                <a:cs typeface="Arial"/>
                <a:sym typeface="Arial"/>
              </a:rPr>
              <a:t>Patrick Walsh  •  Darren Chan</a:t>
            </a:r>
            <a:endParaRPr b="0" i="0" sz="17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9E9EC"/>
              </a:buClr>
              <a:buSzPts val="1700"/>
              <a:buFont typeface="Arial"/>
              <a:buNone/>
            </a:pPr>
            <a:r>
              <a:rPr b="0" i="0" lang="en-US" sz="1700" u="none" cap="none" strike="noStrike">
                <a:solidFill>
                  <a:srgbClr val="D9E9EC"/>
                </a:solidFill>
                <a:latin typeface="Arial"/>
                <a:ea typeface="Arial"/>
                <a:cs typeface="Arial"/>
                <a:sym typeface="Arial"/>
              </a:rPr>
              <a:t>Stanford University</a:t>
            </a:r>
            <a:endParaRPr b="0" i="0" sz="17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" name="Google Shape;20;p1"/>
          <p:cNvSpPr/>
          <p:nvPr/>
        </p:nvSpPr>
        <p:spPr>
          <a:xfrm>
            <a:off x="7635240" y="4069080"/>
            <a:ext cx="1417320" cy="914400"/>
          </a:xfrm>
          <a:prstGeom prst="rect">
            <a:avLst/>
          </a:prstGeom>
          <a:solidFill>
            <a:srgbClr val="F0FAF8"/>
          </a:solidFill>
          <a:ln cap="flat" cmpd="sng" w="15225">
            <a:solidFill>
              <a:srgbClr val="1B7F89"/>
            </a:solidFill>
            <a:prstDash val="solid"/>
            <a:round/>
            <a:headEnd len="sm" w="sm" type="none"/>
            <a:tailEnd len="sm" w="sm" type="none"/>
          </a:ln>
          <a:effectLst>
            <a:outerShdw blurRad="25400" rotWithShape="0" algn="bl" dir="2700000" dist="12700">
              <a:srgbClr val="000000">
                <a:alpha val="7843"/>
              </a:srgbClr>
            </a:outerShdw>
          </a:effectLst>
        </p:spPr>
        <p:txBody>
          <a:bodyPr anchorCtr="0" anchor="ctr" bIns="1500" lIns="1500" spcFirstLastPara="1" rIns="1500" wrap="square" tIns="15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OWL 2</a:t>
            </a:r>
            <a:endParaRPr b="0" i="0" sz="16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ontology</a:t>
            </a:r>
            <a:endParaRPr b="0" i="0" sz="16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" name="Google Shape;21;p1"/>
          <p:cNvSpPr/>
          <p:nvPr/>
        </p:nvSpPr>
        <p:spPr>
          <a:xfrm>
            <a:off x="9372600" y="3730752"/>
            <a:ext cx="1417320" cy="914400"/>
          </a:xfrm>
          <a:prstGeom prst="rect">
            <a:avLst/>
          </a:prstGeom>
          <a:solidFill>
            <a:srgbClr val="FFF4DE"/>
          </a:solidFill>
          <a:ln cap="flat" cmpd="sng" w="15225">
            <a:solidFill>
              <a:srgbClr val="E8B14D"/>
            </a:solidFill>
            <a:prstDash val="solid"/>
            <a:round/>
            <a:headEnd len="sm" w="sm" type="none"/>
            <a:tailEnd len="sm" w="sm" type="none"/>
          </a:ln>
          <a:effectLst>
            <a:outerShdw blurRad="25400" rotWithShape="0" algn="bl" dir="2700000" dist="12700">
              <a:srgbClr val="000000">
                <a:alpha val="7843"/>
              </a:srgbClr>
            </a:outerShdw>
          </a:effectLst>
        </p:spPr>
        <p:txBody>
          <a:bodyPr anchorCtr="0" anchor="ctr" bIns="1500" lIns="1500" spcFirstLastPara="1" rIns="1500" wrap="square" tIns="15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Clinical</a:t>
            </a:r>
            <a:endParaRPr b="0" i="0" sz="16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scenario</a:t>
            </a:r>
            <a:endParaRPr b="0" i="0" sz="16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" name="Google Shape;22;p1"/>
          <p:cNvSpPr/>
          <p:nvPr/>
        </p:nvSpPr>
        <p:spPr>
          <a:xfrm>
            <a:off x="8458200" y="5166360"/>
            <a:ext cx="1508760" cy="914400"/>
          </a:xfrm>
          <a:prstGeom prst="rect">
            <a:avLst/>
          </a:prstGeom>
          <a:solidFill>
            <a:srgbClr val="F6E9E6"/>
          </a:solidFill>
          <a:ln cap="flat" cmpd="sng" w="15225">
            <a:solidFill>
              <a:srgbClr val="D76F5D"/>
            </a:solidFill>
            <a:prstDash val="solid"/>
            <a:round/>
            <a:headEnd len="sm" w="sm" type="none"/>
            <a:tailEnd len="sm" w="sm" type="none"/>
          </a:ln>
          <a:effectLst>
            <a:outerShdw blurRad="25400" rotWithShape="0" algn="bl" dir="2700000" dist="12700">
              <a:srgbClr val="000000">
                <a:alpha val="7843"/>
              </a:srgbClr>
            </a:outerShdw>
          </a:effectLst>
        </p:spPr>
        <p:txBody>
          <a:bodyPr anchorCtr="0" anchor="ctr" bIns="1500" lIns="1500" spcFirstLastPara="1" rIns="1500" wrap="square" tIns="15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Actionable</a:t>
            </a:r>
            <a:endParaRPr b="0" i="0" sz="16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output</a:t>
            </a:r>
            <a:endParaRPr b="0" i="0" sz="16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BF7EF"/>
        </a:solidFill>
      </p:bgPr>
    </p:bg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2"/>
          <p:cNvSpPr/>
          <p:nvPr/>
        </p:nvSpPr>
        <p:spPr>
          <a:xfrm>
            <a:off x="685800" y="438912"/>
            <a:ext cx="71323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B7F89"/>
              </a:buClr>
              <a:buSzPts val="850"/>
              <a:buFont typeface="Arial"/>
              <a:buNone/>
            </a:pPr>
            <a:r>
              <a:rPr b="1" i="0" lang="en-US" sz="850" u="none" cap="none" strike="noStrike">
                <a:solidFill>
                  <a:srgbClr val="1B7F89"/>
                </a:solidFill>
                <a:latin typeface="Arial"/>
                <a:ea typeface="Arial"/>
                <a:cs typeface="Arial"/>
                <a:sym typeface="Arial"/>
              </a:rPr>
              <a:t>CLINICAL PROBLEM</a:t>
            </a:r>
            <a:endParaRPr b="0" i="0" sz="8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" name="Google Shape;29;p2"/>
          <p:cNvSpPr/>
          <p:nvPr/>
        </p:nvSpPr>
        <p:spPr>
          <a:xfrm>
            <a:off x="658368" y="713232"/>
            <a:ext cx="10607040" cy="53035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3000"/>
              <a:buFont typeface="Arial"/>
              <a:buNone/>
            </a:pPr>
            <a:r>
              <a:rPr b="1" i="0" lang="en-US" sz="30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The workflow has documents, orders, and gaps</a:t>
            </a:r>
            <a:endParaRPr b="0" i="0" sz="3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30" name="Google Shape;30;p2"/>
          <p:cNvCxnSpPr/>
          <p:nvPr/>
        </p:nvCxnSpPr>
        <p:spPr>
          <a:xfrm>
            <a:off x="685800" y="1389888"/>
            <a:ext cx="3200400" cy="0"/>
          </a:xfrm>
          <a:prstGeom prst="straightConnector1">
            <a:avLst/>
          </a:prstGeom>
          <a:noFill/>
          <a:ln cap="flat" cmpd="sng" w="27925">
            <a:solidFill>
              <a:srgbClr val="E8B14D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1" name="Google Shape;31;p2"/>
          <p:cNvCxnSpPr/>
          <p:nvPr/>
        </p:nvCxnSpPr>
        <p:spPr>
          <a:xfrm>
            <a:off x="594360" y="6473952"/>
            <a:ext cx="11000232" cy="0"/>
          </a:xfrm>
          <a:prstGeom prst="straightConnector1">
            <a:avLst/>
          </a:prstGeom>
          <a:noFill/>
          <a:ln cap="flat" cmpd="sng" w="9525">
            <a:solidFill>
              <a:srgbClr val="D8DFE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2" name="Google Shape;32;p2"/>
          <p:cNvSpPr/>
          <p:nvPr/>
        </p:nvSpPr>
        <p:spPr>
          <a:xfrm>
            <a:off x="658368" y="6556248"/>
            <a:ext cx="71323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767C"/>
              </a:buClr>
              <a:buSzPts val="750"/>
              <a:buFont typeface="Arial"/>
              <a:buNone/>
            </a:pPr>
            <a:r>
              <a:rPr b="0" i="0" lang="en-US" sz="750" u="none" cap="none" strike="noStrike">
                <a:solidFill>
                  <a:srgbClr val="6B767C"/>
                </a:solidFill>
                <a:latin typeface="Arial"/>
                <a:ea typeface="Arial"/>
                <a:cs typeface="Arial"/>
                <a:sym typeface="Arial"/>
              </a:rPr>
              <a:t>Advance Directive Ontology (ADO)  |  BMDS 210 / CS 270</a:t>
            </a:r>
            <a:endParaRPr b="0" i="0" sz="7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" name="Google Shape;33;p2"/>
          <p:cNvSpPr/>
          <p:nvPr/>
        </p:nvSpPr>
        <p:spPr>
          <a:xfrm>
            <a:off x="11201400" y="6556248"/>
            <a:ext cx="3657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B767C"/>
              </a:buClr>
              <a:buSzPts val="750"/>
              <a:buFont typeface="Arial"/>
              <a:buNone/>
            </a:pPr>
            <a:r>
              <a:rPr b="0" i="0" lang="en-US" sz="750" u="none" cap="none" strike="noStrike">
                <a:solidFill>
                  <a:srgbClr val="6B767C"/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  <a:endParaRPr b="0" i="0" sz="7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" name="Google Shape;34;p2"/>
          <p:cNvSpPr/>
          <p:nvPr/>
        </p:nvSpPr>
        <p:spPr>
          <a:xfrm>
            <a:off x="713232" y="1627632"/>
            <a:ext cx="10149840" cy="594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9656F"/>
              </a:buClr>
              <a:buSzPts val="1700"/>
              <a:buFont typeface="Arial"/>
              <a:buNone/>
            </a:pPr>
            <a:r>
              <a:rPr b="0" i="0" lang="en-US" sz="1700" u="none" cap="none" strike="noStrike">
                <a:solidFill>
                  <a:srgbClr val="59656F"/>
                </a:solidFill>
                <a:latin typeface="Arial"/>
                <a:ea typeface="Arial"/>
                <a:cs typeface="Arial"/>
                <a:sym typeface="Arial"/>
              </a:rPr>
              <a:t>End-of-life preferences often move through three different instruments. The loss happens in the middle: conditional patient wishes become coarse checkboxes or bedside orders.</a:t>
            </a:r>
            <a:endParaRPr b="0" i="0" sz="17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" name="Google Shape;35;p2"/>
          <p:cNvSpPr/>
          <p:nvPr/>
        </p:nvSpPr>
        <p:spPr>
          <a:xfrm>
            <a:off x="777240" y="2907792"/>
            <a:ext cx="2057400" cy="914400"/>
          </a:xfrm>
          <a:prstGeom prst="rect">
            <a:avLst/>
          </a:prstGeom>
          <a:solidFill>
            <a:srgbClr val="FFFFFF"/>
          </a:solidFill>
          <a:ln cap="flat" cmpd="sng" w="15225">
            <a:solidFill>
              <a:srgbClr val="1B7F89"/>
            </a:solidFill>
            <a:prstDash val="solid"/>
            <a:round/>
            <a:headEnd len="sm" w="sm" type="none"/>
            <a:tailEnd len="sm" w="sm" type="none"/>
          </a:ln>
          <a:effectLst>
            <a:outerShdw blurRad="25400" rotWithShape="0" algn="bl" dir="2700000" dist="12700">
              <a:srgbClr val="000000">
                <a:alpha val="7843"/>
              </a:srgbClr>
            </a:outerShdw>
          </a:effectLst>
        </p:spPr>
        <p:txBody>
          <a:bodyPr anchorCtr="0" anchor="ctr" bIns="1500" lIns="1500" spcFirstLastPara="1" rIns="1500" wrap="square" tIns="15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Advance directive</a:t>
            </a:r>
            <a:endParaRPr b="0" i="0" sz="15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values + wishes</a:t>
            </a:r>
            <a:endParaRPr b="0" i="0" sz="15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" name="Google Shape;36;p2"/>
          <p:cNvSpPr/>
          <p:nvPr/>
        </p:nvSpPr>
        <p:spPr>
          <a:xfrm>
            <a:off x="3657600" y="2907792"/>
            <a:ext cx="1965960" cy="914400"/>
          </a:xfrm>
          <a:prstGeom prst="rect">
            <a:avLst/>
          </a:prstGeom>
          <a:solidFill>
            <a:srgbClr val="FFFFFF"/>
          </a:solidFill>
          <a:ln cap="flat" cmpd="sng" w="15225">
            <a:solidFill>
              <a:srgbClr val="E8B14D"/>
            </a:solidFill>
            <a:prstDash val="solid"/>
            <a:round/>
            <a:headEnd len="sm" w="sm" type="none"/>
            <a:tailEnd len="sm" w="sm" type="none"/>
          </a:ln>
          <a:effectLst>
            <a:outerShdw blurRad="25400" rotWithShape="0" algn="bl" dir="2700000" dist="12700">
              <a:srgbClr val="000000">
                <a:alpha val="7843"/>
              </a:srgbClr>
            </a:outerShdw>
          </a:effectLst>
        </p:spPr>
        <p:txBody>
          <a:bodyPr anchorCtr="0" anchor="ctr" bIns="1500" lIns="1500" spcFirstLastPara="1" rIns="1500" wrap="square" tIns="15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POLST</a:t>
            </a:r>
            <a:endParaRPr b="0" i="0" sz="15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portable orders</a:t>
            </a:r>
            <a:endParaRPr b="0" i="0" sz="15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2"/>
          <p:cNvSpPr/>
          <p:nvPr/>
        </p:nvSpPr>
        <p:spPr>
          <a:xfrm>
            <a:off x="6400800" y="2907792"/>
            <a:ext cx="1965960" cy="914400"/>
          </a:xfrm>
          <a:prstGeom prst="rect">
            <a:avLst/>
          </a:prstGeom>
          <a:solidFill>
            <a:srgbClr val="FFFFFF"/>
          </a:solidFill>
          <a:ln cap="flat" cmpd="sng" w="15225">
            <a:solidFill>
              <a:srgbClr val="D76F5D"/>
            </a:solidFill>
            <a:prstDash val="solid"/>
            <a:round/>
            <a:headEnd len="sm" w="sm" type="none"/>
            <a:tailEnd len="sm" w="sm" type="none"/>
          </a:ln>
          <a:effectLst>
            <a:outerShdw blurRad="25400" rotWithShape="0" algn="bl" dir="2700000" dist="12700">
              <a:srgbClr val="000000">
                <a:alpha val="7843"/>
              </a:srgbClr>
            </a:outerShdw>
          </a:effectLst>
        </p:spPr>
        <p:txBody>
          <a:bodyPr anchorCtr="0" anchor="ctr" bIns="1500" lIns="1500" spcFirstLastPara="1" rIns="1500" wrap="square" tIns="15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Code status</a:t>
            </a:r>
            <a:endParaRPr b="0" i="0" sz="15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bedside action</a:t>
            </a:r>
            <a:endParaRPr b="0" i="0" sz="15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" name="Google Shape;38;p2"/>
          <p:cNvSpPr/>
          <p:nvPr/>
        </p:nvSpPr>
        <p:spPr>
          <a:xfrm>
            <a:off x="9144000" y="2907792"/>
            <a:ext cx="2103120" cy="914400"/>
          </a:xfrm>
          <a:prstGeom prst="rect">
            <a:avLst/>
          </a:prstGeom>
          <a:solidFill>
            <a:srgbClr val="FFFFFF"/>
          </a:solidFill>
          <a:ln cap="flat" cmpd="sng" w="15225">
            <a:solidFill>
              <a:srgbClr val="68518A"/>
            </a:solidFill>
            <a:prstDash val="solid"/>
            <a:round/>
            <a:headEnd len="sm" w="sm" type="none"/>
            <a:tailEnd len="sm" w="sm" type="none"/>
          </a:ln>
          <a:effectLst>
            <a:outerShdw blurRad="25400" rotWithShape="0" algn="bl" dir="2700000" dist="12700">
              <a:srgbClr val="000000">
                <a:alpha val="7843"/>
              </a:srgbClr>
            </a:outerShdw>
          </a:effectLst>
        </p:spPr>
        <p:txBody>
          <a:bodyPr anchorCtr="0" anchor="ctr" bIns="1500" lIns="1500" spcFirstLastPara="1" rIns="1500" wrap="square" tIns="15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Acute crisis</a:t>
            </a:r>
            <a:endParaRPr b="0" i="0" sz="15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what do we do?</a:t>
            </a:r>
            <a:endParaRPr b="0" i="0" sz="15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" name="Google Shape;39;p2"/>
          <p:cNvSpPr/>
          <p:nvPr/>
        </p:nvSpPr>
        <p:spPr>
          <a:xfrm>
            <a:off x="2926080" y="2615184"/>
            <a:ext cx="73152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84C43"/>
              </a:buClr>
              <a:buSzPts val="850"/>
              <a:buFont typeface="Arial"/>
              <a:buNone/>
            </a:pPr>
            <a:r>
              <a:rPr b="1" i="0" lang="en-US" sz="850" u="none" cap="none" strike="noStrike">
                <a:solidFill>
                  <a:srgbClr val="B84C43"/>
                </a:solidFill>
                <a:latin typeface="Arial"/>
                <a:ea typeface="Arial"/>
                <a:cs typeface="Arial"/>
                <a:sym typeface="Arial"/>
              </a:rPr>
              <a:t>Low resolution</a:t>
            </a:r>
            <a:endParaRPr b="0" i="0" sz="8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" name="Google Shape;40;p2"/>
          <p:cNvSpPr/>
          <p:nvPr/>
        </p:nvSpPr>
        <p:spPr>
          <a:xfrm>
            <a:off x="5715000" y="2615184"/>
            <a:ext cx="8229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84C43"/>
              </a:buClr>
              <a:buSzPts val="850"/>
              <a:buFont typeface="Arial"/>
              <a:buNone/>
            </a:pPr>
            <a:r>
              <a:rPr b="1" i="0" lang="en-US" sz="850" u="none" cap="none" strike="noStrike">
                <a:solidFill>
                  <a:srgbClr val="B84C43"/>
                </a:solidFill>
                <a:latin typeface="Arial"/>
                <a:ea typeface="Arial"/>
                <a:cs typeface="Arial"/>
                <a:sym typeface="Arial"/>
              </a:rPr>
              <a:t>Disease blind</a:t>
            </a:r>
            <a:endParaRPr b="0" i="0" sz="8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" name="Google Shape;41;p2"/>
          <p:cNvSpPr/>
          <p:nvPr/>
        </p:nvSpPr>
        <p:spPr>
          <a:xfrm>
            <a:off x="8412480" y="2615184"/>
            <a:ext cx="8229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84C43"/>
              </a:buClr>
              <a:buSzPts val="850"/>
              <a:buFont typeface="Arial"/>
              <a:buNone/>
            </a:pPr>
            <a:r>
              <a:rPr b="1" i="0" lang="en-US" sz="850" u="none" cap="none" strike="noStrike">
                <a:solidFill>
                  <a:srgbClr val="B84C43"/>
                </a:solidFill>
                <a:latin typeface="Arial"/>
                <a:ea typeface="Arial"/>
                <a:cs typeface="Arial"/>
                <a:sym typeface="Arial"/>
              </a:rPr>
              <a:t>No reasoning</a:t>
            </a:r>
            <a:endParaRPr b="0" i="0" sz="8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" name="Google Shape;42;p2"/>
          <p:cNvSpPr/>
          <p:nvPr/>
        </p:nvSpPr>
        <p:spPr>
          <a:xfrm>
            <a:off x="914400" y="4617720"/>
            <a:ext cx="283464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Example wish lost in translation</a:t>
            </a:r>
            <a:endParaRPr b="0" i="0" sz="15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" name="Google Shape;43;p2"/>
          <p:cNvSpPr/>
          <p:nvPr/>
        </p:nvSpPr>
        <p:spPr>
          <a:xfrm>
            <a:off x="914400" y="5029200"/>
            <a:ext cx="7863840" cy="512064"/>
          </a:xfrm>
          <a:prstGeom prst="rect">
            <a:avLst/>
          </a:prstGeom>
          <a:solidFill>
            <a:srgbClr val="FFF9EA"/>
          </a:solidFill>
          <a:ln cap="flat" cmpd="sng" w="12700">
            <a:solidFill>
              <a:srgbClr val="F0D18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75" lIns="375" spcFirstLastPara="1" rIns="375" wrap="square" tIns="3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2000"/>
              <a:buFont typeface="Arial"/>
              <a:buNone/>
            </a:pPr>
            <a:r>
              <a:rPr b="0" i="1" lang="en-US" sz="20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“I would accept a ventilator temporarily if the cause is reversible, but never indefinitely.”</a:t>
            </a:r>
            <a:endParaRPr b="0" i="0" sz="2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" name="Google Shape;44;p2"/>
          <p:cNvSpPr/>
          <p:nvPr/>
        </p:nvSpPr>
        <p:spPr>
          <a:xfrm>
            <a:off x="914400" y="5715000"/>
            <a:ext cx="877824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9656F"/>
              </a:buClr>
              <a:buSzPts val="1400"/>
              <a:buFont typeface="Arial"/>
              <a:buNone/>
            </a:pPr>
            <a:r>
              <a:rPr b="0" i="0" lang="en-US" sz="1400" u="none" cap="none" strike="noStrike">
                <a:solidFill>
                  <a:srgbClr val="59656F"/>
                </a:solidFill>
                <a:latin typeface="Arial"/>
                <a:ea typeface="Arial"/>
                <a:cs typeface="Arial"/>
                <a:sym typeface="Arial"/>
              </a:rPr>
              <a:t>A checkbox can record “ventilator: yes/no,” but not the conditional structure.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BF7EF"/>
        </a:solidFill>
      </p:bgPr>
    </p:bg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3"/>
          <p:cNvSpPr/>
          <p:nvPr/>
        </p:nvSpPr>
        <p:spPr>
          <a:xfrm>
            <a:off x="685800" y="438912"/>
            <a:ext cx="71323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B7F89"/>
              </a:buClr>
              <a:buSzPts val="850"/>
              <a:buFont typeface="Arial"/>
              <a:buNone/>
            </a:pPr>
            <a:r>
              <a:rPr b="1" i="0" lang="en-US" sz="850" u="none" cap="none" strike="noStrike">
                <a:solidFill>
                  <a:srgbClr val="1B7F89"/>
                </a:solidFill>
                <a:latin typeface="Arial"/>
                <a:ea typeface="Arial"/>
                <a:cs typeface="Arial"/>
                <a:sym typeface="Arial"/>
              </a:rPr>
              <a:t>WHY THIS CLINICAL SCOPE</a:t>
            </a:r>
            <a:endParaRPr b="0" i="0" sz="8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1" name="Google Shape;51;p3"/>
          <p:cNvSpPr/>
          <p:nvPr/>
        </p:nvSpPr>
        <p:spPr>
          <a:xfrm>
            <a:off x="658368" y="713232"/>
            <a:ext cx="10607040" cy="53035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3000"/>
              <a:buFont typeface="Arial"/>
              <a:buNone/>
            </a:pPr>
            <a:r>
              <a:rPr b="1" i="0" lang="en-US" sz="30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Advanced heart failure makes the gap visible</a:t>
            </a:r>
            <a:endParaRPr b="0" i="0" sz="3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2" name="Google Shape;52;p3"/>
          <p:cNvCxnSpPr/>
          <p:nvPr/>
        </p:nvCxnSpPr>
        <p:spPr>
          <a:xfrm>
            <a:off x="685800" y="1389888"/>
            <a:ext cx="3200400" cy="0"/>
          </a:xfrm>
          <a:prstGeom prst="straightConnector1">
            <a:avLst/>
          </a:prstGeom>
          <a:noFill/>
          <a:ln cap="flat" cmpd="sng" w="27925">
            <a:solidFill>
              <a:srgbClr val="E8B14D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53" name="Google Shape;53;p3"/>
          <p:cNvCxnSpPr/>
          <p:nvPr/>
        </p:nvCxnSpPr>
        <p:spPr>
          <a:xfrm>
            <a:off x="594360" y="6473952"/>
            <a:ext cx="11000232" cy="0"/>
          </a:xfrm>
          <a:prstGeom prst="straightConnector1">
            <a:avLst/>
          </a:prstGeom>
          <a:noFill/>
          <a:ln cap="flat" cmpd="sng" w="9525">
            <a:solidFill>
              <a:srgbClr val="D8DFE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4" name="Google Shape;54;p3"/>
          <p:cNvSpPr/>
          <p:nvPr/>
        </p:nvSpPr>
        <p:spPr>
          <a:xfrm>
            <a:off x="658368" y="6556248"/>
            <a:ext cx="71323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767C"/>
              </a:buClr>
              <a:buSzPts val="750"/>
              <a:buFont typeface="Arial"/>
              <a:buNone/>
            </a:pPr>
            <a:r>
              <a:rPr b="0" i="0" lang="en-US" sz="750" u="none" cap="none" strike="noStrike">
                <a:solidFill>
                  <a:srgbClr val="6B767C"/>
                </a:solidFill>
                <a:latin typeface="Arial"/>
                <a:ea typeface="Arial"/>
                <a:cs typeface="Arial"/>
                <a:sym typeface="Arial"/>
              </a:rPr>
              <a:t>Advance Directive Ontology (ADO)  |  BMDS 210 / CS 270</a:t>
            </a:r>
            <a:endParaRPr b="0" i="0" sz="7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" name="Google Shape;55;p3"/>
          <p:cNvSpPr/>
          <p:nvPr/>
        </p:nvSpPr>
        <p:spPr>
          <a:xfrm>
            <a:off x="11201400" y="6556248"/>
            <a:ext cx="3657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B767C"/>
              </a:buClr>
              <a:buSzPts val="750"/>
              <a:buFont typeface="Arial"/>
              <a:buNone/>
            </a:pPr>
            <a:r>
              <a:rPr b="0" i="0" lang="en-US" sz="750" u="none" cap="none" strike="noStrike">
                <a:solidFill>
                  <a:srgbClr val="6B767C"/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  <a:endParaRPr b="0" i="0" sz="7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" name="Google Shape;56;p3"/>
          <p:cNvSpPr/>
          <p:nvPr/>
        </p:nvSpPr>
        <p:spPr>
          <a:xfrm>
            <a:off x="713232" y="1627632"/>
            <a:ext cx="10058400" cy="53035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9656F"/>
              </a:buClr>
              <a:buSzPts val="1700"/>
              <a:buFont typeface="Arial"/>
              <a:buNone/>
            </a:pPr>
            <a:r>
              <a:rPr b="0" i="0" lang="en-US" sz="1700" u="none" cap="none" strike="noStrike">
                <a:solidFill>
                  <a:srgbClr val="59656F"/>
                </a:solidFill>
                <a:latin typeface="Arial"/>
                <a:ea typeface="Arial"/>
                <a:cs typeface="Arial"/>
                <a:sym typeface="Arial"/>
              </a:rPr>
              <a:t>Heart failure is unpredictable, device-dependent, and frequently revisited in emergency/ICU settings—exactly where preference interpretation becomes time pressured.</a:t>
            </a:r>
            <a:endParaRPr b="0" i="0" sz="17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" name="Google Shape;57;p3"/>
          <p:cNvSpPr/>
          <p:nvPr/>
        </p:nvSpPr>
        <p:spPr>
          <a:xfrm>
            <a:off x="4617720" y="2697480"/>
            <a:ext cx="2926080" cy="713232"/>
          </a:xfrm>
          <a:prstGeom prst="rect">
            <a:avLst/>
          </a:prstGeom>
          <a:solidFill>
            <a:srgbClr val="11364A"/>
          </a:solidFill>
          <a:ln cap="flat" cmpd="sng" w="9525">
            <a:solidFill>
              <a:srgbClr val="11364A"/>
            </a:solidFill>
            <a:prstDash val="solid"/>
            <a:round/>
            <a:headEnd len="sm" w="sm" type="none"/>
            <a:tailEnd len="sm" w="sm" type="none"/>
          </a:ln>
          <a:effectLst>
            <a:outerShdw blurRad="25400" rotWithShape="0" algn="bl" dir="2700000" dist="12700">
              <a:srgbClr val="000000">
                <a:alpha val="14901"/>
              </a:srgbClr>
            </a:outerShdw>
          </a:effectLst>
        </p:spPr>
        <p:txBody>
          <a:bodyPr anchorCtr="0" anchor="ctr" bIns="625" lIns="625" spcFirstLastPara="1" rIns="625" wrap="square" tIns="62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800"/>
              <a:buFont typeface="Arial"/>
              <a:buNone/>
            </a:pPr>
            <a:r>
              <a:rPr b="1" i="0" lang="en-US" sz="2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Advanced HF</a:t>
            </a:r>
            <a:endParaRPr b="0" i="0" sz="2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8" name="Google Shape;58;p3"/>
          <p:cNvSpPr/>
          <p:nvPr/>
        </p:nvSpPr>
        <p:spPr>
          <a:xfrm>
            <a:off x="868680" y="2542032"/>
            <a:ext cx="1783080" cy="749808"/>
          </a:xfrm>
          <a:prstGeom prst="rect">
            <a:avLst/>
          </a:prstGeom>
          <a:solidFill>
            <a:srgbClr val="FFFFFF"/>
          </a:solidFill>
          <a:ln cap="flat" cmpd="sng" w="15225">
            <a:solidFill>
              <a:srgbClr val="1B7F89"/>
            </a:solidFill>
            <a:prstDash val="solid"/>
            <a:round/>
            <a:headEnd len="sm" w="sm" type="none"/>
            <a:tailEnd len="sm" w="sm" type="none"/>
          </a:ln>
          <a:effectLst>
            <a:outerShdw blurRad="25400" rotWithShape="0" algn="bl" dir="2700000" dist="12700">
              <a:srgbClr val="000000">
                <a:alpha val="7843"/>
              </a:srgbClr>
            </a:outerShdw>
          </a:effectLst>
        </p:spPr>
        <p:txBody>
          <a:bodyPr anchorCtr="0" anchor="ctr" bIns="1500" lIns="1500" spcFirstLastPara="1" rIns="1500" wrap="square" tIns="15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CPR /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resuscitation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9" name="Google Shape;59;p3"/>
          <p:cNvSpPr/>
          <p:nvPr/>
        </p:nvSpPr>
        <p:spPr>
          <a:xfrm>
            <a:off x="2560320" y="4572000"/>
            <a:ext cx="1783080" cy="749808"/>
          </a:xfrm>
          <a:prstGeom prst="rect">
            <a:avLst/>
          </a:prstGeom>
          <a:solidFill>
            <a:srgbClr val="FFFFFF"/>
          </a:solidFill>
          <a:ln cap="flat" cmpd="sng" w="15225">
            <a:solidFill>
              <a:srgbClr val="E8B14D"/>
            </a:solidFill>
            <a:prstDash val="solid"/>
            <a:round/>
            <a:headEnd len="sm" w="sm" type="none"/>
            <a:tailEnd len="sm" w="sm" type="none"/>
          </a:ln>
          <a:effectLst>
            <a:outerShdw blurRad="25400" rotWithShape="0" algn="bl" dir="2700000" dist="12700">
              <a:srgbClr val="000000">
                <a:alpha val="7843"/>
              </a:srgbClr>
            </a:outerShdw>
          </a:effectLst>
        </p:spPr>
        <p:txBody>
          <a:bodyPr anchorCtr="0" anchor="ctr" bIns="1500" lIns="1500" spcFirstLastPara="1" rIns="1500" wrap="square" tIns="15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Mechanical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ventilation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" name="Google Shape;60;p3"/>
          <p:cNvSpPr/>
          <p:nvPr/>
        </p:nvSpPr>
        <p:spPr>
          <a:xfrm>
            <a:off x="4983480" y="5285232"/>
            <a:ext cx="1783080" cy="749808"/>
          </a:xfrm>
          <a:prstGeom prst="rect">
            <a:avLst/>
          </a:prstGeom>
          <a:solidFill>
            <a:srgbClr val="FFFFFF"/>
          </a:solidFill>
          <a:ln cap="flat" cmpd="sng" w="15225">
            <a:solidFill>
              <a:srgbClr val="D76F5D"/>
            </a:solidFill>
            <a:prstDash val="solid"/>
            <a:round/>
            <a:headEnd len="sm" w="sm" type="none"/>
            <a:tailEnd len="sm" w="sm" type="none"/>
          </a:ln>
          <a:effectLst>
            <a:outerShdw blurRad="25400" rotWithShape="0" algn="bl" dir="2700000" dist="12700">
              <a:srgbClr val="000000">
                <a:alpha val="7843"/>
              </a:srgbClr>
            </a:outerShdw>
          </a:effectLst>
        </p:spPr>
        <p:txBody>
          <a:bodyPr anchorCtr="0" anchor="ctr" bIns="1500" lIns="1500" spcFirstLastPara="1" rIns="1500" wrap="square" tIns="15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ICD + device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management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1" name="Google Shape;61;p3"/>
          <p:cNvSpPr/>
          <p:nvPr/>
        </p:nvSpPr>
        <p:spPr>
          <a:xfrm>
            <a:off x="7543800" y="4572000"/>
            <a:ext cx="1783080" cy="749808"/>
          </a:xfrm>
          <a:prstGeom prst="rect">
            <a:avLst/>
          </a:prstGeom>
          <a:solidFill>
            <a:srgbClr val="FFFFFF"/>
          </a:solidFill>
          <a:ln cap="flat" cmpd="sng" w="15225">
            <a:solidFill>
              <a:srgbClr val="68518A"/>
            </a:solidFill>
            <a:prstDash val="solid"/>
            <a:round/>
            <a:headEnd len="sm" w="sm" type="none"/>
            <a:tailEnd len="sm" w="sm" type="none"/>
          </a:ln>
          <a:effectLst>
            <a:outerShdw blurRad="25400" rotWithShape="0" algn="bl" dir="2700000" dist="12700">
              <a:srgbClr val="000000">
                <a:alpha val="7843"/>
              </a:srgbClr>
            </a:outerShdw>
          </a:effectLst>
        </p:spPr>
        <p:txBody>
          <a:bodyPr anchorCtr="0" anchor="ctr" bIns="1500" lIns="1500" spcFirstLastPara="1" rIns="1500" wrap="square" tIns="15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Vasopressor /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inotrope escalation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2" name="Google Shape;62;p3"/>
          <p:cNvSpPr/>
          <p:nvPr/>
        </p:nvSpPr>
        <p:spPr>
          <a:xfrm>
            <a:off x="9235440" y="2542032"/>
            <a:ext cx="1783080" cy="749808"/>
          </a:xfrm>
          <a:prstGeom prst="rect">
            <a:avLst/>
          </a:prstGeom>
          <a:solidFill>
            <a:srgbClr val="FFFFFF"/>
          </a:solidFill>
          <a:ln cap="flat" cmpd="sng" w="15225">
            <a:solidFill>
              <a:srgbClr val="38A6A5"/>
            </a:solidFill>
            <a:prstDash val="solid"/>
            <a:round/>
            <a:headEnd len="sm" w="sm" type="none"/>
            <a:tailEnd len="sm" w="sm" type="none"/>
          </a:ln>
          <a:effectLst>
            <a:outerShdw blurRad="25400" rotWithShape="0" algn="bl" dir="2700000" dist="12700">
              <a:srgbClr val="000000">
                <a:alpha val="7843"/>
              </a:srgbClr>
            </a:outerShdw>
          </a:effectLst>
        </p:spPr>
        <p:txBody>
          <a:bodyPr anchorCtr="0" anchor="ctr" bIns="1500" lIns="1500" spcFirstLastPara="1" rIns="1500" wrap="square" tIns="15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Dialysis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3" name="Google Shape;63;p3"/>
          <p:cNvSpPr/>
          <p:nvPr/>
        </p:nvSpPr>
        <p:spPr>
          <a:xfrm>
            <a:off x="868680" y="6144768"/>
            <a:ext cx="103327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9656F"/>
              </a:buClr>
              <a:buSzPts val="1080"/>
              <a:buFont typeface="Arial"/>
              <a:buNone/>
            </a:pPr>
            <a:r>
              <a:rPr b="0" i="0" lang="en-US" sz="1080" u="none" cap="none" strike="noStrike">
                <a:solidFill>
                  <a:srgbClr val="59656F"/>
                </a:solidFill>
                <a:latin typeface="Arial"/>
                <a:ea typeface="Arial"/>
                <a:cs typeface="Arial"/>
                <a:sym typeface="Arial"/>
              </a:rPr>
              <a:t>Generic AD templates rarely mention ICD deactivation, LVAD/device decisions, or inotrope escalation.</a:t>
            </a:r>
            <a:endParaRPr b="0" i="0" sz="108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BF7EF"/>
        </a:solidFill>
      </p:bgPr>
    </p:bg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4"/>
          <p:cNvSpPr/>
          <p:nvPr/>
        </p:nvSpPr>
        <p:spPr>
          <a:xfrm>
            <a:off x="685800" y="438912"/>
            <a:ext cx="71323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B7F89"/>
              </a:buClr>
              <a:buSzPts val="850"/>
              <a:buFont typeface="Arial"/>
              <a:buNone/>
            </a:pPr>
            <a:r>
              <a:rPr b="1" i="0" lang="en-US" sz="850" u="none" cap="none" strike="noStrike">
                <a:solidFill>
                  <a:srgbClr val="1B7F89"/>
                </a:solidFill>
                <a:latin typeface="Arial"/>
                <a:ea typeface="Arial"/>
                <a:cs typeface="Arial"/>
                <a:sym typeface="Arial"/>
              </a:rPr>
              <a:t>APPROACH</a:t>
            </a:r>
            <a:endParaRPr b="0" i="0" sz="8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" name="Google Shape;70;p4"/>
          <p:cNvSpPr/>
          <p:nvPr/>
        </p:nvSpPr>
        <p:spPr>
          <a:xfrm>
            <a:off x="658368" y="713232"/>
            <a:ext cx="10607040" cy="53035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3000"/>
              <a:buFont typeface="Arial"/>
              <a:buNone/>
            </a:pPr>
            <a:r>
              <a:rPr b="1" i="0" lang="en-US" sz="30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Core idea: turn patient language into computable preference objects</a:t>
            </a:r>
            <a:endParaRPr b="0" i="0" sz="3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71" name="Google Shape;71;p4"/>
          <p:cNvCxnSpPr/>
          <p:nvPr/>
        </p:nvCxnSpPr>
        <p:spPr>
          <a:xfrm>
            <a:off x="685800" y="1389888"/>
            <a:ext cx="3200400" cy="0"/>
          </a:xfrm>
          <a:prstGeom prst="straightConnector1">
            <a:avLst/>
          </a:prstGeom>
          <a:noFill/>
          <a:ln cap="flat" cmpd="sng" w="27925">
            <a:solidFill>
              <a:srgbClr val="E8B14D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72" name="Google Shape;72;p4"/>
          <p:cNvCxnSpPr/>
          <p:nvPr/>
        </p:nvCxnSpPr>
        <p:spPr>
          <a:xfrm>
            <a:off x="594360" y="6473952"/>
            <a:ext cx="11000232" cy="0"/>
          </a:xfrm>
          <a:prstGeom prst="straightConnector1">
            <a:avLst/>
          </a:prstGeom>
          <a:noFill/>
          <a:ln cap="flat" cmpd="sng" w="9525">
            <a:solidFill>
              <a:srgbClr val="D8DFE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73" name="Google Shape;73;p4"/>
          <p:cNvSpPr/>
          <p:nvPr/>
        </p:nvSpPr>
        <p:spPr>
          <a:xfrm>
            <a:off x="658368" y="6556248"/>
            <a:ext cx="71323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767C"/>
              </a:buClr>
              <a:buSzPts val="750"/>
              <a:buFont typeface="Arial"/>
              <a:buNone/>
            </a:pPr>
            <a:r>
              <a:rPr b="0" i="0" lang="en-US" sz="750" u="none" cap="none" strike="noStrike">
                <a:solidFill>
                  <a:srgbClr val="6B767C"/>
                </a:solidFill>
                <a:latin typeface="Arial"/>
                <a:ea typeface="Arial"/>
                <a:cs typeface="Arial"/>
                <a:sym typeface="Arial"/>
              </a:rPr>
              <a:t>Advance Directive Ontology (ADO)  |  BMDS 210 / CS 270</a:t>
            </a:r>
            <a:endParaRPr b="0" i="0" sz="7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4" name="Google Shape;74;p4"/>
          <p:cNvSpPr/>
          <p:nvPr/>
        </p:nvSpPr>
        <p:spPr>
          <a:xfrm>
            <a:off x="11201400" y="6556248"/>
            <a:ext cx="3657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B767C"/>
              </a:buClr>
              <a:buSzPts val="750"/>
              <a:buFont typeface="Arial"/>
              <a:buNone/>
            </a:pPr>
            <a:r>
              <a:rPr b="0" i="0" lang="en-US" sz="750" u="none" cap="none" strike="noStrike">
                <a:solidFill>
                  <a:srgbClr val="6B767C"/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  <a:endParaRPr b="0" i="0" sz="7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5" name="Google Shape;75;p4"/>
          <p:cNvSpPr/>
          <p:nvPr/>
        </p:nvSpPr>
        <p:spPr>
          <a:xfrm>
            <a:off x="713232" y="1609344"/>
            <a:ext cx="100584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9656F"/>
              </a:buClr>
              <a:buSzPts val="1700"/>
              <a:buFont typeface="Arial"/>
              <a:buNone/>
            </a:pPr>
            <a:r>
              <a:rPr b="0" i="0" lang="en-US" sz="1700" u="none" cap="none" strike="noStrike">
                <a:solidFill>
                  <a:srgbClr val="59656F"/>
                </a:solidFill>
                <a:latin typeface="Arial"/>
                <a:ea typeface="Arial"/>
                <a:cs typeface="Arial"/>
                <a:sym typeface="Arial"/>
              </a:rPr>
              <a:t>ADO preserves the original text, but gives a reasoner the structured facts it needs to decide whether a preference actually applies.</a:t>
            </a:r>
            <a:endParaRPr b="0" i="0" sz="17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6" name="Google Shape;76;p4"/>
          <p:cNvSpPr/>
          <p:nvPr/>
        </p:nvSpPr>
        <p:spPr>
          <a:xfrm>
            <a:off x="822960" y="2788920"/>
            <a:ext cx="3108960" cy="1005840"/>
          </a:xfrm>
          <a:prstGeom prst="rect">
            <a:avLst/>
          </a:prstGeom>
          <a:solidFill>
            <a:srgbClr val="FFF9EA"/>
          </a:solidFill>
          <a:ln cap="flat" cmpd="sng" w="15225">
            <a:solidFill>
              <a:srgbClr val="E8B14D"/>
            </a:solidFill>
            <a:prstDash val="solid"/>
            <a:round/>
            <a:headEnd len="sm" w="sm" type="none"/>
            <a:tailEnd len="sm" w="sm" type="none"/>
          </a:ln>
          <a:effectLst>
            <a:outerShdw blurRad="25400" rotWithShape="0" algn="bl" dir="2700000" dist="12700">
              <a:srgbClr val="000000">
                <a:alpha val="7843"/>
              </a:srgbClr>
            </a:outerShdw>
          </a:effectLst>
        </p:spPr>
        <p:txBody>
          <a:bodyPr anchorCtr="0" anchor="ctr" bIns="1500" lIns="1500" spcFirstLastPara="1" rIns="1500" wrap="square" tIns="15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“Do not continue vasopressors</a:t>
            </a:r>
            <a:endParaRPr b="0" i="0" sz="15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if there is no improvement after 72 hours.”</a:t>
            </a:r>
            <a:endParaRPr b="0" i="0" sz="15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7" name="Google Shape;77;p4"/>
          <p:cNvSpPr/>
          <p:nvPr/>
        </p:nvSpPr>
        <p:spPr>
          <a:xfrm>
            <a:off x="4754880" y="2542032"/>
            <a:ext cx="2377440" cy="640080"/>
          </a:xfrm>
          <a:prstGeom prst="rect">
            <a:avLst/>
          </a:prstGeom>
          <a:solidFill>
            <a:srgbClr val="11364A"/>
          </a:solidFill>
          <a:ln cap="flat" cmpd="sng" w="15225">
            <a:solidFill>
              <a:srgbClr val="11364A"/>
            </a:solidFill>
            <a:prstDash val="solid"/>
            <a:round/>
            <a:headEnd len="sm" w="sm" type="none"/>
            <a:tailEnd len="sm" w="sm" type="none"/>
          </a:ln>
          <a:effectLst>
            <a:outerShdw blurRad="25400" rotWithShape="0" algn="bl" dir="2700000" dist="12700">
              <a:srgbClr val="000000">
                <a:alpha val="7843"/>
              </a:srgbClr>
            </a:outerShdw>
          </a:effectLst>
        </p:spPr>
        <p:txBody>
          <a:bodyPr anchorCtr="0" anchor="ctr" bIns="1500" lIns="1500" spcFirstLastPara="1" rIns="1500" wrap="square" tIns="15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700"/>
              <a:buFont typeface="Arial"/>
              <a:buNone/>
            </a:pPr>
            <a:r>
              <a:rPr b="1" i="0" lang="en-US" sz="17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PreferenceStatement</a:t>
            </a:r>
            <a:endParaRPr b="0" i="0" sz="17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8" name="Google Shape;78;p4"/>
          <p:cNvSpPr/>
          <p:nvPr/>
        </p:nvSpPr>
        <p:spPr>
          <a:xfrm>
            <a:off x="7635240" y="2395728"/>
            <a:ext cx="1463040" cy="438912"/>
          </a:xfrm>
          <a:prstGeom prst="rect">
            <a:avLst/>
          </a:prstGeom>
          <a:solidFill>
            <a:srgbClr val="FFFFFF"/>
          </a:solidFill>
          <a:ln cap="flat" cmpd="sng" w="15225">
            <a:solidFill>
              <a:srgbClr val="1B7F89"/>
            </a:solidFill>
            <a:prstDash val="solid"/>
            <a:round/>
            <a:headEnd len="sm" w="sm" type="none"/>
            <a:tailEnd len="sm" w="sm" type="none"/>
          </a:ln>
          <a:effectLst>
            <a:outerShdw blurRad="25400" rotWithShape="0" algn="bl" dir="2700000" dist="12700">
              <a:srgbClr val="000000">
                <a:alpha val="7843"/>
              </a:srgbClr>
            </a:outerShdw>
          </a:effectLst>
        </p:spPr>
        <p:txBody>
          <a:bodyPr anchorCtr="0" anchor="ctr" bIns="1500" lIns="1500" spcFirstLastPara="1" rIns="1500" wrap="square" tIns="15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Intervention</a:t>
            </a:r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9" name="Google Shape;79;p4"/>
          <p:cNvSpPr/>
          <p:nvPr/>
        </p:nvSpPr>
        <p:spPr>
          <a:xfrm>
            <a:off x="9235440" y="2395728"/>
            <a:ext cx="2057400" cy="438912"/>
          </a:xfrm>
          <a:prstGeom prst="rect">
            <a:avLst/>
          </a:prstGeom>
          <a:solidFill>
            <a:srgbClr val="F8FAFA"/>
          </a:solidFill>
          <a:ln cap="flat" cmpd="sng" w="15225">
            <a:solidFill>
              <a:srgbClr val="CBD8DC"/>
            </a:solidFill>
            <a:prstDash val="solid"/>
            <a:round/>
            <a:headEnd len="sm" w="sm" type="none"/>
            <a:tailEnd len="sm" w="sm" type="none"/>
          </a:ln>
          <a:effectLst>
            <a:outerShdw blurRad="25400" rotWithShape="0" algn="bl" dir="2700000" dist="12700">
              <a:srgbClr val="000000">
                <a:alpha val="7843"/>
              </a:srgbClr>
            </a:outerShdw>
          </a:effectLst>
        </p:spPr>
        <p:txBody>
          <a:bodyPr anchorCtr="0" anchor="ctr" bIns="1500" lIns="1500" spcFirstLastPara="1" rIns="1500" wrap="square" tIns="15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9656F"/>
              </a:buClr>
              <a:buSzPts val="1100"/>
              <a:buFont typeface="Arial"/>
              <a:buNone/>
            </a:pPr>
            <a:r>
              <a:rPr b="0" i="0" lang="en-US" sz="1100" u="none" cap="none" strike="noStrike">
                <a:solidFill>
                  <a:srgbClr val="59656F"/>
                </a:solidFill>
                <a:latin typeface="Arial"/>
                <a:ea typeface="Arial"/>
                <a:cs typeface="Arial"/>
                <a:sym typeface="Arial"/>
              </a:rPr>
              <a:t>vasopressor withdrawal</a:t>
            </a:r>
            <a:endParaRPr b="0" i="0" sz="11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0" name="Google Shape;80;p4"/>
          <p:cNvSpPr/>
          <p:nvPr/>
        </p:nvSpPr>
        <p:spPr>
          <a:xfrm>
            <a:off x="7635240" y="3127248"/>
            <a:ext cx="1463040" cy="438912"/>
          </a:xfrm>
          <a:prstGeom prst="rect">
            <a:avLst/>
          </a:prstGeom>
          <a:solidFill>
            <a:srgbClr val="FFFFFF"/>
          </a:solidFill>
          <a:ln cap="flat" cmpd="sng" w="15225">
            <a:solidFill>
              <a:srgbClr val="E8B14D"/>
            </a:solidFill>
            <a:prstDash val="solid"/>
            <a:round/>
            <a:headEnd len="sm" w="sm" type="none"/>
            <a:tailEnd len="sm" w="sm" type="none"/>
          </a:ln>
          <a:effectLst>
            <a:outerShdw blurRad="25400" rotWithShape="0" algn="bl" dir="2700000" dist="12700">
              <a:srgbClr val="000000">
                <a:alpha val="7843"/>
              </a:srgbClr>
            </a:outerShdw>
          </a:effectLst>
        </p:spPr>
        <p:txBody>
          <a:bodyPr anchorCtr="0" anchor="ctr" bIns="1500" lIns="1500" spcFirstLastPara="1" rIns="1500" wrap="square" tIns="15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ActivationCondition</a:t>
            </a:r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1" name="Google Shape;81;p4"/>
          <p:cNvSpPr/>
          <p:nvPr/>
        </p:nvSpPr>
        <p:spPr>
          <a:xfrm>
            <a:off x="9235440" y="3127248"/>
            <a:ext cx="2057400" cy="438912"/>
          </a:xfrm>
          <a:prstGeom prst="rect">
            <a:avLst/>
          </a:prstGeom>
          <a:solidFill>
            <a:srgbClr val="F8FAFA"/>
          </a:solidFill>
          <a:ln cap="flat" cmpd="sng" w="15225">
            <a:solidFill>
              <a:srgbClr val="CBD8DC"/>
            </a:solidFill>
            <a:prstDash val="solid"/>
            <a:round/>
            <a:headEnd len="sm" w="sm" type="none"/>
            <a:tailEnd len="sm" w="sm" type="none"/>
          </a:ln>
          <a:effectLst>
            <a:outerShdw blurRad="25400" rotWithShape="0" algn="bl" dir="2700000" dist="12700">
              <a:srgbClr val="000000">
                <a:alpha val="7843"/>
              </a:srgbClr>
            </a:outerShdw>
          </a:effectLst>
        </p:spPr>
        <p:txBody>
          <a:bodyPr anchorCtr="0" anchor="ctr" bIns="1500" lIns="1500" spcFirstLastPara="1" rIns="1500" wrap="square" tIns="15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9656F"/>
              </a:buClr>
              <a:buSzPts val="1100"/>
              <a:buFont typeface="Arial"/>
              <a:buNone/>
            </a:pPr>
            <a:r>
              <a:rPr b="0" i="0" lang="en-US" sz="1100" u="none" cap="none" strike="noStrike">
                <a:solidFill>
                  <a:srgbClr val="59656F"/>
                </a:solidFill>
                <a:latin typeface="Arial"/>
                <a:ea typeface="Arial"/>
                <a:cs typeface="Arial"/>
                <a:sym typeface="Arial"/>
              </a:rPr>
              <a:t>no improvement; 72h</a:t>
            </a:r>
            <a:endParaRPr b="0" i="0" sz="11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2" name="Google Shape;82;p4"/>
          <p:cNvSpPr/>
          <p:nvPr/>
        </p:nvSpPr>
        <p:spPr>
          <a:xfrm>
            <a:off x="7635240" y="3858768"/>
            <a:ext cx="1463040" cy="438912"/>
          </a:xfrm>
          <a:prstGeom prst="rect">
            <a:avLst/>
          </a:prstGeom>
          <a:solidFill>
            <a:srgbClr val="FFFFFF"/>
          </a:solidFill>
          <a:ln cap="flat" cmpd="sng" w="15225">
            <a:solidFill>
              <a:srgbClr val="68518A"/>
            </a:solidFill>
            <a:prstDash val="solid"/>
            <a:round/>
            <a:headEnd len="sm" w="sm" type="none"/>
            <a:tailEnd len="sm" w="sm" type="none"/>
          </a:ln>
          <a:effectLst>
            <a:outerShdw blurRad="25400" rotWithShape="0" algn="bl" dir="2700000" dist="12700">
              <a:srgbClr val="000000">
                <a:alpha val="7843"/>
              </a:srgbClr>
            </a:outerShdw>
          </a:effectLst>
        </p:spPr>
        <p:txBody>
          <a:bodyPr anchorCtr="0" anchor="ctr" bIns="1500" lIns="1500" spcFirstLastPara="1" rIns="1500" wrap="square" tIns="15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Strength</a:t>
            </a:r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" name="Google Shape;83;p4"/>
          <p:cNvSpPr/>
          <p:nvPr/>
        </p:nvSpPr>
        <p:spPr>
          <a:xfrm>
            <a:off x="9235440" y="3858768"/>
            <a:ext cx="2057400" cy="438912"/>
          </a:xfrm>
          <a:prstGeom prst="rect">
            <a:avLst/>
          </a:prstGeom>
          <a:solidFill>
            <a:srgbClr val="F8FAFA"/>
          </a:solidFill>
          <a:ln cap="flat" cmpd="sng" w="15225">
            <a:solidFill>
              <a:srgbClr val="CBD8DC"/>
            </a:solidFill>
            <a:prstDash val="solid"/>
            <a:round/>
            <a:headEnd len="sm" w="sm" type="none"/>
            <a:tailEnd len="sm" w="sm" type="none"/>
          </a:ln>
          <a:effectLst>
            <a:outerShdw blurRad="25400" rotWithShape="0" algn="bl" dir="2700000" dist="12700">
              <a:srgbClr val="000000">
                <a:alpha val="7843"/>
              </a:srgbClr>
            </a:outerShdw>
          </a:effectLst>
        </p:spPr>
        <p:txBody>
          <a:bodyPr anchorCtr="0" anchor="ctr" bIns="1500" lIns="1500" spcFirstLastPara="1" rIns="1500" wrap="square" tIns="15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9656F"/>
              </a:buClr>
              <a:buSzPts val="1100"/>
              <a:buFont typeface="Arial"/>
              <a:buNone/>
            </a:pPr>
            <a:r>
              <a:rPr b="0" i="0" lang="en-US" sz="1100" u="none" cap="none" strike="noStrike">
                <a:solidFill>
                  <a:srgbClr val="59656F"/>
                </a:solidFill>
                <a:latin typeface="Arial"/>
                <a:ea typeface="Arial"/>
                <a:cs typeface="Arial"/>
                <a:sym typeface="Arial"/>
              </a:rPr>
              <a:t>strong / conditional</a:t>
            </a:r>
            <a:endParaRPr b="0" i="0" sz="11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" name="Google Shape;84;p4"/>
          <p:cNvSpPr/>
          <p:nvPr/>
        </p:nvSpPr>
        <p:spPr>
          <a:xfrm>
            <a:off x="7635240" y="4590288"/>
            <a:ext cx="1463040" cy="438912"/>
          </a:xfrm>
          <a:prstGeom prst="rect">
            <a:avLst/>
          </a:prstGeom>
          <a:solidFill>
            <a:srgbClr val="FFFFFF"/>
          </a:solidFill>
          <a:ln cap="flat" cmpd="sng" w="15225">
            <a:solidFill>
              <a:srgbClr val="D76F5D"/>
            </a:solidFill>
            <a:prstDash val="solid"/>
            <a:round/>
            <a:headEnd len="sm" w="sm" type="none"/>
            <a:tailEnd len="sm" w="sm" type="none"/>
          </a:ln>
          <a:effectLst>
            <a:outerShdw blurRad="25400" rotWithShape="0" algn="bl" dir="2700000" dist="12700">
              <a:srgbClr val="000000">
                <a:alpha val="7843"/>
              </a:srgbClr>
            </a:outerShdw>
          </a:effectLst>
        </p:spPr>
        <p:txBody>
          <a:bodyPr anchorCtr="0" anchor="ctr" bIns="1500" lIns="1500" spcFirstLastPara="1" rIns="1500" wrap="square" tIns="15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Negated?</a:t>
            </a:r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" name="Google Shape;85;p4"/>
          <p:cNvSpPr/>
          <p:nvPr/>
        </p:nvSpPr>
        <p:spPr>
          <a:xfrm>
            <a:off x="9235440" y="4590288"/>
            <a:ext cx="2057400" cy="438912"/>
          </a:xfrm>
          <a:prstGeom prst="rect">
            <a:avLst/>
          </a:prstGeom>
          <a:solidFill>
            <a:srgbClr val="F8FAFA"/>
          </a:solidFill>
          <a:ln cap="flat" cmpd="sng" w="15225">
            <a:solidFill>
              <a:srgbClr val="CBD8DC"/>
            </a:solidFill>
            <a:prstDash val="solid"/>
            <a:round/>
            <a:headEnd len="sm" w="sm" type="none"/>
            <a:tailEnd len="sm" w="sm" type="none"/>
          </a:ln>
          <a:effectLst>
            <a:outerShdw blurRad="25400" rotWithShape="0" algn="bl" dir="2700000" dist="12700">
              <a:srgbClr val="000000">
                <a:alpha val="7843"/>
              </a:srgbClr>
            </a:outerShdw>
          </a:effectLst>
        </p:spPr>
        <p:txBody>
          <a:bodyPr anchorCtr="0" anchor="ctr" bIns="1500" lIns="1500" spcFirstLastPara="1" rIns="1500" wrap="square" tIns="15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9656F"/>
              </a:buClr>
              <a:buSzPts val="1100"/>
              <a:buFont typeface="Arial"/>
              <a:buNone/>
            </a:pPr>
            <a:r>
              <a:rPr b="0" i="0" lang="en-US" sz="1100" u="none" cap="none" strike="noStrike">
                <a:solidFill>
                  <a:srgbClr val="59656F"/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  <a:endParaRPr b="0" i="0" sz="11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" name="Google Shape;86;p4"/>
          <p:cNvSpPr/>
          <p:nvPr/>
        </p:nvSpPr>
        <p:spPr>
          <a:xfrm>
            <a:off x="7635240" y="5321808"/>
            <a:ext cx="1463040" cy="438912"/>
          </a:xfrm>
          <a:prstGeom prst="rect">
            <a:avLst/>
          </a:prstGeom>
          <a:solidFill>
            <a:srgbClr val="FFFFFF"/>
          </a:solidFill>
          <a:ln cap="flat" cmpd="sng" w="15225">
            <a:solidFill>
              <a:srgbClr val="38A6A5"/>
            </a:solidFill>
            <a:prstDash val="solid"/>
            <a:round/>
            <a:headEnd len="sm" w="sm" type="none"/>
            <a:tailEnd len="sm" w="sm" type="none"/>
          </a:ln>
          <a:effectLst>
            <a:outerShdw blurRad="25400" rotWithShape="0" algn="bl" dir="2700000" dist="12700">
              <a:srgbClr val="000000">
                <a:alpha val="7843"/>
              </a:srgbClr>
            </a:outerShdw>
          </a:effectLst>
        </p:spPr>
        <p:txBody>
          <a:bodyPr anchorCtr="0" anchor="ctr" bIns="1500" lIns="1500" spcFirstLastPara="1" rIns="1500" wrap="square" tIns="15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OriginalText</a:t>
            </a:r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" name="Google Shape;87;p4"/>
          <p:cNvSpPr/>
          <p:nvPr/>
        </p:nvSpPr>
        <p:spPr>
          <a:xfrm>
            <a:off x="9235440" y="5321808"/>
            <a:ext cx="2057400" cy="438912"/>
          </a:xfrm>
          <a:prstGeom prst="rect">
            <a:avLst/>
          </a:prstGeom>
          <a:solidFill>
            <a:srgbClr val="F8FAFA"/>
          </a:solidFill>
          <a:ln cap="flat" cmpd="sng" w="15225">
            <a:solidFill>
              <a:srgbClr val="CBD8DC"/>
            </a:solidFill>
            <a:prstDash val="solid"/>
            <a:round/>
            <a:headEnd len="sm" w="sm" type="none"/>
            <a:tailEnd len="sm" w="sm" type="none"/>
          </a:ln>
          <a:effectLst>
            <a:outerShdw blurRad="25400" rotWithShape="0" algn="bl" dir="2700000" dist="12700">
              <a:srgbClr val="000000">
                <a:alpha val="7843"/>
              </a:srgbClr>
            </a:outerShdw>
          </a:effectLst>
        </p:spPr>
        <p:txBody>
          <a:bodyPr anchorCtr="0" anchor="ctr" bIns="1500" lIns="1500" spcFirstLastPara="1" rIns="1500" wrap="square" tIns="15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9656F"/>
              </a:buClr>
              <a:buSzPts val="1100"/>
              <a:buFont typeface="Arial"/>
              <a:buNone/>
            </a:pPr>
            <a:r>
              <a:rPr b="0" i="0" lang="en-US" sz="1100" u="none" cap="none" strike="noStrike">
                <a:solidFill>
                  <a:srgbClr val="59656F"/>
                </a:solidFill>
                <a:latin typeface="Arial"/>
                <a:ea typeface="Arial"/>
                <a:cs typeface="Arial"/>
                <a:sym typeface="Arial"/>
              </a:rPr>
              <a:t>verbatim quote</a:t>
            </a:r>
            <a:endParaRPr b="0" i="0" sz="11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8" name="Google Shape;88;p4"/>
          <p:cNvSpPr/>
          <p:nvPr/>
        </p:nvSpPr>
        <p:spPr>
          <a:xfrm>
            <a:off x="960120" y="4645152"/>
            <a:ext cx="25603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Why preserve original language?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9" name="Google Shape;89;p4"/>
          <p:cNvSpPr/>
          <p:nvPr/>
        </p:nvSpPr>
        <p:spPr>
          <a:xfrm>
            <a:off x="960120" y="5010912"/>
            <a:ext cx="502920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9656F"/>
              </a:buClr>
              <a:buSzPts val="1350"/>
              <a:buFont typeface="Arial"/>
              <a:buNone/>
            </a:pPr>
            <a:r>
              <a:rPr b="0" i="0" lang="en-US" sz="1350" u="none" cap="none" strike="noStrike">
                <a:solidFill>
                  <a:srgbClr val="59656F"/>
                </a:solidFill>
                <a:latin typeface="Arial"/>
                <a:ea typeface="Arial"/>
                <a:cs typeface="Arial"/>
                <a:sym typeface="Arial"/>
              </a:rPr>
              <a:t>It lets the system be auditable and lets clinicians see the patient’s words behind the inference.</a:t>
            </a:r>
            <a:endParaRPr b="0" i="0" sz="13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BF7EF"/>
        </a:solidFill>
      </p:bgPr>
    </p:bg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5"/>
          <p:cNvSpPr/>
          <p:nvPr/>
        </p:nvSpPr>
        <p:spPr>
          <a:xfrm>
            <a:off x="685800" y="438912"/>
            <a:ext cx="71323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B7F89"/>
              </a:buClr>
              <a:buSzPts val="850"/>
              <a:buFont typeface="Arial"/>
              <a:buNone/>
            </a:pPr>
            <a:r>
              <a:rPr b="1" i="0" lang="en-US" sz="850" u="none" cap="none" strike="noStrike">
                <a:solidFill>
                  <a:srgbClr val="1B7F89"/>
                </a:solidFill>
                <a:latin typeface="Arial"/>
                <a:ea typeface="Arial"/>
                <a:cs typeface="Arial"/>
                <a:sym typeface="Arial"/>
              </a:rPr>
              <a:t>ONTOLOGY SCOPE</a:t>
            </a:r>
            <a:endParaRPr b="0" i="0" sz="8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6" name="Google Shape;96;p5"/>
          <p:cNvSpPr/>
          <p:nvPr/>
        </p:nvSpPr>
        <p:spPr>
          <a:xfrm>
            <a:off x="658368" y="713232"/>
            <a:ext cx="10607040" cy="53035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3000"/>
              <a:buFont typeface="Arial"/>
              <a:buNone/>
            </a:pPr>
            <a:r>
              <a:rPr b="1" i="0" lang="en-US" sz="30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What ADO models</a:t>
            </a:r>
            <a:endParaRPr b="0" i="0" sz="3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97" name="Google Shape;97;p5"/>
          <p:cNvCxnSpPr/>
          <p:nvPr/>
        </p:nvCxnSpPr>
        <p:spPr>
          <a:xfrm>
            <a:off x="685800" y="1389888"/>
            <a:ext cx="3200400" cy="0"/>
          </a:xfrm>
          <a:prstGeom prst="straightConnector1">
            <a:avLst/>
          </a:prstGeom>
          <a:noFill/>
          <a:ln cap="flat" cmpd="sng" w="27925">
            <a:solidFill>
              <a:srgbClr val="E8B14D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98" name="Google Shape;98;p5"/>
          <p:cNvCxnSpPr/>
          <p:nvPr/>
        </p:nvCxnSpPr>
        <p:spPr>
          <a:xfrm>
            <a:off x="594360" y="6473952"/>
            <a:ext cx="11000232" cy="0"/>
          </a:xfrm>
          <a:prstGeom prst="straightConnector1">
            <a:avLst/>
          </a:prstGeom>
          <a:noFill/>
          <a:ln cap="flat" cmpd="sng" w="9525">
            <a:solidFill>
              <a:srgbClr val="D8DFE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99" name="Google Shape;99;p5"/>
          <p:cNvSpPr/>
          <p:nvPr/>
        </p:nvSpPr>
        <p:spPr>
          <a:xfrm>
            <a:off x="658368" y="6556248"/>
            <a:ext cx="71323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767C"/>
              </a:buClr>
              <a:buSzPts val="750"/>
              <a:buFont typeface="Arial"/>
              <a:buNone/>
            </a:pPr>
            <a:r>
              <a:rPr b="0" i="0" lang="en-US" sz="750" u="none" cap="none" strike="noStrike">
                <a:solidFill>
                  <a:srgbClr val="6B767C"/>
                </a:solidFill>
                <a:latin typeface="Arial"/>
                <a:ea typeface="Arial"/>
                <a:cs typeface="Arial"/>
                <a:sym typeface="Arial"/>
              </a:rPr>
              <a:t>Advance Directive Ontology (ADO)  |  BMDS 210 / CS 270</a:t>
            </a:r>
            <a:endParaRPr b="0" i="0" sz="7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0" name="Google Shape;100;p5"/>
          <p:cNvSpPr/>
          <p:nvPr/>
        </p:nvSpPr>
        <p:spPr>
          <a:xfrm>
            <a:off x="11201400" y="6556248"/>
            <a:ext cx="3657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B767C"/>
              </a:buClr>
              <a:buSzPts val="750"/>
              <a:buFont typeface="Arial"/>
              <a:buNone/>
            </a:pPr>
            <a:r>
              <a:rPr b="0" i="0" lang="en-US" sz="750" u="none" cap="none" strike="noStrike">
                <a:solidFill>
                  <a:srgbClr val="6B767C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7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1" name="Google Shape;101;p5"/>
          <p:cNvSpPr/>
          <p:nvPr/>
        </p:nvSpPr>
        <p:spPr>
          <a:xfrm>
            <a:off x="1005840" y="2011680"/>
            <a:ext cx="13716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B7F89"/>
              </a:buClr>
              <a:buSzPts val="2900"/>
              <a:buFont typeface="Arial"/>
              <a:buNone/>
            </a:pPr>
            <a:r>
              <a:rPr b="1" i="0" lang="en-US" sz="2900" u="none" cap="none" strike="noStrike">
                <a:solidFill>
                  <a:srgbClr val="1B7F89"/>
                </a:solidFill>
                <a:latin typeface="Arial"/>
                <a:ea typeface="Arial"/>
                <a:cs typeface="Arial"/>
                <a:sym typeface="Arial"/>
              </a:rPr>
              <a:t>67</a:t>
            </a:r>
            <a:endParaRPr b="0" i="0" sz="2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2" name="Google Shape;102;p5"/>
          <p:cNvSpPr/>
          <p:nvPr/>
        </p:nvSpPr>
        <p:spPr>
          <a:xfrm>
            <a:off x="1005840" y="2532888"/>
            <a:ext cx="137160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250" lIns="250" spcFirstLastPara="1" rIns="250" wrap="square" tIns="25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9656F"/>
              </a:buClr>
              <a:buSzPts val="1150"/>
              <a:buFont typeface="Arial"/>
              <a:buNone/>
            </a:pPr>
            <a:r>
              <a:rPr b="0" i="0" lang="en-US" sz="1150" u="none" cap="none" strike="noStrike">
                <a:solidFill>
                  <a:srgbClr val="59656F"/>
                </a:solidFill>
                <a:latin typeface="Arial"/>
                <a:ea typeface="Arial"/>
                <a:cs typeface="Arial"/>
                <a:sym typeface="Arial"/>
              </a:rPr>
              <a:t>classes</a:t>
            </a:r>
            <a:endParaRPr b="0" i="0" sz="11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3" name="Google Shape;103;p5"/>
          <p:cNvSpPr/>
          <p:nvPr/>
        </p:nvSpPr>
        <p:spPr>
          <a:xfrm>
            <a:off x="2560320" y="2011680"/>
            <a:ext cx="13716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E8B14D"/>
              </a:buClr>
              <a:buSzPts val="2900"/>
              <a:buFont typeface="Arial"/>
              <a:buNone/>
            </a:pPr>
            <a:r>
              <a:rPr b="1" i="0" lang="en-US" sz="2900" u="none" cap="none" strike="noStrike">
                <a:solidFill>
                  <a:srgbClr val="E8B14D"/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  <a:endParaRPr b="0" i="0" sz="2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4" name="Google Shape;104;p5"/>
          <p:cNvSpPr/>
          <p:nvPr/>
        </p:nvSpPr>
        <p:spPr>
          <a:xfrm>
            <a:off x="2560320" y="2532888"/>
            <a:ext cx="137160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250" lIns="250" spcFirstLastPara="1" rIns="250" wrap="square" tIns="25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9656F"/>
              </a:buClr>
              <a:buSzPts val="1150"/>
              <a:buFont typeface="Arial"/>
              <a:buNone/>
            </a:pPr>
            <a:r>
              <a:rPr b="0" i="0" lang="en-US" sz="1150" u="none" cap="none" strike="noStrike">
                <a:solidFill>
                  <a:srgbClr val="59656F"/>
                </a:solidFill>
                <a:latin typeface="Arial"/>
                <a:ea typeface="Arial"/>
                <a:cs typeface="Arial"/>
                <a:sym typeface="Arial"/>
              </a:rPr>
              <a:t>properties</a:t>
            </a:r>
            <a:endParaRPr b="0" i="0" sz="11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5" name="Google Shape;105;p5"/>
          <p:cNvSpPr/>
          <p:nvPr/>
        </p:nvSpPr>
        <p:spPr>
          <a:xfrm>
            <a:off x="4114800" y="2011680"/>
            <a:ext cx="201168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D76F5D"/>
              </a:buClr>
              <a:buSzPts val="2900"/>
              <a:buFont typeface="Arial"/>
              <a:buNone/>
            </a:pPr>
            <a:r>
              <a:rPr b="1" i="0" lang="en-US" sz="2900" u="none" cap="none" strike="noStrike">
                <a:solidFill>
                  <a:srgbClr val="D76F5D"/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  <a:endParaRPr b="0" i="0" sz="2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6" name="Google Shape;106;p5"/>
          <p:cNvSpPr/>
          <p:nvPr/>
        </p:nvSpPr>
        <p:spPr>
          <a:xfrm>
            <a:off x="4114800" y="2532888"/>
            <a:ext cx="201168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250" lIns="250" spcFirstLastPara="1" rIns="250" wrap="square" tIns="25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9656F"/>
              </a:buClr>
              <a:buSzPts val="1150"/>
              <a:buFont typeface="Arial"/>
              <a:buNone/>
            </a:pPr>
            <a:r>
              <a:rPr b="0" i="0" lang="en-US" sz="1150" u="none" cap="none" strike="noStrike">
                <a:solidFill>
                  <a:srgbClr val="59656F"/>
                </a:solidFill>
                <a:latin typeface="Arial"/>
                <a:ea typeface="Arial"/>
                <a:cs typeface="Arial"/>
                <a:sym typeface="Arial"/>
              </a:rPr>
              <a:t>intervention subclasses</a:t>
            </a:r>
            <a:endParaRPr b="0" i="0" sz="11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7" name="Google Shape;107;p5"/>
          <p:cNvSpPr/>
          <p:nvPr/>
        </p:nvSpPr>
        <p:spPr>
          <a:xfrm>
            <a:off x="6629400" y="1993392"/>
            <a:ext cx="4206240" cy="6583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9656F"/>
              </a:buClr>
              <a:buSzPts val="1700"/>
              <a:buFont typeface="Arial"/>
              <a:buNone/>
            </a:pPr>
            <a:r>
              <a:rPr b="0" i="0" lang="en-US" sz="1700" u="none" cap="none" strike="noStrike">
                <a:solidFill>
                  <a:srgbClr val="59656F"/>
                </a:solidFill>
                <a:latin typeface="Arial"/>
                <a:ea typeface="Arial"/>
                <a:cs typeface="Arial"/>
                <a:sym typeface="Arial"/>
              </a:rPr>
              <a:t>Five decision points are expanded into intervention subclasses at a clinically meaningful level of granularity.</a:t>
            </a:r>
            <a:endParaRPr b="0" i="0" sz="17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8" name="Google Shape;108;p5"/>
          <p:cNvSpPr/>
          <p:nvPr/>
        </p:nvSpPr>
        <p:spPr>
          <a:xfrm>
            <a:off x="914400" y="3291840"/>
            <a:ext cx="2286000" cy="329184"/>
          </a:xfrm>
          <a:prstGeom prst="rect">
            <a:avLst/>
          </a:prstGeom>
          <a:solidFill>
            <a:srgbClr val="E8F3F2"/>
          </a:solidFill>
          <a:ln cap="flat" cmpd="sng" w="9525">
            <a:solidFill>
              <a:srgbClr val="CFE6E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250" lIns="250" spcFirstLastPara="1" rIns="250" wrap="square" tIns="2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CPR / resuscitation</a:t>
            </a:r>
            <a:endParaRPr b="0" i="0" sz="13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9" name="Google Shape;109;p5"/>
          <p:cNvSpPr/>
          <p:nvPr/>
        </p:nvSpPr>
        <p:spPr>
          <a:xfrm>
            <a:off x="3337560" y="3291840"/>
            <a:ext cx="7040880" cy="329184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E2E8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250" lIns="250" spcFirstLastPara="1" rIns="250" wrap="square" tIns="25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9656F"/>
              </a:buClr>
              <a:buSzPts val="1300"/>
              <a:buFont typeface="Arial"/>
              <a:buNone/>
            </a:pPr>
            <a:r>
              <a:rPr b="0" i="0" lang="en-US" sz="1300" u="none" cap="none" strike="noStrike">
                <a:solidFill>
                  <a:srgbClr val="59656F"/>
                </a:solidFill>
                <a:latin typeface="Arial"/>
                <a:ea typeface="Arial"/>
                <a:cs typeface="Arial"/>
                <a:sym typeface="Arial"/>
              </a:rPr>
              <a:t>CPR • defibrillation • transcutaneous pacing</a:t>
            </a:r>
            <a:endParaRPr b="0" i="0" sz="13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0" name="Google Shape;110;p5"/>
          <p:cNvSpPr/>
          <p:nvPr/>
        </p:nvSpPr>
        <p:spPr>
          <a:xfrm>
            <a:off x="914400" y="3794760"/>
            <a:ext cx="2286000" cy="329184"/>
          </a:xfrm>
          <a:prstGeom prst="rect">
            <a:avLst/>
          </a:prstGeom>
          <a:solidFill>
            <a:srgbClr val="E8F3F2"/>
          </a:solidFill>
          <a:ln cap="flat" cmpd="sng" w="9525">
            <a:solidFill>
              <a:srgbClr val="CFE6E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250" lIns="250" spcFirstLastPara="1" rIns="250" wrap="square" tIns="2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Ventilation</a:t>
            </a:r>
            <a:endParaRPr b="0" i="0" sz="13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1" name="Google Shape;111;p5"/>
          <p:cNvSpPr/>
          <p:nvPr/>
        </p:nvSpPr>
        <p:spPr>
          <a:xfrm>
            <a:off x="3337560" y="3794760"/>
            <a:ext cx="7040880" cy="329184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E2E8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250" lIns="250" spcFirstLastPara="1" rIns="250" wrap="square" tIns="25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9656F"/>
              </a:buClr>
              <a:buSzPts val="1300"/>
              <a:buFont typeface="Arial"/>
              <a:buNone/>
            </a:pPr>
            <a:r>
              <a:rPr b="0" i="0" lang="en-US" sz="1300" u="none" cap="none" strike="noStrike">
                <a:solidFill>
                  <a:srgbClr val="59656F"/>
                </a:solidFill>
                <a:latin typeface="Arial"/>
                <a:ea typeface="Arial"/>
                <a:cs typeface="Arial"/>
                <a:sym typeface="Arial"/>
              </a:rPr>
              <a:t>temporary vs. indefinite • invasive vs. non-invasive • withdrawal</a:t>
            </a:r>
            <a:endParaRPr b="0" i="0" sz="13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2" name="Google Shape;112;p5"/>
          <p:cNvSpPr/>
          <p:nvPr/>
        </p:nvSpPr>
        <p:spPr>
          <a:xfrm>
            <a:off x="914400" y="4297680"/>
            <a:ext cx="2286000" cy="329184"/>
          </a:xfrm>
          <a:prstGeom prst="rect">
            <a:avLst/>
          </a:prstGeom>
          <a:solidFill>
            <a:srgbClr val="E8F3F2"/>
          </a:solidFill>
          <a:ln cap="flat" cmpd="sng" w="9525">
            <a:solidFill>
              <a:srgbClr val="CFE6E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250" lIns="250" spcFirstLastPara="1" rIns="250" wrap="square" tIns="2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Device management</a:t>
            </a:r>
            <a:endParaRPr b="0" i="0" sz="13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3" name="Google Shape;113;p5"/>
          <p:cNvSpPr/>
          <p:nvPr/>
        </p:nvSpPr>
        <p:spPr>
          <a:xfrm>
            <a:off x="3337560" y="4297680"/>
            <a:ext cx="7040880" cy="329184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E2E8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250" lIns="250" spcFirstLastPara="1" rIns="250" wrap="square" tIns="25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9656F"/>
              </a:buClr>
              <a:buSzPts val="1300"/>
              <a:buFont typeface="Arial"/>
              <a:buNone/>
            </a:pPr>
            <a:r>
              <a:rPr b="0" i="0" lang="en-US" sz="1300" u="none" cap="none" strike="noStrike">
                <a:solidFill>
                  <a:srgbClr val="59656F"/>
                </a:solidFill>
                <a:latin typeface="Arial"/>
                <a:ea typeface="Arial"/>
                <a:cs typeface="Arial"/>
                <a:sym typeface="Arial"/>
              </a:rPr>
              <a:t>ICD deactivation • shock therapy • LVAD • pacemaker</a:t>
            </a:r>
            <a:endParaRPr b="0" i="0" sz="13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4" name="Google Shape;114;p5"/>
          <p:cNvSpPr/>
          <p:nvPr/>
        </p:nvSpPr>
        <p:spPr>
          <a:xfrm>
            <a:off x="914400" y="4800600"/>
            <a:ext cx="2286000" cy="329184"/>
          </a:xfrm>
          <a:prstGeom prst="rect">
            <a:avLst/>
          </a:prstGeom>
          <a:solidFill>
            <a:srgbClr val="E8F3F2"/>
          </a:solidFill>
          <a:ln cap="flat" cmpd="sng" w="9525">
            <a:solidFill>
              <a:srgbClr val="CFE6E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250" lIns="250" spcFirstLastPara="1" rIns="250" wrap="square" tIns="2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Escalation</a:t>
            </a:r>
            <a:endParaRPr b="0" i="0" sz="13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5" name="Google Shape;115;p5"/>
          <p:cNvSpPr/>
          <p:nvPr/>
        </p:nvSpPr>
        <p:spPr>
          <a:xfrm>
            <a:off x="3337560" y="4800600"/>
            <a:ext cx="7040880" cy="329184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E2E8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250" lIns="250" spcFirstLastPara="1" rIns="250" wrap="square" tIns="25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9656F"/>
              </a:buClr>
              <a:buSzPts val="1300"/>
              <a:buFont typeface="Arial"/>
              <a:buNone/>
            </a:pPr>
            <a:r>
              <a:rPr b="0" i="0" lang="en-US" sz="1300" u="none" cap="none" strike="noStrike">
                <a:solidFill>
                  <a:srgbClr val="59656F"/>
                </a:solidFill>
                <a:latin typeface="Arial"/>
                <a:ea typeface="Arial"/>
                <a:cs typeface="Arial"/>
                <a:sym typeface="Arial"/>
              </a:rPr>
              <a:t>vasopressor/inotrope escalation and withdrawal</a:t>
            </a:r>
            <a:endParaRPr b="0" i="0" sz="13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6" name="Google Shape;116;p5"/>
          <p:cNvSpPr/>
          <p:nvPr/>
        </p:nvSpPr>
        <p:spPr>
          <a:xfrm>
            <a:off x="914400" y="5303520"/>
            <a:ext cx="2286000" cy="329184"/>
          </a:xfrm>
          <a:prstGeom prst="rect">
            <a:avLst/>
          </a:prstGeom>
          <a:solidFill>
            <a:srgbClr val="E8F3F2"/>
          </a:solidFill>
          <a:ln cap="flat" cmpd="sng" w="9525">
            <a:solidFill>
              <a:srgbClr val="CFE6E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250" lIns="250" spcFirstLastPara="1" rIns="250" wrap="square" tIns="2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Dialysis</a:t>
            </a:r>
            <a:endParaRPr b="0" i="0" sz="13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7" name="Google Shape;117;p5"/>
          <p:cNvSpPr/>
          <p:nvPr/>
        </p:nvSpPr>
        <p:spPr>
          <a:xfrm>
            <a:off x="3337560" y="5303520"/>
            <a:ext cx="7040880" cy="329184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E2E8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250" lIns="250" spcFirstLastPara="1" rIns="250" wrap="square" tIns="25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9656F"/>
              </a:buClr>
              <a:buSzPts val="1300"/>
              <a:buFont typeface="Arial"/>
              <a:buNone/>
            </a:pPr>
            <a:r>
              <a:rPr b="0" i="0" lang="en-US" sz="1300" u="none" cap="none" strike="noStrike">
                <a:solidFill>
                  <a:srgbClr val="59656F"/>
                </a:solidFill>
                <a:latin typeface="Arial"/>
                <a:ea typeface="Arial"/>
                <a:cs typeface="Arial"/>
                <a:sym typeface="Arial"/>
              </a:rPr>
              <a:t>acute • chronic • withdrawal</a:t>
            </a:r>
            <a:endParaRPr b="0" i="0" sz="13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8" name="Google Shape;118;p5"/>
          <p:cNvSpPr/>
          <p:nvPr/>
        </p:nvSpPr>
        <p:spPr>
          <a:xfrm>
            <a:off x="914400" y="5961888"/>
            <a:ext cx="89611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9656F"/>
              </a:buClr>
              <a:buSzPts val="1350"/>
              <a:buFont typeface="Arial"/>
              <a:buNone/>
            </a:pPr>
            <a:r>
              <a:rPr b="0" i="0" lang="en-US" sz="1350" u="none" cap="none" strike="noStrike">
                <a:solidFill>
                  <a:srgbClr val="59656F"/>
                </a:solidFill>
                <a:latin typeface="Arial"/>
                <a:ea typeface="Arial"/>
                <a:cs typeface="Arial"/>
                <a:sym typeface="Arial"/>
              </a:rPr>
              <a:t>Grounding: clinical concepts are mapped to standard terminologies such as SNOMED CT.</a:t>
            </a:r>
            <a:endParaRPr b="0" i="0" sz="13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19" name="Picture 118" descr="ontology_class_hierarch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051560"/>
            <a:ext cx="5394960" cy="3329063"/>
          </a:xfrm>
          <a:prstGeom prst="rect">
            <a:avLst/>
          </a:prstGeom>
        </p:spPr>
      </p:pic>
      <p:pic>
        <p:nvPicPr>
          <p:cNvPr id="120" name="Picture 119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051560"/>
            <a:ext cx="5394960" cy="3329063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BF7EF"/>
        </a:solidFill>
      </p:bgPr>
    </p:bg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6"/>
          <p:cNvSpPr/>
          <p:nvPr/>
        </p:nvSpPr>
        <p:spPr>
          <a:xfrm>
            <a:off x="685800" y="438912"/>
            <a:ext cx="71323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B7F89"/>
              </a:buClr>
              <a:buSzPts val="850"/>
              <a:buFont typeface="Arial"/>
              <a:buNone/>
            </a:pPr>
            <a:r>
              <a:rPr b="1" i="0" lang="en-US" sz="850" u="none" cap="none" strike="noStrike">
                <a:solidFill>
                  <a:srgbClr val="1B7F89"/>
                </a:solidFill>
                <a:latin typeface="Arial"/>
                <a:ea typeface="Arial"/>
                <a:cs typeface="Arial"/>
                <a:sym typeface="Arial"/>
              </a:rPr>
              <a:t>OUTPUT SEMANTICS</a:t>
            </a:r>
            <a:endParaRPr b="0" i="0" sz="8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5" name="Google Shape;125;p6"/>
          <p:cNvSpPr/>
          <p:nvPr/>
        </p:nvSpPr>
        <p:spPr>
          <a:xfrm>
            <a:off x="658368" y="713232"/>
            <a:ext cx="10607040" cy="53035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3000"/>
              <a:buFont typeface="Arial"/>
              <a:buNone/>
            </a:pPr>
            <a:r>
              <a:rPr b="1" i="0" lang="en-US" sz="30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The reasoner is designed to be honest, not overconfident</a:t>
            </a:r>
            <a:endParaRPr b="0" i="0" sz="3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26" name="Google Shape;126;p6"/>
          <p:cNvCxnSpPr/>
          <p:nvPr/>
        </p:nvCxnSpPr>
        <p:spPr>
          <a:xfrm>
            <a:off x="685800" y="1389888"/>
            <a:ext cx="3200400" cy="0"/>
          </a:xfrm>
          <a:prstGeom prst="straightConnector1">
            <a:avLst/>
          </a:prstGeom>
          <a:noFill/>
          <a:ln cap="flat" cmpd="sng" w="27925">
            <a:solidFill>
              <a:srgbClr val="E8B14D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27" name="Google Shape;127;p6"/>
          <p:cNvCxnSpPr/>
          <p:nvPr/>
        </p:nvCxnSpPr>
        <p:spPr>
          <a:xfrm>
            <a:off x="594360" y="6473952"/>
            <a:ext cx="11000232" cy="0"/>
          </a:xfrm>
          <a:prstGeom prst="straightConnector1">
            <a:avLst/>
          </a:prstGeom>
          <a:noFill/>
          <a:ln cap="flat" cmpd="sng" w="9525">
            <a:solidFill>
              <a:srgbClr val="D8DFE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28" name="Google Shape;128;p6"/>
          <p:cNvSpPr/>
          <p:nvPr/>
        </p:nvSpPr>
        <p:spPr>
          <a:xfrm>
            <a:off x="658368" y="6556248"/>
            <a:ext cx="71323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767C"/>
              </a:buClr>
              <a:buSzPts val="750"/>
              <a:buFont typeface="Arial"/>
              <a:buNone/>
            </a:pPr>
            <a:r>
              <a:rPr b="0" i="0" lang="en-US" sz="750" u="none" cap="none" strike="noStrike">
                <a:solidFill>
                  <a:srgbClr val="6B767C"/>
                </a:solidFill>
                <a:latin typeface="Arial"/>
                <a:ea typeface="Arial"/>
                <a:cs typeface="Arial"/>
                <a:sym typeface="Arial"/>
              </a:rPr>
              <a:t>Advance Directive Ontology (ADO)  |  BMDS 210 / CS 270</a:t>
            </a:r>
            <a:endParaRPr b="0" i="0" sz="7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9" name="Google Shape;129;p6"/>
          <p:cNvSpPr/>
          <p:nvPr/>
        </p:nvSpPr>
        <p:spPr>
          <a:xfrm>
            <a:off x="11201400" y="6556248"/>
            <a:ext cx="3657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B767C"/>
              </a:buClr>
              <a:buSzPts val="750"/>
              <a:buFont typeface="Arial"/>
              <a:buNone/>
            </a:pPr>
            <a:r>
              <a:rPr b="0" i="0" lang="en-US" sz="750" u="none" cap="none" strike="noStrike">
                <a:solidFill>
                  <a:srgbClr val="6B767C"/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  <a:endParaRPr b="0" i="0" sz="7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0" name="Google Shape;130;p6"/>
          <p:cNvSpPr/>
          <p:nvPr/>
        </p:nvSpPr>
        <p:spPr>
          <a:xfrm>
            <a:off x="713232" y="1627632"/>
            <a:ext cx="1005840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9656F"/>
              </a:buClr>
              <a:buSzPts val="1700"/>
              <a:buFont typeface="Arial"/>
              <a:buNone/>
            </a:pPr>
            <a:r>
              <a:rPr b="0" i="0" lang="en-US" sz="1700" u="none" cap="none" strike="noStrike">
                <a:solidFill>
                  <a:srgbClr val="59656F"/>
                </a:solidFill>
                <a:latin typeface="Arial"/>
                <a:ea typeface="Arial"/>
                <a:cs typeface="Arial"/>
                <a:sym typeface="Arial"/>
              </a:rPr>
              <a:t>Instead of forcing a binary answer, ADO returns one of four outputs that tell a clinician how much the directive actually says.</a:t>
            </a:r>
            <a:endParaRPr b="0" i="0" sz="17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1" name="Google Shape;131;p6"/>
          <p:cNvSpPr/>
          <p:nvPr/>
        </p:nvSpPr>
        <p:spPr>
          <a:xfrm>
            <a:off x="5303520" y="3383280"/>
            <a:ext cx="1554480" cy="822960"/>
          </a:xfrm>
          <a:prstGeom prst="rect">
            <a:avLst/>
          </a:prstGeom>
          <a:solidFill>
            <a:srgbClr val="11364A"/>
          </a:solidFill>
          <a:ln cap="flat" cmpd="sng" w="15225">
            <a:solidFill>
              <a:srgbClr val="11364A"/>
            </a:solidFill>
            <a:prstDash val="solid"/>
            <a:round/>
            <a:headEnd len="sm" w="sm" type="none"/>
            <a:tailEnd len="sm" w="sm" type="none"/>
          </a:ln>
          <a:effectLst>
            <a:outerShdw blurRad="25400" rotWithShape="0" algn="bl" dir="2700000" dist="12700">
              <a:srgbClr val="000000">
                <a:alpha val="7843"/>
              </a:srgbClr>
            </a:outerShdw>
          </a:effectLst>
        </p:spPr>
        <p:txBody>
          <a:bodyPr anchorCtr="0" anchor="ctr" bIns="1500" lIns="1500" spcFirstLastPara="1" rIns="1500" wrap="square" tIns="15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Clinical</a:t>
            </a:r>
            <a:endParaRPr b="0" i="0" sz="15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scenario</a:t>
            </a:r>
            <a:endParaRPr b="0" i="0" sz="15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2" name="Google Shape;132;p6"/>
          <p:cNvSpPr/>
          <p:nvPr/>
        </p:nvSpPr>
        <p:spPr>
          <a:xfrm>
            <a:off x="960120" y="2423160"/>
            <a:ext cx="2651760" cy="438912"/>
          </a:xfrm>
          <a:prstGeom prst="rect">
            <a:avLst/>
          </a:prstGeom>
          <a:solidFill>
            <a:srgbClr val="1B7F89"/>
          </a:solidFill>
          <a:ln cap="flat" cmpd="sng" w="15225">
            <a:solidFill>
              <a:srgbClr val="1B7F89"/>
            </a:solidFill>
            <a:prstDash val="solid"/>
            <a:round/>
            <a:headEnd len="sm" w="sm" type="none"/>
            <a:tailEnd len="sm" w="sm" type="none"/>
          </a:ln>
          <a:effectLst>
            <a:outerShdw blurRad="25400" rotWithShape="0" algn="bl" dir="2700000" dist="12700">
              <a:srgbClr val="000000">
                <a:alpha val="7843"/>
              </a:srgbClr>
            </a:outerShdw>
          </a:effectLst>
        </p:spPr>
        <p:txBody>
          <a:bodyPr anchorCtr="0" anchor="ctr" bIns="1500" lIns="1500" spcFirstLastPara="1" rIns="1500" wrap="square" tIns="15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Clear match</a:t>
            </a:r>
            <a:endParaRPr b="0" i="0" sz="15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3" name="Google Shape;133;p6"/>
          <p:cNvSpPr/>
          <p:nvPr/>
        </p:nvSpPr>
        <p:spPr>
          <a:xfrm>
            <a:off x="960120" y="2916936"/>
            <a:ext cx="2651760" cy="548640"/>
          </a:xfrm>
          <a:prstGeom prst="rect">
            <a:avLst/>
          </a:prstGeom>
          <a:solidFill>
            <a:srgbClr val="FFFFFF"/>
          </a:solidFill>
          <a:ln cap="flat" cmpd="sng" w="15225">
            <a:solidFill>
              <a:srgbClr val="1B7F89"/>
            </a:solidFill>
            <a:prstDash val="solid"/>
            <a:round/>
            <a:headEnd len="sm" w="sm" type="none"/>
            <a:tailEnd len="sm" w="sm" type="none"/>
          </a:ln>
          <a:effectLst>
            <a:outerShdw blurRad="25400" rotWithShape="0" algn="bl" dir="2700000" dist="12700">
              <a:srgbClr val="000000">
                <a:alpha val="7843"/>
              </a:srgbClr>
            </a:outerShdw>
          </a:effectLst>
        </p:spPr>
        <p:txBody>
          <a:bodyPr anchorCtr="0" anchor="ctr" bIns="1500" lIns="1500" spcFirstLastPara="1" rIns="1500" wrap="square" tIns="15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9656F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59656F"/>
                </a:solidFill>
                <a:latin typeface="Arial"/>
                <a:ea typeface="Arial"/>
                <a:cs typeface="Arial"/>
                <a:sym typeface="Arial"/>
              </a:rPr>
              <a:t>conditions met; unambiguous</a:t>
            </a:r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4" name="Google Shape;134;p6"/>
          <p:cNvSpPr/>
          <p:nvPr/>
        </p:nvSpPr>
        <p:spPr>
          <a:xfrm>
            <a:off x="960120" y="4572000"/>
            <a:ext cx="2651760" cy="438912"/>
          </a:xfrm>
          <a:prstGeom prst="rect">
            <a:avLst/>
          </a:prstGeom>
          <a:solidFill>
            <a:srgbClr val="E8B14D"/>
          </a:solidFill>
          <a:ln cap="flat" cmpd="sng" w="15225">
            <a:solidFill>
              <a:srgbClr val="E8B14D"/>
            </a:solidFill>
            <a:prstDash val="solid"/>
            <a:round/>
            <a:headEnd len="sm" w="sm" type="none"/>
            <a:tailEnd len="sm" w="sm" type="none"/>
          </a:ln>
          <a:effectLst>
            <a:outerShdw blurRad="25400" rotWithShape="0" algn="bl" dir="2700000" dist="12700">
              <a:srgbClr val="000000">
                <a:alpha val="7843"/>
              </a:srgbClr>
            </a:outerShdw>
          </a:effectLst>
        </p:spPr>
        <p:txBody>
          <a:bodyPr anchorCtr="0" anchor="ctr" bIns="1500" lIns="1500" spcFirstLastPara="1" rIns="1500" wrap="square" tIns="15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Partial match</a:t>
            </a:r>
            <a:endParaRPr b="0" i="0" sz="15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5" name="Google Shape;135;p6"/>
          <p:cNvSpPr/>
          <p:nvPr/>
        </p:nvSpPr>
        <p:spPr>
          <a:xfrm>
            <a:off x="960120" y="5065776"/>
            <a:ext cx="2651760" cy="548640"/>
          </a:xfrm>
          <a:prstGeom prst="rect">
            <a:avLst/>
          </a:prstGeom>
          <a:solidFill>
            <a:srgbClr val="FFFFFF"/>
          </a:solidFill>
          <a:ln cap="flat" cmpd="sng" w="15225">
            <a:solidFill>
              <a:srgbClr val="E8B14D"/>
            </a:solidFill>
            <a:prstDash val="solid"/>
            <a:round/>
            <a:headEnd len="sm" w="sm" type="none"/>
            <a:tailEnd len="sm" w="sm" type="none"/>
          </a:ln>
          <a:effectLst>
            <a:outerShdw blurRad="25400" rotWithShape="0" algn="bl" dir="2700000" dist="12700">
              <a:srgbClr val="000000">
                <a:alpha val="7843"/>
              </a:srgbClr>
            </a:outerShdw>
          </a:effectLst>
        </p:spPr>
        <p:txBody>
          <a:bodyPr anchorCtr="0" anchor="ctr" bIns="1500" lIns="1500" spcFirstLastPara="1" rIns="1500" wrap="square" tIns="15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9656F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59656F"/>
                </a:solidFill>
                <a:latin typeface="Arial"/>
                <a:ea typeface="Arial"/>
                <a:cs typeface="Arial"/>
                <a:sym typeface="Arial"/>
              </a:rPr>
              <a:t>some conditions uncertain/unmet; defer</a:t>
            </a:r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6" name="Google Shape;136;p6"/>
          <p:cNvSpPr/>
          <p:nvPr/>
        </p:nvSpPr>
        <p:spPr>
          <a:xfrm>
            <a:off x="8229600" y="2423160"/>
            <a:ext cx="2651760" cy="438912"/>
          </a:xfrm>
          <a:prstGeom prst="rect">
            <a:avLst/>
          </a:prstGeom>
          <a:solidFill>
            <a:srgbClr val="D76F5D"/>
          </a:solidFill>
          <a:ln cap="flat" cmpd="sng" w="15225">
            <a:solidFill>
              <a:srgbClr val="D76F5D"/>
            </a:solidFill>
            <a:prstDash val="solid"/>
            <a:round/>
            <a:headEnd len="sm" w="sm" type="none"/>
            <a:tailEnd len="sm" w="sm" type="none"/>
          </a:ln>
          <a:effectLst>
            <a:outerShdw blurRad="25400" rotWithShape="0" algn="bl" dir="2700000" dist="12700">
              <a:srgbClr val="000000">
                <a:alpha val="7843"/>
              </a:srgbClr>
            </a:outerShdw>
          </a:effectLst>
        </p:spPr>
        <p:txBody>
          <a:bodyPr anchorCtr="0" anchor="ctr" bIns="1500" lIns="1500" spcFirstLastPara="1" rIns="1500" wrap="square" tIns="15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No coverage</a:t>
            </a:r>
            <a:endParaRPr b="0" i="0" sz="15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7" name="Google Shape;137;p6"/>
          <p:cNvSpPr/>
          <p:nvPr/>
        </p:nvSpPr>
        <p:spPr>
          <a:xfrm>
            <a:off x="8229600" y="2916936"/>
            <a:ext cx="2651760" cy="548640"/>
          </a:xfrm>
          <a:prstGeom prst="rect">
            <a:avLst/>
          </a:prstGeom>
          <a:solidFill>
            <a:srgbClr val="FFFFFF"/>
          </a:solidFill>
          <a:ln cap="flat" cmpd="sng" w="15225">
            <a:solidFill>
              <a:srgbClr val="D76F5D"/>
            </a:solidFill>
            <a:prstDash val="solid"/>
            <a:round/>
            <a:headEnd len="sm" w="sm" type="none"/>
            <a:tailEnd len="sm" w="sm" type="none"/>
          </a:ln>
          <a:effectLst>
            <a:outerShdw blurRad="25400" rotWithShape="0" algn="bl" dir="2700000" dist="12700">
              <a:srgbClr val="000000">
                <a:alpha val="7843"/>
              </a:srgbClr>
            </a:outerShdw>
          </a:effectLst>
        </p:spPr>
        <p:txBody>
          <a:bodyPr anchorCtr="0" anchor="ctr" bIns="1500" lIns="1500" spcFirstLastPara="1" rIns="1500" wrap="square" tIns="15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9656F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59656F"/>
                </a:solidFill>
                <a:latin typeface="Arial"/>
                <a:ea typeface="Arial"/>
                <a:cs typeface="Arial"/>
                <a:sym typeface="Arial"/>
              </a:rPr>
              <a:t>directive is silent for this scenario</a:t>
            </a:r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8" name="Google Shape;138;p6"/>
          <p:cNvSpPr/>
          <p:nvPr/>
        </p:nvSpPr>
        <p:spPr>
          <a:xfrm>
            <a:off x="8229600" y="4572000"/>
            <a:ext cx="2651760" cy="438912"/>
          </a:xfrm>
          <a:prstGeom prst="rect">
            <a:avLst/>
          </a:prstGeom>
          <a:solidFill>
            <a:srgbClr val="68518A"/>
          </a:solidFill>
          <a:ln cap="flat" cmpd="sng" w="15225">
            <a:solidFill>
              <a:srgbClr val="68518A"/>
            </a:solidFill>
            <a:prstDash val="solid"/>
            <a:round/>
            <a:headEnd len="sm" w="sm" type="none"/>
            <a:tailEnd len="sm" w="sm" type="none"/>
          </a:ln>
          <a:effectLst>
            <a:outerShdw blurRad="25400" rotWithShape="0" algn="bl" dir="2700000" dist="12700">
              <a:srgbClr val="000000">
                <a:alpha val="7843"/>
              </a:srgbClr>
            </a:outerShdw>
          </a:effectLst>
        </p:spPr>
        <p:txBody>
          <a:bodyPr anchorCtr="0" anchor="ctr" bIns="1500" lIns="1500" spcFirstLastPara="1" rIns="1500" wrap="square" tIns="15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Vague match</a:t>
            </a:r>
            <a:endParaRPr b="0" i="0" sz="15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9" name="Google Shape;139;p6"/>
          <p:cNvSpPr/>
          <p:nvPr/>
        </p:nvSpPr>
        <p:spPr>
          <a:xfrm>
            <a:off x="8229600" y="5065776"/>
            <a:ext cx="2651760" cy="548640"/>
          </a:xfrm>
          <a:prstGeom prst="rect">
            <a:avLst/>
          </a:prstGeom>
          <a:solidFill>
            <a:srgbClr val="FFFFFF"/>
          </a:solidFill>
          <a:ln cap="flat" cmpd="sng" w="15225">
            <a:solidFill>
              <a:srgbClr val="68518A"/>
            </a:solidFill>
            <a:prstDash val="solid"/>
            <a:round/>
            <a:headEnd len="sm" w="sm" type="none"/>
            <a:tailEnd len="sm" w="sm" type="none"/>
          </a:ln>
          <a:effectLst>
            <a:outerShdw blurRad="25400" rotWithShape="0" algn="bl" dir="2700000" dist="12700">
              <a:srgbClr val="000000">
                <a:alpha val="7843"/>
              </a:srgbClr>
            </a:outerShdw>
          </a:effectLst>
        </p:spPr>
        <p:txBody>
          <a:bodyPr anchorCtr="0" anchor="ctr" bIns="1500" lIns="1500" spcFirstLastPara="1" rIns="1500" wrap="square" tIns="15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9656F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59656F"/>
                </a:solidFill>
                <a:latin typeface="Arial"/>
                <a:ea typeface="Arial"/>
                <a:cs typeface="Arial"/>
                <a:sym typeface="Arial"/>
              </a:rPr>
              <a:t>imprecise language surfaced</a:t>
            </a:r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0" name="Google Shape;140;p6"/>
          <p:cNvSpPr/>
          <p:nvPr/>
        </p:nvSpPr>
        <p:spPr>
          <a:xfrm>
            <a:off x="2057400" y="5925312"/>
            <a:ext cx="809244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This is the safety feature: uncertainty becomes visible rather than hidden behind a confident answer.</a:t>
            </a:r>
            <a:endParaRPr b="0" i="0" sz="15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BF7EF"/>
        </a:solidFill>
      </p:bgPr>
    </p:bg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7"/>
          <p:cNvSpPr/>
          <p:nvPr/>
        </p:nvSpPr>
        <p:spPr>
          <a:xfrm>
            <a:off x="685800" y="438912"/>
            <a:ext cx="71323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B7F89"/>
              </a:buClr>
              <a:buSzPts val="850"/>
              <a:buFont typeface="Arial"/>
              <a:buNone/>
            </a:pPr>
            <a:r>
              <a:rPr b="1" i="0" lang="en-US" sz="850" u="none" cap="none" strike="noStrike">
                <a:solidFill>
                  <a:srgbClr val="1B7F89"/>
                </a:solidFill>
                <a:latin typeface="Arial"/>
                <a:ea typeface="Arial"/>
                <a:cs typeface="Arial"/>
                <a:sym typeface="Arial"/>
              </a:rPr>
              <a:t>SYSTEM IMPLEMENTATION</a:t>
            </a:r>
            <a:endParaRPr b="0" i="0" sz="8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7" name="Google Shape;147;p7"/>
          <p:cNvSpPr/>
          <p:nvPr/>
        </p:nvSpPr>
        <p:spPr>
          <a:xfrm>
            <a:off x="658368" y="713232"/>
            <a:ext cx="10607040" cy="53035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3000"/>
              <a:buFont typeface="Arial"/>
              <a:buNone/>
            </a:pPr>
            <a:r>
              <a:rPr b="1" i="0" lang="en-US" sz="30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End-to-end architecture</a:t>
            </a:r>
            <a:endParaRPr b="0" i="0" sz="3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48" name="Google Shape;148;p7"/>
          <p:cNvCxnSpPr/>
          <p:nvPr/>
        </p:nvCxnSpPr>
        <p:spPr>
          <a:xfrm>
            <a:off x="685800" y="1389888"/>
            <a:ext cx="3200400" cy="0"/>
          </a:xfrm>
          <a:prstGeom prst="straightConnector1">
            <a:avLst/>
          </a:prstGeom>
          <a:noFill/>
          <a:ln cap="flat" cmpd="sng" w="27925">
            <a:solidFill>
              <a:srgbClr val="E8B14D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49" name="Google Shape;149;p7"/>
          <p:cNvCxnSpPr/>
          <p:nvPr/>
        </p:nvCxnSpPr>
        <p:spPr>
          <a:xfrm>
            <a:off x="594360" y="6473952"/>
            <a:ext cx="11000232" cy="0"/>
          </a:xfrm>
          <a:prstGeom prst="straightConnector1">
            <a:avLst/>
          </a:prstGeom>
          <a:noFill/>
          <a:ln cap="flat" cmpd="sng" w="9525">
            <a:solidFill>
              <a:srgbClr val="D8DFE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7"/>
          <p:cNvSpPr/>
          <p:nvPr/>
        </p:nvSpPr>
        <p:spPr>
          <a:xfrm>
            <a:off x="658368" y="6556248"/>
            <a:ext cx="71323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767C"/>
              </a:buClr>
              <a:buSzPts val="750"/>
              <a:buFont typeface="Arial"/>
              <a:buNone/>
            </a:pPr>
            <a:r>
              <a:rPr b="0" i="0" lang="en-US" sz="750" u="none" cap="none" strike="noStrike">
                <a:solidFill>
                  <a:srgbClr val="6B767C"/>
                </a:solidFill>
                <a:latin typeface="Arial"/>
                <a:ea typeface="Arial"/>
                <a:cs typeface="Arial"/>
                <a:sym typeface="Arial"/>
              </a:rPr>
              <a:t>Advance Directive Ontology (ADO)  |  BMDS 210 / CS 270</a:t>
            </a:r>
            <a:endParaRPr b="0" i="0" sz="7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1" name="Google Shape;151;p7"/>
          <p:cNvSpPr/>
          <p:nvPr/>
        </p:nvSpPr>
        <p:spPr>
          <a:xfrm>
            <a:off x="11201400" y="6556248"/>
            <a:ext cx="3657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B767C"/>
              </a:buClr>
              <a:buSzPts val="750"/>
              <a:buFont typeface="Arial"/>
              <a:buNone/>
            </a:pPr>
            <a:r>
              <a:rPr b="0" i="0" lang="en-US" sz="750" u="none" cap="none" strike="noStrike">
                <a:solidFill>
                  <a:srgbClr val="6B767C"/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  <a:endParaRPr b="0" i="0" sz="7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2" name="Google Shape;152;p7"/>
          <p:cNvSpPr/>
          <p:nvPr/>
        </p:nvSpPr>
        <p:spPr>
          <a:xfrm>
            <a:off x="713232" y="1627632"/>
            <a:ext cx="100584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9656F"/>
              </a:buClr>
              <a:buSzPts val="1700"/>
              <a:buFont typeface="Arial"/>
              <a:buNone/>
            </a:pPr>
            <a:r>
              <a:rPr b="0" i="0" lang="en-US" sz="1700" u="none" cap="none" strike="noStrike">
                <a:solidFill>
                  <a:srgbClr val="59656F"/>
                </a:solidFill>
                <a:latin typeface="Arial"/>
                <a:ea typeface="Arial"/>
                <a:cs typeface="Arial"/>
                <a:sym typeface="Arial"/>
              </a:rPr>
              <a:t>LLMs are used only at the boundary. The ontology remains the auditable source of truth, and the deterministic reasoner produces the clinical output.</a:t>
            </a:r>
            <a:endParaRPr b="0" i="0" sz="17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3" name="Google Shape;153;p7"/>
          <p:cNvSpPr/>
          <p:nvPr/>
        </p:nvSpPr>
        <p:spPr>
          <a:xfrm>
            <a:off x="685800" y="2971800"/>
            <a:ext cx="1554480" cy="777240"/>
          </a:xfrm>
          <a:prstGeom prst="rect">
            <a:avLst/>
          </a:prstGeom>
          <a:solidFill>
            <a:srgbClr val="FFFFFF"/>
          </a:solidFill>
          <a:ln cap="flat" cmpd="sng" w="15225">
            <a:solidFill>
              <a:srgbClr val="1B7F89"/>
            </a:solidFill>
            <a:prstDash val="solid"/>
            <a:round/>
            <a:headEnd len="sm" w="sm" type="none"/>
            <a:tailEnd len="sm" w="sm" type="none"/>
          </a:ln>
          <a:effectLst>
            <a:outerShdw blurRad="25400" rotWithShape="0" algn="bl" dir="2700000" dist="12700">
              <a:srgbClr val="000000">
                <a:alpha val="7843"/>
              </a:srgbClr>
            </a:outerShdw>
          </a:effectLst>
        </p:spPr>
        <p:txBody>
          <a:bodyPr anchorCtr="0" anchor="ctr" bIns="1500" lIns="1500" spcFirstLastPara="1" rIns="1500" wrap="square" tIns="15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Structured form</a:t>
            </a:r>
            <a:endParaRPr b="0" i="0" sz="13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or free text</a:t>
            </a:r>
            <a:endParaRPr b="0" i="0" sz="13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4" name="Google Shape;154;p7"/>
          <p:cNvSpPr/>
          <p:nvPr/>
        </p:nvSpPr>
        <p:spPr>
          <a:xfrm>
            <a:off x="2697480" y="2971800"/>
            <a:ext cx="1554480" cy="777240"/>
          </a:xfrm>
          <a:prstGeom prst="rect">
            <a:avLst/>
          </a:prstGeom>
          <a:solidFill>
            <a:srgbClr val="FFF9EA"/>
          </a:solidFill>
          <a:ln cap="flat" cmpd="sng" w="15225">
            <a:solidFill>
              <a:srgbClr val="E8B14D"/>
            </a:solidFill>
            <a:prstDash val="solid"/>
            <a:round/>
            <a:headEnd len="sm" w="sm" type="none"/>
            <a:tailEnd len="sm" w="sm" type="none"/>
          </a:ln>
          <a:effectLst>
            <a:outerShdw blurRad="25400" rotWithShape="0" algn="bl" dir="2700000" dist="12700">
              <a:srgbClr val="000000">
                <a:alpha val="7843"/>
              </a:srgbClr>
            </a:outerShdw>
          </a:effectLst>
        </p:spPr>
        <p:txBody>
          <a:bodyPr anchorCtr="0" anchor="ctr" bIns="1500" lIns="1500" spcFirstLastPara="1" rIns="1500" wrap="square" tIns="15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Closed-world</a:t>
            </a:r>
            <a:endParaRPr b="0" i="0" sz="13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LLM extraction</a:t>
            </a:r>
            <a:endParaRPr b="0" i="0" sz="13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5" name="Google Shape;155;p7"/>
          <p:cNvSpPr/>
          <p:nvPr/>
        </p:nvSpPr>
        <p:spPr>
          <a:xfrm>
            <a:off x="4709160" y="2971800"/>
            <a:ext cx="1554480" cy="777240"/>
          </a:xfrm>
          <a:prstGeom prst="rect">
            <a:avLst/>
          </a:prstGeom>
          <a:solidFill>
            <a:srgbClr val="FFFFFF"/>
          </a:solidFill>
          <a:ln cap="flat" cmpd="sng" w="15225">
            <a:solidFill>
              <a:srgbClr val="38A6A5"/>
            </a:solidFill>
            <a:prstDash val="solid"/>
            <a:round/>
            <a:headEnd len="sm" w="sm" type="none"/>
            <a:tailEnd len="sm" w="sm" type="none"/>
          </a:ln>
          <a:effectLst>
            <a:outerShdw blurRad="25400" rotWithShape="0" algn="bl" dir="2700000" dist="12700">
              <a:srgbClr val="000000">
                <a:alpha val="7843"/>
              </a:srgbClr>
            </a:outerShdw>
          </a:effectLst>
        </p:spPr>
        <p:txBody>
          <a:bodyPr anchorCtr="0" anchor="ctr" bIns="1500" lIns="1500" spcFirstLastPara="1" rIns="1500" wrap="square" tIns="15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Validated JSON</a:t>
            </a:r>
            <a:endParaRPr b="0" i="0" sz="13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preferences</a:t>
            </a:r>
            <a:endParaRPr b="0" i="0" sz="13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6" name="Google Shape;156;p7"/>
          <p:cNvSpPr/>
          <p:nvPr/>
        </p:nvSpPr>
        <p:spPr>
          <a:xfrm>
            <a:off x="6720840" y="2971800"/>
            <a:ext cx="1554480" cy="777240"/>
          </a:xfrm>
          <a:prstGeom prst="rect">
            <a:avLst/>
          </a:prstGeom>
          <a:solidFill>
            <a:srgbClr val="F0FAF8"/>
          </a:solidFill>
          <a:ln cap="flat" cmpd="sng" w="15225">
            <a:solidFill>
              <a:srgbClr val="1B7F89"/>
            </a:solidFill>
            <a:prstDash val="solid"/>
            <a:round/>
            <a:headEnd len="sm" w="sm" type="none"/>
            <a:tailEnd len="sm" w="sm" type="none"/>
          </a:ln>
          <a:effectLst>
            <a:outerShdw blurRad="25400" rotWithShape="0" algn="bl" dir="2700000" dist="12700">
              <a:srgbClr val="000000">
                <a:alpha val="7843"/>
              </a:srgbClr>
            </a:outerShdw>
          </a:effectLst>
        </p:spPr>
        <p:txBody>
          <a:bodyPr anchorCtr="0" anchor="ctr" bIns="1500" lIns="1500" spcFirstLastPara="1" rIns="1500" wrap="square" tIns="15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OWL ontology</a:t>
            </a:r>
            <a:endParaRPr b="0" i="0" sz="13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+ individuals</a:t>
            </a:r>
            <a:endParaRPr b="0" i="0" sz="13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7" name="Google Shape;157;p7"/>
          <p:cNvSpPr/>
          <p:nvPr/>
        </p:nvSpPr>
        <p:spPr>
          <a:xfrm>
            <a:off x="8732520" y="2971800"/>
            <a:ext cx="1554480" cy="777240"/>
          </a:xfrm>
          <a:prstGeom prst="rect">
            <a:avLst/>
          </a:prstGeom>
          <a:solidFill>
            <a:srgbClr val="11364A"/>
          </a:solidFill>
          <a:ln cap="flat" cmpd="sng" w="15225">
            <a:solidFill>
              <a:srgbClr val="11364A"/>
            </a:solidFill>
            <a:prstDash val="solid"/>
            <a:round/>
            <a:headEnd len="sm" w="sm" type="none"/>
            <a:tailEnd len="sm" w="sm" type="none"/>
          </a:ln>
          <a:effectLst>
            <a:outerShdw blurRad="25400" rotWithShape="0" algn="bl" dir="2700000" dist="12700">
              <a:srgbClr val="000000">
                <a:alpha val="7843"/>
              </a:srgbClr>
            </a:outerShdw>
          </a:effectLst>
        </p:spPr>
        <p:txBody>
          <a:bodyPr anchorCtr="0" anchor="ctr" bIns="1500" lIns="1500" spcFirstLastPara="1" rIns="1500" wrap="square" tIns="15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Scenario-based</a:t>
            </a:r>
            <a:endParaRPr b="0" i="0" sz="13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reasoner</a:t>
            </a:r>
            <a:endParaRPr b="0" i="0" sz="13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8" name="Google Shape;158;p7"/>
          <p:cNvSpPr/>
          <p:nvPr/>
        </p:nvSpPr>
        <p:spPr>
          <a:xfrm>
            <a:off x="10561320" y="2971800"/>
            <a:ext cx="1417320" cy="777240"/>
          </a:xfrm>
          <a:prstGeom prst="rect">
            <a:avLst/>
          </a:prstGeom>
          <a:solidFill>
            <a:srgbClr val="FCEFEA"/>
          </a:solidFill>
          <a:ln cap="flat" cmpd="sng" w="15225">
            <a:solidFill>
              <a:srgbClr val="D76F5D"/>
            </a:solidFill>
            <a:prstDash val="solid"/>
            <a:round/>
            <a:headEnd len="sm" w="sm" type="none"/>
            <a:tailEnd len="sm" w="sm" type="none"/>
          </a:ln>
          <a:effectLst>
            <a:outerShdw blurRad="25400" rotWithShape="0" algn="bl" dir="2700000" dist="12700">
              <a:srgbClr val="000000">
                <a:alpha val="7843"/>
              </a:srgbClr>
            </a:outerShdw>
          </a:effectLst>
        </p:spPr>
        <p:txBody>
          <a:bodyPr anchorCtr="0" anchor="ctr" bIns="1500" lIns="1500" spcFirstLastPara="1" rIns="1500" wrap="square" tIns="15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ACP note</a:t>
            </a:r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POLST/code status</a:t>
            </a:r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9" name="Google Shape;159;p7"/>
          <p:cNvSpPr/>
          <p:nvPr/>
        </p:nvSpPr>
        <p:spPr>
          <a:xfrm>
            <a:off x="2697480" y="4160520"/>
            <a:ext cx="155448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Closed-world rule</a:t>
            </a:r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0" name="Google Shape;160;p7"/>
          <p:cNvSpPr/>
          <p:nvPr/>
        </p:nvSpPr>
        <p:spPr>
          <a:xfrm>
            <a:off x="2057400" y="4498848"/>
            <a:ext cx="274320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0" lIns="250" spcFirstLastPara="1" rIns="250" wrap="square" tIns="25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9656F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59656F"/>
                </a:solidFill>
                <a:latin typeface="Arial"/>
                <a:ea typeface="Arial"/>
                <a:cs typeface="Arial"/>
                <a:sym typeface="Arial"/>
              </a:rPr>
              <a:t>Extract only what the patient explicitly states; do not map out-of-scope content to the nearest covered class.</a:t>
            </a:r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1" name="Google Shape;161;p7"/>
          <p:cNvSpPr/>
          <p:nvPr/>
        </p:nvSpPr>
        <p:spPr>
          <a:xfrm>
            <a:off x="8183880" y="4160520"/>
            <a:ext cx="21488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Reasoner responsibility</a:t>
            </a:r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2" name="Google Shape;162;p7"/>
          <p:cNvSpPr/>
          <p:nvPr/>
        </p:nvSpPr>
        <p:spPr>
          <a:xfrm>
            <a:off x="7818120" y="4498848"/>
            <a:ext cx="2926080" cy="594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0" lIns="250" spcFirstLastPara="1" rIns="250" wrap="square" tIns="25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9656F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59656F"/>
                </a:solidFill>
                <a:latin typeface="Arial"/>
                <a:ea typeface="Arial"/>
                <a:cs typeface="Arial"/>
                <a:sym typeface="Arial"/>
              </a:rPr>
              <a:t>Match intervention + activation conditions + negation + strength against the clinical scenario.</a:t>
            </a:r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BF7EF"/>
        </a:solidFill>
      </p:bgPr>
    </p:bg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8"/>
          <p:cNvSpPr/>
          <p:nvPr/>
        </p:nvSpPr>
        <p:spPr>
          <a:xfrm>
            <a:off x="685800" y="438912"/>
            <a:ext cx="71323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B7F89"/>
              </a:buClr>
              <a:buSzPts val="850"/>
              <a:buFont typeface="Arial"/>
              <a:buNone/>
            </a:pPr>
            <a:r>
              <a:rPr b="1" i="0" lang="en-US" sz="850" u="none" cap="none" strike="noStrike">
                <a:solidFill>
                  <a:srgbClr val="1B7F89"/>
                </a:solidFill>
                <a:latin typeface="Arial"/>
                <a:ea typeface="Arial"/>
                <a:cs typeface="Arial"/>
                <a:sym typeface="Arial"/>
              </a:rPr>
              <a:t>STUDY DESIGN</a:t>
            </a:r>
            <a:endParaRPr b="0" i="0" sz="8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9" name="Google Shape;169;p8"/>
          <p:cNvSpPr/>
          <p:nvPr/>
        </p:nvSpPr>
        <p:spPr>
          <a:xfrm>
            <a:off x="658368" y="713232"/>
            <a:ext cx="10607040" cy="53035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3000"/>
              <a:buFont typeface="Arial"/>
              <a:buNone/>
            </a:pPr>
            <a:r>
              <a:rPr b="1" i="0" lang="en-US" sz="30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Evaluation asked: does ADO reason correctly and integrate plausibly?</a:t>
            </a:r>
            <a:endParaRPr b="0" i="0" sz="3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70" name="Google Shape;170;p8"/>
          <p:cNvCxnSpPr/>
          <p:nvPr/>
        </p:nvCxnSpPr>
        <p:spPr>
          <a:xfrm>
            <a:off x="685800" y="1389888"/>
            <a:ext cx="3200400" cy="0"/>
          </a:xfrm>
          <a:prstGeom prst="straightConnector1">
            <a:avLst/>
          </a:prstGeom>
          <a:noFill/>
          <a:ln cap="flat" cmpd="sng" w="27925">
            <a:solidFill>
              <a:srgbClr val="E8B14D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71" name="Google Shape;171;p8"/>
          <p:cNvCxnSpPr/>
          <p:nvPr/>
        </p:nvCxnSpPr>
        <p:spPr>
          <a:xfrm>
            <a:off x="594360" y="6473952"/>
            <a:ext cx="11000232" cy="0"/>
          </a:xfrm>
          <a:prstGeom prst="straightConnector1">
            <a:avLst/>
          </a:prstGeom>
          <a:noFill/>
          <a:ln cap="flat" cmpd="sng" w="9525">
            <a:solidFill>
              <a:srgbClr val="D8DFE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2" name="Google Shape;172;p8"/>
          <p:cNvSpPr/>
          <p:nvPr/>
        </p:nvSpPr>
        <p:spPr>
          <a:xfrm>
            <a:off x="658368" y="6556248"/>
            <a:ext cx="71323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767C"/>
              </a:buClr>
              <a:buSzPts val="750"/>
              <a:buFont typeface="Arial"/>
              <a:buNone/>
            </a:pPr>
            <a:r>
              <a:rPr b="0" i="0" lang="en-US" sz="750" u="none" cap="none" strike="noStrike">
                <a:solidFill>
                  <a:srgbClr val="6B767C"/>
                </a:solidFill>
                <a:latin typeface="Arial"/>
                <a:ea typeface="Arial"/>
                <a:cs typeface="Arial"/>
                <a:sym typeface="Arial"/>
              </a:rPr>
              <a:t>Advance Directive Ontology (ADO)  |  BMDS 210 / CS 270</a:t>
            </a:r>
            <a:endParaRPr b="0" i="0" sz="7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3" name="Google Shape;173;p8"/>
          <p:cNvSpPr/>
          <p:nvPr/>
        </p:nvSpPr>
        <p:spPr>
          <a:xfrm>
            <a:off x="11201400" y="6556248"/>
            <a:ext cx="3657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B767C"/>
              </a:buClr>
              <a:buSzPts val="750"/>
              <a:buFont typeface="Arial"/>
              <a:buNone/>
            </a:pPr>
            <a:r>
              <a:rPr b="0" i="0" lang="en-US" sz="750" u="none" cap="none" strike="noStrike">
                <a:solidFill>
                  <a:srgbClr val="6B767C"/>
                </a:solidFill>
                <a:latin typeface="Arial"/>
                <a:ea typeface="Arial"/>
                <a:cs typeface="Arial"/>
                <a:sym typeface="Arial"/>
              </a:rPr>
              <a:t>8</a:t>
            </a:r>
            <a:endParaRPr b="0" i="0" sz="7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4" name="Google Shape;174;p8"/>
          <p:cNvSpPr/>
          <p:nvPr/>
        </p:nvSpPr>
        <p:spPr>
          <a:xfrm>
            <a:off x="822960" y="2770632"/>
            <a:ext cx="411480" cy="411480"/>
          </a:xfrm>
          <a:prstGeom prst="rect">
            <a:avLst/>
          </a:prstGeom>
          <a:solidFill>
            <a:srgbClr val="1B7F89"/>
          </a:solidFill>
          <a:ln cap="flat" cmpd="sng" w="15225">
            <a:solidFill>
              <a:srgbClr val="1B7F89"/>
            </a:solidFill>
            <a:prstDash val="solid"/>
            <a:round/>
            <a:headEnd len="sm" w="sm" type="none"/>
            <a:tailEnd len="sm" w="sm" type="none"/>
          </a:ln>
          <a:effectLst>
            <a:outerShdw blurRad="25400" rotWithShape="0" algn="bl" dir="2700000" dist="12700">
              <a:srgbClr val="000000">
                <a:alpha val="7843"/>
              </a:srgbClr>
            </a:outerShdw>
          </a:effectLst>
        </p:spPr>
        <p:txBody>
          <a:bodyPr anchorCtr="0" anchor="ctr" bIns="1500" lIns="1500" spcFirstLastPara="1" rIns="1500" wrap="square" tIns="15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  <a:endParaRPr b="0" i="0" sz="15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5" name="Google Shape;175;p8"/>
          <p:cNvSpPr/>
          <p:nvPr/>
        </p:nvSpPr>
        <p:spPr>
          <a:xfrm>
            <a:off x="1325880" y="2615184"/>
            <a:ext cx="1600200" cy="438912"/>
          </a:xfrm>
          <a:prstGeom prst="rect">
            <a:avLst/>
          </a:prstGeom>
          <a:solidFill>
            <a:srgbClr val="FFFFFF"/>
          </a:solidFill>
          <a:ln cap="flat" cmpd="sng" w="15225">
            <a:solidFill>
              <a:srgbClr val="1B7F89"/>
            </a:solidFill>
            <a:prstDash val="solid"/>
            <a:round/>
            <a:headEnd len="sm" w="sm" type="none"/>
            <a:tailEnd len="sm" w="sm" type="none"/>
          </a:ln>
          <a:effectLst>
            <a:outerShdw blurRad="25400" rotWithShape="0" algn="bl" dir="2700000" dist="12700">
              <a:srgbClr val="000000">
                <a:alpha val="7843"/>
              </a:srgbClr>
            </a:outerShdw>
          </a:effectLst>
        </p:spPr>
        <p:txBody>
          <a:bodyPr anchorCtr="0" anchor="ctr" bIns="1500" lIns="1500" spcFirstLastPara="1" rIns="1500" wrap="square" tIns="15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250"/>
              <a:buFont typeface="Arial"/>
              <a:buNone/>
            </a:pPr>
            <a:r>
              <a:rPr b="1" i="0" lang="en-US" sz="125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Pipeline validation</a:t>
            </a:r>
            <a:endParaRPr b="0" i="0" sz="12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6" name="Google Shape;176;p8"/>
          <p:cNvSpPr/>
          <p:nvPr/>
        </p:nvSpPr>
        <p:spPr>
          <a:xfrm>
            <a:off x="822960" y="3273552"/>
            <a:ext cx="214884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250" lIns="250" spcFirstLastPara="1" rIns="250" wrap="square" tIns="25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9656F"/>
              </a:buClr>
              <a:buSzPts val="1120"/>
              <a:buFont typeface="Arial"/>
              <a:buNone/>
            </a:pPr>
            <a:r>
              <a:rPr b="0" i="0" lang="en-US" sz="1120" u="none" cap="none" strike="noStrike">
                <a:solidFill>
                  <a:srgbClr val="59656F"/>
                </a:solidFill>
                <a:latin typeface="Arial"/>
                <a:ea typeface="Arial"/>
                <a:cs typeface="Arial"/>
                <a:sym typeface="Arial"/>
              </a:rPr>
              <a:t>Example patient → populated ontology</a:t>
            </a:r>
            <a:endParaRPr b="0" i="0" sz="112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7" name="Google Shape;177;p8"/>
          <p:cNvSpPr/>
          <p:nvPr/>
        </p:nvSpPr>
        <p:spPr>
          <a:xfrm>
            <a:off x="3035808" y="2770632"/>
            <a:ext cx="411480" cy="411480"/>
          </a:xfrm>
          <a:prstGeom prst="rect">
            <a:avLst/>
          </a:prstGeom>
          <a:solidFill>
            <a:srgbClr val="E8B14D"/>
          </a:solidFill>
          <a:ln cap="flat" cmpd="sng" w="15225">
            <a:solidFill>
              <a:srgbClr val="E8B14D"/>
            </a:solidFill>
            <a:prstDash val="solid"/>
            <a:round/>
            <a:headEnd len="sm" w="sm" type="none"/>
            <a:tailEnd len="sm" w="sm" type="none"/>
          </a:ln>
          <a:effectLst>
            <a:outerShdw blurRad="25400" rotWithShape="0" algn="bl" dir="2700000" dist="12700">
              <a:srgbClr val="000000">
                <a:alpha val="7843"/>
              </a:srgbClr>
            </a:outerShdw>
          </a:effectLst>
        </p:spPr>
        <p:txBody>
          <a:bodyPr anchorCtr="0" anchor="ctr" bIns="1500" lIns="1500" spcFirstLastPara="1" rIns="1500" wrap="square" tIns="15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  <a:endParaRPr b="0" i="0" sz="15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8"/>
          <p:cNvSpPr/>
          <p:nvPr/>
        </p:nvSpPr>
        <p:spPr>
          <a:xfrm>
            <a:off x="3538728" y="2615184"/>
            <a:ext cx="1600200" cy="438912"/>
          </a:xfrm>
          <a:prstGeom prst="rect">
            <a:avLst/>
          </a:prstGeom>
          <a:solidFill>
            <a:srgbClr val="FFFFFF"/>
          </a:solidFill>
          <a:ln cap="flat" cmpd="sng" w="15225">
            <a:solidFill>
              <a:srgbClr val="E8B14D"/>
            </a:solidFill>
            <a:prstDash val="solid"/>
            <a:round/>
            <a:headEnd len="sm" w="sm" type="none"/>
            <a:tailEnd len="sm" w="sm" type="none"/>
          </a:ln>
          <a:effectLst>
            <a:outerShdw blurRad="25400" rotWithShape="0" algn="bl" dir="2700000" dist="12700">
              <a:srgbClr val="000000">
                <a:alpha val="7843"/>
              </a:srgbClr>
            </a:outerShdw>
          </a:effectLst>
        </p:spPr>
        <p:txBody>
          <a:bodyPr anchorCtr="0" anchor="ctr" bIns="1500" lIns="1500" spcFirstLastPara="1" rIns="1500" wrap="square" tIns="15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250"/>
              <a:buFont typeface="Arial"/>
              <a:buNone/>
            </a:pPr>
            <a:r>
              <a:rPr b="1" i="0" lang="en-US" sz="125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Clinical vignettes</a:t>
            </a:r>
            <a:endParaRPr b="0" i="0" sz="12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8"/>
          <p:cNvSpPr/>
          <p:nvPr/>
        </p:nvSpPr>
        <p:spPr>
          <a:xfrm>
            <a:off x="3035808" y="3273552"/>
            <a:ext cx="214884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250" lIns="250" spcFirstLastPara="1" rIns="250" wrap="square" tIns="25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9656F"/>
              </a:buClr>
              <a:buSzPts val="1120"/>
              <a:buFont typeface="Arial"/>
              <a:buNone/>
            </a:pPr>
            <a:r>
              <a:rPr b="0" i="0" lang="en-US" sz="1120" u="none" cap="none" strike="noStrike">
                <a:solidFill>
                  <a:srgbClr val="59656F"/>
                </a:solidFill>
                <a:latin typeface="Arial"/>
                <a:ea typeface="Arial"/>
                <a:cs typeface="Arial"/>
                <a:sym typeface="Arial"/>
              </a:rPr>
              <a:t>16 scenarios across all decision points</a:t>
            </a:r>
            <a:endParaRPr b="0" i="0" sz="112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8"/>
          <p:cNvSpPr/>
          <p:nvPr/>
        </p:nvSpPr>
        <p:spPr>
          <a:xfrm>
            <a:off x="5248656" y="2770632"/>
            <a:ext cx="411480" cy="411480"/>
          </a:xfrm>
          <a:prstGeom prst="rect">
            <a:avLst/>
          </a:prstGeom>
          <a:solidFill>
            <a:srgbClr val="1B7F89"/>
          </a:solidFill>
          <a:ln cap="flat" cmpd="sng" w="15225">
            <a:solidFill>
              <a:srgbClr val="1B7F89"/>
            </a:solidFill>
            <a:prstDash val="solid"/>
            <a:round/>
            <a:headEnd len="sm" w="sm" type="none"/>
            <a:tailEnd len="sm" w="sm" type="none"/>
          </a:ln>
          <a:effectLst>
            <a:outerShdw blurRad="25400" rotWithShape="0" algn="bl" dir="2700000" dist="12700">
              <a:srgbClr val="000000">
                <a:alpha val="7843"/>
              </a:srgbClr>
            </a:outerShdw>
          </a:effectLst>
        </p:spPr>
        <p:txBody>
          <a:bodyPr anchorCtr="0" anchor="ctr" bIns="1500" lIns="1500" spcFirstLastPara="1" rIns="1500" wrap="square" tIns="15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  <a:endParaRPr b="0" i="0" sz="15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8"/>
          <p:cNvSpPr/>
          <p:nvPr/>
        </p:nvSpPr>
        <p:spPr>
          <a:xfrm>
            <a:off x="5751576" y="2615184"/>
            <a:ext cx="1600200" cy="438912"/>
          </a:xfrm>
          <a:prstGeom prst="rect">
            <a:avLst/>
          </a:prstGeom>
          <a:solidFill>
            <a:srgbClr val="FFFFFF"/>
          </a:solidFill>
          <a:ln cap="flat" cmpd="sng" w="15225">
            <a:solidFill>
              <a:srgbClr val="1B7F89"/>
            </a:solidFill>
            <a:prstDash val="solid"/>
            <a:round/>
            <a:headEnd len="sm" w="sm" type="none"/>
            <a:tailEnd len="sm" w="sm" type="none"/>
          </a:ln>
          <a:effectLst>
            <a:outerShdw blurRad="25400" rotWithShape="0" algn="bl" dir="2700000" dist="12700">
              <a:srgbClr val="000000">
                <a:alpha val="7843"/>
              </a:srgbClr>
            </a:outerShdw>
          </a:effectLst>
        </p:spPr>
        <p:txBody>
          <a:bodyPr anchorCtr="0" anchor="ctr" bIns="1500" lIns="1500" spcFirstLastPara="1" rIns="1500" wrap="square" tIns="15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250"/>
              <a:buFont typeface="Arial"/>
              <a:buNone/>
            </a:pPr>
            <a:r>
              <a:rPr b="1" i="0" lang="en-US" sz="125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Ablation</a:t>
            </a:r>
            <a:endParaRPr b="0" i="0" sz="12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2" name="Google Shape;182;p8"/>
          <p:cNvSpPr/>
          <p:nvPr/>
        </p:nvSpPr>
        <p:spPr>
          <a:xfrm>
            <a:off x="5248656" y="3273552"/>
            <a:ext cx="214884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250" lIns="250" spcFirstLastPara="1" rIns="250" wrap="square" tIns="25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9656F"/>
              </a:buClr>
              <a:buSzPts val="1120"/>
              <a:buFont typeface="Arial"/>
              <a:buNone/>
            </a:pPr>
            <a:r>
              <a:rPr b="0" i="0" lang="en-US" sz="1120" u="none" cap="none" strike="noStrike">
                <a:solidFill>
                  <a:srgbClr val="59656F"/>
                </a:solidFill>
                <a:latin typeface="Arial"/>
                <a:ea typeface="Arial"/>
                <a:cs typeface="Arial"/>
                <a:sym typeface="Arial"/>
              </a:rPr>
              <a:t>Full reasoner vs. condition-blind variant</a:t>
            </a:r>
            <a:endParaRPr b="0" i="0" sz="112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3" name="Google Shape;183;p8"/>
          <p:cNvSpPr/>
          <p:nvPr/>
        </p:nvSpPr>
        <p:spPr>
          <a:xfrm>
            <a:off x="7461504" y="2770632"/>
            <a:ext cx="411480" cy="411480"/>
          </a:xfrm>
          <a:prstGeom prst="rect">
            <a:avLst/>
          </a:prstGeom>
          <a:solidFill>
            <a:srgbClr val="E8B14D"/>
          </a:solidFill>
          <a:ln cap="flat" cmpd="sng" w="15225">
            <a:solidFill>
              <a:srgbClr val="E8B14D"/>
            </a:solidFill>
            <a:prstDash val="solid"/>
            <a:round/>
            <a:headEnd len="sm" w="sm" type="none"/>
            <a:tailEnd len="sm" w="sm" type="none"/>
          </a:ln>
          <a:effectLst>
            <a:outerShdw blurRad="25400" rotWithShape="0" algn="bl" dir="2700000" dist="12700">
              <a:srgbClr val="000000">
                <a:alpha val="7843"/>
              </a:srgbClr>
            </a:outerShdw>
          </a:effectLst>
        </p:spPr>
        <p:txBody>
          <a:bodyPr anchorCtr="0" anchor="ctr" bIns="1500" lIns="1500" spcFirstLastPara="1" rIns="1500" wrap="square" tIns="15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  <a:endParaRPr b="0" i="0" sz="15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4" name="Google Shape;184;p8"/>
          <p:cNvSpPr/>
          <p:nvPr/>
        </p:nvSpPr>
        <p:spPr>
          <a:xfrm>
            <a:off x="7964424" y="2615184"/>
            <a:ext cx="1600200" cy="438912"/>
          </a:xfrm>
          <a:prstGeom prst="rect">
            <a:avLst/>
          </a:prstGeom>
          <a:solidFill>
            <a:srgbClr val="FFFFFF"/>
          </a:solidFill>
          <a:ln cap="flat" cmpd="sng" w="15225">
            <a:solidFill>
              <a:srgbClr val="E8B14D"/>
            </a:solidFill>
            <a:prstDash val="solid"/>
            <a:round/>
            <a:headEnd len="sm" w="sm" type="none"/>
            <a:tailEnd len="sm" w="sm" type="none"/>
          </a:ln>
          <a:effectLst>
            <a:outerShdw blurRad="25400" rotWithShape="0" algn="bl" dir="2700000" dist="12700">
              <a:srgbClr val="000000">
                <a:alpha val="7843"/>
              </a:srgbClr>
            </a:outerShdw>
          </a:effectLst>
        </p:spPr>
        <p:txBody>
          <a:bodyPr anchorCtr="0" anchor="ctr" bIns="1500" lIns="1500" spcFirstLastPara="1" rIns="1500" wrap="square" tIns="15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250"/>
              <a:buFont typeface="Arial"/>
              <a:buNone/>
            </a:pPr>
            <a:r>
              <a:rPr b="1" i="0" lang="en-US" sz="125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LLM extraction</a:t>
            </a:r>
            <a:endParaRPr b="0" i="0" sz="12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5" name="Google Shape;185;p8"/>
          <p:cNvSpPr/>
          <p:nvPr/>
        </p:nvSpPr>
        <p:spPr>
          <a:xfrm>
            <a:off x="7461504" y="3273552"/>
            <a:ext cx="214884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250" lIns="250" spcFirstLastPara="1" rIns="250" wrap="square" tIns="25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9656F"/>
              </a:buClr>
              <a:buSzPts val="1120"/>
              <a:buFont typeface="Arial"/>
              <a:buNone/>
            </a:pPr>
            <a:r>
              <a:rPr b="0" i="0" lang="en-US" sz="1120" u="none" cap="none" strike="noStrike">
                <a:solidFill>
                  <a:srgbClr val="59656F"/>
                </a:solidFill>
                <a:latin typeface="Arial"/>
                <a:ea typeface="Arial"/>
                <a:cs typeface="Arial"/>
                <a:sym typeface="Arial"/>
              </a:rPr>
              <a:t>12 real-template statements + out-of-scope tests</a:t>
            </a:r>
            <a:endParaRPr b="0" i="0" sz="112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6" name="Google Shape;186;p8"/>
          <p:cNvSpPr/>
          <p:nvPr/>
        </p:nvSpPr>
        <p:spPr>
          <a:xfrm>
            <a:off x="9674352" y="2770632"/>
            <a:ext cx="411480" cy="411480"/>
          </a:xfrm>
          <a:prstGeom prst="rect">
            <a:avLst/>
          </a:prstGeom>
          <a:solidFill>
            <a:srgbClr val="1B7F89"/>
          </a:solidFill>
          <a:ln cap="flat" cmpd="sng" w="15225">
            <a:solidFill>
              <a:srgbClr val="1B7F89"/>
            </a:solidFill>
            <a:prstDash val="solid"/>
            <a:round/>
            <a:headEnd len="sm" w="sm" type="none"/>
            <a:tailEnd len="sm" w="sm" type="none"/>
          </a:ln>
          <a:effectLst>
            <a:outerShdw blurRad="25400" rotWithShape="0" algn="bl" dir="2700000" dist="12700">
              <a:srgbClr val="000000">
                <a:alpha val="7843"/>
              </a:srgbClr>
            </a:outerShdw>
          </a:effectLst>
        </p:spPr>
        <p:txBody>
          <a:bodyPr anchorCtr="0" anchor="ctr" bIns="1500" lIns="1500" spcFirstLastPara="1" rIns="1500" wrap="square" tIns="15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15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7" name="Google Shape;187;p8"/>
          <p:cNvSpPr/>
          <p:nvPr/>
        </p:nvSpPr>
        <p:spPr>
          <a:xfrm>
            <a:off x="10177272" y="2615184"/>
            <a:ext cx="1600200" cy="438912"/>
          </a:xfrm>
          <a:prstGeom prst="rect">
            <a:avLst/>
          </a:prstGeom>
          <a:solidFill>
            <a:srgbClr val="FFFFFF"/>
          </a:solidFill>
          <a:ln cap="flat" cmpd="sng" w="15225">
            <a:solidFill>
              <a:srgbClr val="1B7F89"/>
            </a:solidFill>
            <a:prstDash val="solid"/>
            <a:round/>
            <a:headEnd len="sm" w="sm" type="none"/>
            <a:tailEnd len="sm" w="sm" type="none"/>
          </a:ln>
          <a:effectLst>
            <a:outerShdw blurRad="25400" rotWithShape="0" algn="bl" dir="2700000" dist="12700">
              <a:srgbClr val="000000">
                <a:alpha val="7843"/>
              </a:srgbClr>
            </a:outerShdw>
          </a:effectLst>
        </p:spPr>
        <p:txBody>
          <a:bodyPr anchorCtr="0" anchor="ctr" bIns="1500" lIns="1500" spcFirstLastPara="1" rIns="1500" wrap="square" tIns="15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250"/>
              <a:buFont typeface="Arial"/>
              <a:buNone/>
            </a:pPr>
            <a:r>
              <a:rPr b="1" i="0" lang="en-US" sz="125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Mapping + expert review</a:t>
            </a:r>
            <a:endParaRPr b="0" i="0" sz="12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8" name="Google Shape;188;p8"/>
          <p:cNvSpPr/>
          <p:nvPr/>
        </p:nvSpPr>
        <p:spPr>
          <a:xfrm>
            <a:off x="9674352" y="3273552"/>
            <a:ext cx="214884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250" lIns="250" spcFirstLastPara="1" rIns="250" wrap="square" tIns="25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9656F"/>
              </a:buClr>
              <a:buSzPts val="1120"/>
              <a:buFont typeface="Arial"/>
              <a:buNone/>
            </a:pPr>
            <a:r>
              <a:rPr b="0" i="0" lang="en-US" sz="1120" u="none" cap="none" strike="noStrike">
                <a:solidFill>
                  <a:srgbClr val="59656F"/>
                </a:solidFill>
                <a:latin typeface="Arial"/>
                <a:ea typeface="Arial"/>
                <a:cs typeface="Arial"/>
                <a:sym typeface="Arial"/>
              </a:rPr>
              <a:t>12 directive profiles → code status/POLST; ethics review</a:t>
            </a:r>
            <a:endParaRPr b="0" i="0" sz="112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9" name="Google Shape;189;p8"/>
          <p:cNvSpPr/>
          <p:nvPr/>
        </p:nvSpPr>
        <p:spPr>
          <a:xfrm>
            <a:off x="1143000" y="4983480"/>
            <a:ext cx="950976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Gold standards were human-defined for vignette decisions and grounded in POLST semantics for code-status mapping.</a:t>
            </a:r>
            <a:endParaRPr b="0" i="0" sz="15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0" name="Google Shape;190;p8"/>
          <p:cNvSpPr/>
          <p:nvPr/>
        </p:nvSpPr>
        <p:spPr>
          <a:xfrm>
            <a:off x="1920240" y="5468112"/>
            <a:ext cx="795528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9656F"/>
              </a:buClr>
              <a:buSzPts val="1350"/>
              <a:buFont typeface="Arial"/>
              <a:buNone/>
            </a:pPr>
            <a:r>
              <a:rPr b="0" i="0" lang="en-US" sz="1350" u="none" cap="none" strike="noStrike">
                <a:solidFill>
                  <a:srgbClr val="59656F"/>
                </a:solidFill>
                <a:latin typeface="Arial"/>
                <a:ea typeface="Arial"/>
                <a:cs typeface="Arial"/>
                <a:sym typeface="Arial"/>
              </a:rPr>
              <a:t>The ablation isolates whether activation-condition modeling actually changes decisions.</a:t>
            </a:r>
            <a:endParaRPr b="0" i="0" sz="13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91" name="Picture 190" descr="vignette_match_typ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0" y="1097280"/>
            <a:ext cx="4114800" cy="3788660"/>
          </a:xfrm>
          <a:prstGeom prst="rect">
            <a:avLst/>
          </a:prstGeom>
        </p:spPr>
      </p:pic>
      <p:pic>
        <p:nvPicPr>
          <p:cNvPr id="192" name="Picture 19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8079" y="1051560"/>
            <a:ext cx="3931920" cy="3620275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BF7EF"/>
        </a:solidFill>
      </p:bgPr>
    </p:bg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9"/>
          <p:cNvSpPr/>
          <p:nvPr/>
        </p:nvSpPr>
        <p:spPr>
          <a:xfrm>
            <a:off x="685800" y="438912"/>
            <a:ext cx="71323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B7F89"/>
              </a:buClr>
              <a:buSzPts val="850"/>
              <a:buFont typeface="Arial"/>
              <a:buNone/>
            </a:pPr>
            <a:r>
              <a:rPr b="1" i="0" lang="en-US" sz="850" u="none" cap="none" strike="noStrike">
                <a:solidFill>
                  <a:srgbClr val="1B7F89"/>
                </a:solidFill>
                <a:latin typeface="Arial"/>
                <a:ea typeface="Arial"/>
                <a:cs typeface="Arial"/>
                <a:sym typeface="Arial"/>
              </a:rPr>
              <a:t>QUANTITATIVE EVALUATION</a:t>
            </a:r>
            <a:endParaRPr b="0" i="0" sz="8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7" name="Google Shape;197;p9"/>
          <p:cNvSpPr/>
          <p:nvPr/>
        </p:nvSpPr>
        <p:spPr>
          <a:xfrm>
            <a:off x="658368" y="713232"/>
            <a:ext cx="10607040" cy="53035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3000"/>
              <a:buFont typeface="Arial"/>
              <a:buNone/>
            </a:pPr>
            <a:r>
              <a:rPr b="1" i="0" lang="en-US" sz="30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Results: high fidelity, with conditionality doing real work</a:t>
            </a:r>
            <a:endParaRPr b="0" i="0" sz="3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98" name="Google Shape;198;p9"/>
          <p:cNvCxnSpPr/>
          <p:nvPr/>
        </p:nvCxnSpPr>
        <p:spPr>
          <a:xfrm>
            <a:off x="685800" y="1389888"/>
            <a:ext cx="3200400" cy="0"/>
          </a:xfrm>
          <a:prstGeom prst="straightConnector1">
            <a:avLst/>
          </a:prstGeom>
          <a:noFill/>
          <a:ln cap="flat" cmpd="sng" w="27925">
            <a:solidFill>
              <a:srgbClr val="E8B14D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99" name="Google Shape;199;p9"/>
          <p:cNvCxnSpPr/>
          <p:nvPr/>
        </p:nvCxnSpPr>
        <p:spPr>
          <a:xfrm>
            <a:off x="594360" y="6473952"/>
            <a:ext cx="11000232" cy="0"/>
          </a:xfrm>
          <a:prstGeom prst="straightConnector1">
            <a:avLst/>
          </a:prstGeom>
          <a:noFill/>
          <a:ln cap="flat" cmpd="sng" w="9525">
            <a:solidFill>
              <a:srgbClr val="D8DFE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00" name="Google Shape;200;p9"/>
          <p:cNvSpPr/>
          <p:nvPr/>
        </p:nvSpPr>
        <p:spPr>
          <a:xfrm>
            <a:off x="658368" y="6556248"/>
            <a:ext cx="71323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767C"/>
              </a:buClr>
              <a:buSzPts val="750"/>
              <a:buFont typeface="Arial"/>
              <a:buNone/>
            </a:pPr>
            <a:r>
              <a:rPr b="0" i="0" lang="en-US" sz="750" u="none" cap="none" strike="noStrike">
                <a:solidFill>
                  <a:srgbClr val="6B767C"/>
                </a:solidFill>
                <a:latin typeface="Arial"/>
                <a:ea typeface="Arial"/>
                <a:cs typeface="Arial"/>
                <a:sym typeface="Arial"/>
              </a:rPr>
              <a:t>Advance Directive Ontology (ADO)  |  BMDS 210 / CS 270</a:t>
            </a:r>
            <a:endParaRPr b="0" i="0" sz="7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" name="Google Shape;201;p9"/>
          <p:cNvSpPr/>
          <p:nvPr/>
        </p:nvSpPr>
        <p:spPr>
          <a:xfrm>
            <a:off x="11201400" y="6556248"/>
            <a:ext cx="3657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B767C"/>
              </a:buClr>
              <a:buSzPts val="750"/>
              <a:buFont typeface="Arial"/>
              <a:buNone/>
            </a:pPr>
            <a:r>
              <a:rPr b="0" i="0" lang="en-US" sz="750" u="none" cap="none" strike="noStrike">
                <a:solidFill>
                  <a:srgbClr val="6B767C"/>
                </a:solidFill>
                <a:latin typeface="Arial"/>
                <a:ea typeface="Arial"/>
                <a:cs typeface="Arial"/>
                <a:sym typeface="Arial"/>
              </a:rPr>
              <a:t>9</a:t>
            </a:r>
            <a:endParaRPr b="0" i="0" sz="7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2" name="Google Shape;202;p9"/>
          <p:cNvSpPr/>
          <p:nvPr/>
        </p:nvSpPr>
        <p:spPr>
          <a:xfrm>
            <a:off x="777240" y="1847088"/>
            <a:ext cx="201168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B7F89"/>
              </a:buClr>
              <a:buSzPts val="2900"/>
              <a:buFont typeface="Arial"/>
              <a:buNone/>
            </a:pPr>
            <a:r>
              <a:rPr b="1" i="0" lang="en-US" sz="2900" u="none" cap="none" strike="noStrike">
                <a:solidFill>
                  <a:srgbClr val="1B7F89"/>
                </a:solidFill>
                <a:latin typeface="Arial"/>
                <a:ea typeface="Arial"/>
                <a:cs typeface="Arial"/>
                <a:sym typeface="Arial"/>
              </a:rPr>
              <a:t>16/16</a:t>
            </a:r>
            <a:endParaRPr b="0" i="0" sz="2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3" name="Google Shape;203;p9"/>
          <p:cNvSpPr/>
          <p:nvPr/>
        </p:nvSpPr>
        <p:spPr>
          <a:xfrm>
            <a:off x="777240" y="2368296"/>
            <a:ext cx="201168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250" lIns="250" spcFirstLastPara="1" rIns="250" wrap="square" tIns="25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9656F"/>
              </a:buClr>
              <a:buSzPts val="1150"/>
              <a:buFont typeface="Arial"/>
              <a:buNone/>
            </a:pPr>
            <a:r>
              <a:rPr b="0" i="0" lang="en-US" sz="1150" u="none" cap="none" strike="noStrike">
                <a:solidFill>
                  <a:srgbClr val="59656F"/>
                </a:solidFill>
                <a:latin typeface="Arial"/>
                <a:ea typeface="Arial"/>
                <a:cs typeface="Arial"/>
                <a:sym typeface="Arial"/>
              </a:rPr>
              <a:t>vignette decision accuracy</a:t>
            </a:r>
            <a:endParaRPr b="0" i="0" sz="11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4" name="Google Shape;204;p9"/>
          <p:cNvSpPr/>
          <p:nvPr/>
        </p:nvSpPr>
        <p:spPr>
          <a:xfrm>
            <a:off x="2926080" y="1847088"/>
            <a:ext cx="18288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38A6A5"/>
              </a:buClr>
              <a:buSzPts val="2900"/>
              <a:buFont typeface="Arial"/>
              <a:buNone/>
            </a:pPr>
            <a:r>
              <a:rPr b="1" i="0" lang="en-US" sz="2900" u="none" cap="none" strike="noStrike">
                <a:solidFill>
                  <a:srgbClr val="38A6A5"/>
                </a:solidFill>
                <a:latin typeface="Arial"/>
                <a:ea typeface="Arial"/>
                <a:cs typeface="Arial"/>
                <a:sym typeface="Arial"/>
              </a:rPr>
              <a:t>16/16</a:t>
            </a:r>
            <a:endParaRPr b="0" i="0" sz="2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5" name="Google Shape;205;p9"/>
          <p:cNvSpPr/>
          <p:nvPr/>
        </p:nvSpPr>
        <p:spPr>
          <a:xfrm>
            <a:off x="2926080" y="2368296"/>
            <a:ext cx="182880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250" lIns="250" spcFirstLastPara="1" rIns="250" wrap="square" tIns="25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9656F"/>
              </a:buClr>
              <a:buSzPts val="1150"/>
              <a:buFont typeface="Arial"/>
              <a:buNone/>
            </a:pPr>
            <a:r>
              <a:rPr b="0" i="0" lang="en-US" sz="1150" u="none" cap="none" strike="noStrike">
                <a:solidFill>
                  <a:srgbClr val="59656F"/>
                </a:solidFill>
                <a:latin typeface="Arial"/>
                <a:ea typeface="Arial"/>
                <a:cs typeface="Arial"/>
                <a:sym typeface="Arial"/>
              </a:rPr>
              <a:t>match-type accuracy</a:t>
            </a:r>
            <a:endParaRPr b="0" i="0" sz="11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6" name="Google Shape;206;p9"/>
          <p:cNvSpPr/>
          <p:nvPr/>
        </p:nvSpPr>
        <p:spPr>
          <a:xfrm>
            <a:off x="4983480" y="1847088"/>
            <a:ext cx="150876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E8B14D"/>
              </a:buClr>
              <a:buSzPts val="2900"/>
              <a:buFont typeface="Arial"/>
              <a:buNone/>
            </a:pPr>
            <a:r>
              <a:rPr b="1" i="0" lang="en-US" sz="2900" u="none" cap="none" strike="noStrike">
                <a:solidFill>
                  <a:srgbClr val="E8B14D"/>
                </a:solidFill>
                <a:latin typeface="Arial"/>
                <a:ea typeface="Arial"/>
                <a:cs typeface="Arial"/>
                <a:sym typeface="Arial"/>
              </a:rPr>
              <a:t>0.97</a:t>
            </a:r>
            <a:endParaRPr b="0" i="0" sz="2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7" name="Google Shape;207;p9"/>
          <p:cNvSpPr/>
          <p:nvPr/>
        </p:nvSpPr>
        <p:spPr>
          <a:xfrm>
            <a:off x="4983480" y="2368296"/>
            <a:ext cx="150876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250" lIns="250" spcFirstLastPara="1" rIns="250" wrap="square" tIns="25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9656F"/>
              </a:buClr>
              <a:buSzPts val="1150"/>
              <a:buFont typeface="Arial"/>
              <a:buNone/>
            </a:pPr>
            <a:r>
              <a:rPr b="0" i="0" lang="en-US" sz="1150" u="none" cap="none" strike="noStrike">
                <a:solidFill>
                  <a:srgbClr val="59656F"/>
                </a:solidFill>
                <a:latin typeface="Arial"/>
                <a:ea typeface="Arial"/>
                <a:cs typeface="Arial"/>
                <a:sym typeface="Arial"/>
              </a:rPr>
              <a:t>LLM extraction F1</a:t>
            </a:r>
            <a:endParaRPr b="0" i="0" sz="11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8" name="Google Shape;208;p9"/>
          <p:cNvSpPr/>
          <p:nvPr/>
        </p:nvSpPr>
        <p:spPr>
          <a:xfrm>
            <a:off x="6858000" y="1847088"/>
            <a:ext cx="210312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D76F5D"/>
              </a:buClr>
              <a:buSzPts val="2900"/>
              <a:buFont typeface="Arial"/>
              <a:buNone/>
            </a:pPr>
            <a:r>
              <a:rPr b="1" i="0" lang="en-US" sz="2900" u="none" cap="none" strike="noStrike">
                <a:solidFill>
                  <a:srgbClr val="D76F5D"/>
                </a:solidFill>
                <a:latin typeface="Arial"/>
                <a:ea typeface="Arial"/>
                <a:cs typeface="Arial"/>
                <a:sym typeface="Arial"/>
              </a:rPr>
              <a:t>35/36</a:t>
            </a:r>
            <a:endParaRPr b="0" i="0" sz="2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9" name="Google Shape;209;p9"/>
          <p:cNvSpPr/>
          <p:nvPr/>
        </p:nvSpPr>
        <p:spPr>
          <a:xfrm>
            <a:off x="6858000" y="2368296"/>
            <a:ext cx="210312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250" lIns="250" spcFirstLastPara="1" rIns="250" wrap="square" tIns="25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9656F"/>
              </a:buClr>
              <a:buSzPts val="1150"/>
              <a:buFont typeface="Arial"/>
              <a:buNone/>
            </a:pPr>
            <a:r>
              <a:rPr b="0" i="0" lang="en-US" sz="1150" u="none" cap="none" strike="noStrike">
                <a:solidFill>
                  <a:srgbClr val="59656F"/>
                </a:solidFill>
                <a:latin typeface="Arial"/>
                <a:ea typeface="Arial"/>
                <a:cs typeface="Arial"/>
                <a:sym typeface="Arial"/>
              </a:rPr>
              <a:t>code/POLST field agreement</a:t>
            </a:r>
            <a:endParaRPr b="0" i="0" sz="11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0" name="Google Shape;210;p9"/>
          <p:cNvSpPr/>
          <p:nvPr/>
        </p:nvSpPr>
        <p:spPr>
          <a:xfrm>
            <a:off x="9144000" y="1847088"/>
            <a:ext cx="192024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r>
              <a:t>κ=1.00 / 1.00 / 0.88</a:t>
            </a:r>
          </a:p>
        </p:txBody>
      </p:sp>
      <p:sp>
        <p:nvSpPr>
          <p:cNvPr id="211" name="Google Shape;211;p9"/>
          <p:cNvSpPr/>
          <p:nvPr/>
        </p:nvSpPr>
        <p:spPr>
          <a:xfrm>
            <a:off x="9144000" y="2368296"/>
            <a:ext cx="192024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250" lIns="250" spcFirstLastPara="1" rIns="250" wrap="square" tIns="250">
            <a:normAutofit/>
          </a:bodyPr>
          <a:lstStyle/>
          <a:p>
            <a:r>
              <a:t>code / POLST A / POLST B</a:t>
            </a:r>
          </a:p>
        </p:txBody>
      </p:sp>
      <p:sp>
        <p:nvSpPr>
          <p:cNvPr id="212" name="Google Shape;212;p9"/>
          <p:cNvSpPr/>
          <p:nvPr/>
        </p:nvSpPr>
        <p:spPr>
          <a:xfrm>
            <a:off x="1234440" y="3611880"/>
            <a:ext cx="3200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Reasoner ablation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3" name="Google Shape;213;p9"/>
          <p:cNvSpPr/>
          <p:nvPr/>
        </p:nvSpPr>
        <p:spPr>
          <a:xfrm>
            <a:off x="1234440" y="4023360"/>
            <a:ext cx="13716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9656F"/>
              </a:buClr>
              <a:buSzPts val="1100"/>
              <a:buFont typeface="Arial"/>
              <a:buNone/>
            </a:pPr>
            <a:r>
              <a:rPr b="0" i="0" lang="en-US" sz="1100" u="none" cap="none" strike="noStrike">
                <a:solidFill>
                  <a:srgbClr val="59656F"/>
                </a:solidFill>
                <a:latin typeface="Arial"/>
                <a:ea typeface="Arial"/>
                <a:cs typeface="Arial"/>
                <a:sym typeface="Arial"/>
              </a:rPr>
              <a:t>Full reasoner</a:t>
            </a:r>
            <a:endParaRPr b="0" i="0" sz="11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4" name="Google Shape;214;p9"/>
          <p:cNvSpPr/>
          <p:nvPr/>
        </p:nvSpPr>
        <p:spPr>
          <a:xfrm>
            <a:off x="2697480" y="4023360"/>
            <a:ext cx="3108960" cy="320040"/>
          </a:xfrm>
          <a:prstGeom prst="rect">
            <a:avLst/>
          </a:prstGeom>
          <a:solidFill>
            <a:srgbClr val="1B7F89"/>
          </a:solidFill>
          <a:ln cap="flat" cmpd="sng" w="12700">
            <a:solidFill>
              <a:srgbClr val="1B7F8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9"/>
          <p:cNvSpPr/>
          <p:nvPr/>
        </p:nvSpPr>
        <p:spPr>
          <a:xfrm>
            <a:off x="5916168" y="4059936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  <a:endParaRPr b="0" i="0" sz="11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6" name="Google Shape;216;p9"/>
          <p:cNvSpPr/>
          <p:nvPr/>
        </p:nvSpPr>
        <p:spPr>
          <a:xfrm>
            <a:off x="1234440" y="4590288"/>
            <a:ext cx="141732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9656F"/>
              </a:buClr>
              <a:buSzPts val="1100"/>
              <a:buFont typeface="Arial"/>
              <a:buNone/>
            </a:pPr>
            <a:r>
              <a:rPr b="0" i="0" lang="en-US" sz="1100" u="none" cap="none" strike="noStrike">
                <a:solidFill>
                  <a:srgbClr val="59656F"/>
                </a:solidFill>
                <a:latin typeface="Arial"/>
                <a:ea typeface="Arial"/>
                <a:cs typeface="Arial"/>
                <a:sym typeface="Arial"/>
              </a:rPr>
              <a:t>Condition-blind</a:t>
            </a:r>
            <a:endParaRPr b="0" i="0" sz="11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7" name="Google Shape;217;p9"/>
          <p:cNvSpPr/>
          <p:nvPr/>
        </p:nvSpPr>
        <p:spPr>
          <a:xfrm>
            <a:off x="2697480" y="4590288"/>
            <a:ext cx="2331720" cy="320040"/>
          </a:xfrm>
          <a:prstGeom prst="rect">
            <a:avLst/>
          </a:prstGeom>
          <a:solidFill>
            <a:srgbClr val="D76F5D"/>
          </a:solidFill>
          <a:ln cap="flat" cmpd="sng" w="12700">
            <a:solidFill>
              <a:srgbClr val="D76F5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8" name="Google Shape;218;p9"/>
          <p:cNvSpPr/>
          <p:nvPr/>
        </p:nvSpPr>
        <p:spPr>
          <a:xfrm>
            <a:off x="5138928" y="4626864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  <a:endParaRPr b="0" i="0" sz="11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9" name="Google Shape;219;p9"/>
          <p:cNvSpPr/>
          <p:nvPr/>
        </p:nvSpPr>
        <p:spPr>
          <a:xfrm>
            <a:off x="6565392" y="3886200"/>
            <a:ext cx="4160520" cy="6583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r>
              <a:t>Post-hoc ablation: ignore activation conditions on the same 16 vignettes → 12/16 (75%). All four errors are conditional/partial cases.</a:t>
            </a:r>
          </a:p>
        </p:txBody>
      </p:sp>
      <p:sp>
        <p:nvSpPr>
          <p:cNvPr id="220" name="Google Shape;220;p9"/>
          <p:cNvSpPr/>
          <p:nvPr/>
        </p:nvSpPr>
        <p:spPr>
          <a:xfrm>
            <a:off x="2743200" y="5559552"/>
            <a:ext cx="6766560" cy="384048"/>
          </a:xfrm>
          <a:prstGeom prst="rect">
            <a:avLst/>
          </a:prstGeom>
          <a:solidFill>
            <a:srgbClr val="11364A"/>
          </a:solidFill>
          <a:ln cap="flat" cmpd="sng" w="9525">
            <a:solidFill>
              <a:srgbClr val="11364A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50" lIns="750" spcFirstLastPara="1" rIns="750" wrap="square" tIns="75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Key finding: conditional logic prevents dangerous over-reading</a:t>
            </a:r>
            <a:endParaRPr b="0" i="0" sz="15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1" name="TextBox 220"/>
          <p:cNvSpPr txBox="1"/>
          <p:nvPr/>
        </p:nvSpPr>
        <p:spPr>
          <a:xfrm>
            <a:off x="411480" y="5989320"/>
            <a:ext cx="11338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/>
            </a:pPr>
            <a:r>
              <a:t>Also: extraction P/R = 0.94 / 1.00 • 0 out-of-scope hallucinations • 11/12 profiles exact match on all three bedside fields</a:t>
            </a:r>
          </a:p>
        </p:txBody>
      </p:sp>
      <p:pic>
        <p:nvPicPr>
          <p:cNvPr id="222" name="Picture 221" descr="eval_overvie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234440"/>
            <a:ext cx="5486400" cy="2843797"/>
          </a:xfrm>
          <a:prstGeom prst="rect">
            <a:avLst/>
          </a:prstGeom>
        </p:spPr>
      </p:pic>
      <p:pic>
        <p:nvPicPr>
          <p:cNvPr id="223" name="Picture 222" descr="ablation_condition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17920" y="3703320"/>
            <a:ext cx="5486400" cy="3624758"/>
          </a:xfrm>
          <a:prstGeom prst="rect">
            <a:avLst/>
          </a:prstGeom>
        </p:spPr>
      </p:pic>
      <p:pic>
        <p:nvPicPr>
          <p:cNvPr id="224" name="Picture 223" descr="eval_overvie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26480" y="1097280"/>
            <a:ext cx="5577840" cy="2854953"/>
          </a:xfrm>
          <a:prstGeom prst="rect">
            <a:avLst/>
          </a:prstGeom>
        </p:spPr>
      </p:pic>
      <p:pic>
        <p:nvPicPr>
          <p:cNvPr id="225" name="Picture 224" descr="ablation_condition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26480" y="3611880"/>
            <a:ext cx="5577840" cy="3251802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BF7EF"/>
        </a:solidFill>
      </p:bgPr>
    </p:bg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10"/>
          <p:cNvSpPr/>
          <p:nvPr/>
        </p:nvSpPr>
        <p:spPr>
          <a:xfrm>
            <a:off x="685800" y="438912"/>
            <a:ext cx="71323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B7F89"/>
              </a:buClr>
              <a:buSzPts val="850"/>
              <a:buFont typeface="Arial"/>
              <a:buNone/>
            </a:pPr>
            <a:r>
              <a:rPr b="1" i="0" lang="en-US" sz="850" u="none" cap="none" strike="noStrike">
                <a:solidFill>
                  <a:srgbClr val="1B7F89"/>
                </a:solidFill>
                <a:latin typeface="Arial"/>
                <a:ea typeface="Arial"/>
                <a:cs typeface="Arial"/>
                <a:sym typeface="Arial"/>
              </a:rPr>
              <a:t>EXAMPLE DECISION LOGIC</a:t>
            </a:r>
            <a:endParaRPr b="0" i="0" sz="8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7" name="Google Shape;227;p10"/>
          <p:cNvSpPr/>
          <p:nvPr/>
        </p:nvSpPr>
        <p:spPr>
          <a:xfrm>
            <a:off x="658368" y="713232"/>
            <a:ext cx="10607040" cy="53035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3000"/>
              <a:buFont typeface="Arial"/>
              <a:buNone/>
            </a:pPr>
            <a:r>
              <a:rPr b="1" i="0" lang="en-US" sz="30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What conditional reasoning changes</a:t>
            </a:r>
            <a:endParaRPr b="0" i="0" sz="3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228" name="Google Shape;228;p10"/>
          <p:cNvCxnSpPr/>
          <p:nvPr/>
        </p:nvCxnSpPr>
        <p:spPr>
          <a:xfrm>
            <a:off x="685800" y="1389888"/>
            <a:ext cx="3200400" cy="0"/>
          </a:xfrm>
          <a:prstGeom prst="straightConnector1">
            <a:avLst/>
          </a:prstGeom>
          <a:noFill/>
          <a:ln cap="flat" cmpd="sng" w="27925">
            <a:solidFill>
              <a:srgbClr val="E8B14D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229" name="Google Shape;229;p10"/>
          <p:cNvCxnSpPr/>
          <p:nvPr/>
        </p:nvCxnSpPr>
        <p:spPr>
          <a:xfrm>
            <a:off x="594360" y="6473952"/>
            <a:ext cx="11000232" cy="0"/>
          </a:xfrm>
          <a:prstGeom prst="straightConnector1">
            <a:avLst/>
          </a:prstGeom>
          <a:noFill/>
          <a:ln cap="flat" cmpd="sng" w="9525">
            <a:solidFill>
              <a:srgbClr val="D8DFE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0" name="Google Shape;230;p10"/>
          <p:cNvSpPr/>
          <p:nvPr/>
        </p:nvSpPr>
        <p:spPr>
          <a:xfrm>
            <a:off x="658368" y="6556248"/>
            <a:ext cx="71323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767C"/>
              </a:buClr>
              <a:buSzPts val="750"/>
              <a:buFont typeface="Arial"/>
              <a:buNone/>
            </a:pPr>
            <a:r>
              <a:rPr b="0" i="0" lang="en-US" sz="750" u="none" cap="none" strike="noStrike">
                <a:solidFill>
                  <a:srgbClr val="6B767C"/>
                </a:solidFill>
                <a:latin typeface="Arial"/>
                <a:ea typeface="Arial"/>
                <a:cs typeface="Arial"/>
                <a:sym typeface="Arial"/>
              </a:rPr>
              <a:t>Advance Directive Ontology (ADO)  |  BMDS 210 / CS 270</a:t>
            </a:r>
            <a:endParaRPr b="0" i="0" sz="7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1" name="Google Shape;231;p10"/>
          <p:cNvSpPr/>
          <p:nvPr/>
        </p:nvSpPr>
        <p:spPr>
          <a:xfrm>
            <a:off x="11201400" y="6556248"/>
            <a:ext cx="3657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B767C"/>
              </a:buClr>
              <a:buSzPts val="750"/>
              <a:buFont typeface="Arial"/>
              <a:buNone/>
            </a:pPr>
            <a:r>
              <a:rPr b="0" i="0" lang="en-US" sz="750" u="none" cap="none" strike="noStrike">
                <a:solidFill>
                  <a:srgbClr val="6B767C"/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  <a:endParaRPr b="0" i="0" sz="7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2" name="Google Shape;232;p10"/>
          <p:cNvSpPr/>
          <p:nvPr/>
        </p:nvSpPr>
        <p:spPr>
          <a:xfrm>
            <a:off x="713232" y="1627632"/>
            <a:ext cx="1005840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9656F"/>
              </a:buClr>
              <a:buSzPts val="1700"/>
              <a:buFont typeface="Arial"/>
              <a:buNone/>
            </a:pPr>
            <a:r>
              <a:rPr b="0" i="0" lang="en-US" sz="1700" u="none" cap="none" strike="noStrike">
                <a:solidFill>
                  <a:srgbClr val="59656F"/>
                </a:solidFill>
                <a:latin typeface="Arial"/>
                <a:ea typeface="Arial"/>
                <a:cs typeface="Arial"/>
                <a:sym typeface="Arial"/>
              </a:rPr>
              <a:t>The same directive can map to different bedside outputs depending on the scenario. ADO keeps that conditionality explicit.</a:t>
            </a:r>
            <a:endParaRPr b="0" i="0" sz="17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3" name="Google Shape;233;p10"/>
          <p:cNvSpPr/>
          <p:nvPr/>
        </p:nvSpPr>
        <p:spPr>
          <a:xfrm>
            <a:off x="3401568" y="2331720"/>
            <a:ext cx="5394960" cy="777240"/>
          </a:xfrm>
          <a:prstGeom prst="rect">
            <a:avLst/>
          </a:prstGeom>
          <a:solidFill>
            <a:srgbClr val="FFF9EA"/>
          </a:solidFill>
          <a:ln cap="flat" cmpd="sng" w="15225">
            <a:solidFill>
              <a:srgbClr val="E8B14D"/>
            </a:solidFill>
            <a:prstDash val="solid"/>
            <a:round/>
            <a:headEnd len="sm" w="sm" type="none"/>
            <a:tailEnd len="sm" w="sm" type="none"/>
          </a:ln>
          <a:effectLst>
            <a:outerShdw blurRad="25400" rotWithShape="0" algn="bl" dir="2700000" dist="12700">
              <a:srgbClr val="000000">
                <a:alpha val="7843"/>
              </a:srgbClr>
            </a:outerShdw>
          </a:effectLst>
        </p:spPr>
        <p:txBody>
          <a:bodyPr anchorCtr="0" anchor="ctr" bIns="1500" lIns="1500" spcFirstLastPara="1" rIns="1500" wrap="square" tIns="15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Directive preference</a:t>
            </a:r>
            <a:endParaRPr b="0" i="0" sz="16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“No CPR if NYHA IV and no reversible cause.”</a:t>
            </a:r>
            <a:endParaRPr b="0" i="0" sz="16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4" name="Google Shape;234;p10"/>
          <p:cNvSpPr/>
          <p:nvPr/>
        </p:nvSpPr>
        <p:spPr>
          <a:xfrm>
            <a:off x="1143000" y="3886200"/>
            <a:ext cx="2971800" cy="658368"/>
          </a:xfrm>
          <a:prstGeom prst="rect">
            <a:avLst/>
          </a:prstGeom>
          <a:solidFill>
            <a:srgbClr val="FFFFFF"/>
          </a:solidFill>
          <a:ln cap="flat" cmpd="sng" w="15225">
            <a:solidFill>
              <a:srgbClr val="1B7F89"/>
            </a:solidFill>
            <a:prstDash val="solid"/>
            <a:round/>
            <a:headEnd len="sm" w="sm" type="none"/>
            <a:tailEnd len="sm" w="sm" type="none"/>
          </a:ln>
          <a:effectLst>
            <a:outerShdw blurRad="25400" rotWithShape="0" algn="bl" dir="2700000" dist="12700">
              <a:srgbClr val="000000">
                <a:alpha val="7843"/>
              </a:srgbClr>
            </a:outerShdw>
          </a:effectLst>
        </p:spPr>
        <p:txBody>
          <a:bodyPr anchorCtr="0" anchor="ctr" bIns="1500" lIns="1500" spcFirstLastPara="1" rIns="1500" wrap="square" tIns="15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Scenario A</a:t>
            </a:r>
            <a:endParaRPr b="0" i="0" sz="13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NYHA IV + no reversible cause</a:t>
            </a:r>
            <a:endParaRPr b="0" i="0" sz="13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5" name="Google Shape;235;p10"/>
          <p:cNvSpPr/>
          <p:nvPr/>
        </p:nvSpPr>
        <p:spPr>
          <a:xfrm>
            <a:off x="1143000" y="4718304"/>
            <a:ext cx="2971800" cy="658368"/>
          </a:xfrm>
          <a:prstGeom prst="rect">
            <a:avLst/>
          </a:prstGeom>
          <a:solidFill>
            <a:srgbClr val="E8F3F2"/>
          </a:solidFill>
          <a:ln cap="flat" cmpd="sng" w="15225">
            <a:solidFill>
              <a:srgbClr val="1B7F89"/>
            </a:solidFill>
            <a:prstDash val="solid"/>
            <a:round/>
            <a:headEnd len="sm" w="sm" type="none"/>
            <a:tailEnd len="sm" w="sm" type="none"/>
          </a:ln>
          <a:effectLst>
            <a:outerShdw blurRad="25400" rotWithShape="0" algn="bl" dir="2700000" dist="12700">
              <a:srgbClr val="000000">
                <a:alpha val="7843"/>
              </a:srgbClr>
            </a:outerShdw>
          </a:effectLst>
        </p:spPr>
        <p:txBody>
          <a:bodyPr anchorCtr="0" anchor="ctr" bIns="1500" lIns="1500" spcFirstLastPara="1" rIns="1500" wrap="square" tIns="15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ADO output</a:t>
            </a:r>
            <a:endParaRPr b="0" i="0" sz="15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DNR / clear match</a:t>
            </a:r>
            <a:endParaRPr b="0" i="0" sz="15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6" name="Google Shape;236;p10"/>
          <p:cNvSpPr/>
          <p:nvPr/>
        </p:nvSpPr>
        <p:spPr>
          <a:xfrm>
            <a:off x="8046720" y="3886200"/>
            <a:ext cx="2971800" cy="658368"/>
          </a:xfrm>
          <a:prstGeom prst="rect">
            <a:avLst/>
          </a:prstGeom>
          <a:solidFill>
            <a:srgbClr val="FFFFFF"/>
          </a:solidFill>
          <a:ln cap="flat" cmpd="sng" w="15225">
            <a:solidFill>
              <a:srgbClr val="D76F5D"/>
            </a:solidFill>
            <a:prstDash val="solid"/>
            <a:round/>
            <a:headEnd len="sm" w="sm" type="none"/>
            <a:tailEnd len="sm" w="sm" type="none"/>
          </a:ln>
          <a:effectLst>
            <a:outerShdw blurRad="25400" rotWithShape="0" algn="bl" dir="2700000" dist="12700">
              <a:srgbClr val="000000">
                <a:alpha val="7843"/>
              </a:srgbClr>
            </a:outerShdw>
          </a:effectLst>
        </p:spPr>
        <p:txBody>
          <a:bodyPr anchorCtr="0" anchor="ctr" bIns="1500" lIns="1500" spcFirstLastPara="1" rIns="1500" wrap="square" tIns="15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Scenario B</a:t>
            </a:r>
            <a:endParaRPr b="0" i="0" sz="13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NYHA III + reversible cause</a:t>
            </a:r>
            <a:endParaRPr b="0" i="0" sz="13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7" name="Google Shape;237;p10"/>
          <p:cNvSpPr/>
          <p:nvPr/>
        </p:nvSpPr>
        <p:spPr>
          <a:xfrm>
            <a:off x="8046720" y="4718304"/>
            <a:ext cx="2971800" cy="658368"/>
          </a:xfrm>
          <a:prstGeom prst="rect">
            <a:avLst/>
          </a:prstGeom>
          <a:solidFill>
            <a:srgbClr val="FCEFEA"/>
          </a:solidFill>
          <a:ln cap="flat" cmpd="sng" w="15225">
            <a:solidFill>
              <a:srgbClr val="D76F5D"/>
            </a:solidFill>
            <a:prstDash val="solid"/>
            <a:round/>
            <a:headEnd len="sm" w="sm" type="none"/>
            <a:tailEnd len="sm" w="sm" type="none"/>
          </a:ln>
          <a:effectLst>
            <a:outerShdw blurRad="25400" rotWithShape="0" algn="bl" dir="2700000" dist="12700">
              <a:srgbClr val="000000">
                <a:alpha val="7843"/>
              </a:srgbClr>
            </a:outerShdw>
          </a:effectLst>
        </p:spPr>
        <p:txBody>
          <a:bodyPr anchorCtr="0" anchor="ctr" bIns="1500" lIns="1500" spcFirstLastPara="1" rIns="1500" wrap="square" tIns="15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ADO output</a:t>
            </a:r>
            <a:endParaRPr b="0" i="0" sz="15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Full code / partial</a:t>
            </a:r>
            <a:endParaRPr b="0" i="0" sz="15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8" name="Google Shape;238;p10"/>
          <p:cNvSpPr/>
          <p:nvPr/>
        </p:nvSpPr>
        <p:spPr>
          <a:xfrm>
            <a:off x="1920240" y="5797296"/>
            <a:ext cx="841248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9656F"/>
              </a:buClr>
              <a:buSzPts val="1450"/>
              <a:buFont typeface="Arial"/>
              <a:buNone/>
            </a:pPr>
            <a:r>
              <a:rPr b="0" i="0" lang="en-US" sz="1450" u="none" cap="none" strike="noStrike">
                <a:solidFill>
                  <a:srgbClr val="59656F"/>
                </a:solidFill>
                <a:latin typeface="Arial"/>
                <a:ea typeface="Arial"/>
                <a:cs typeface="Arial"/>
                <a:sym typeface="Arial"/>
              </a:rPr>
              <a:t>A flat checkbox cannot carry this “if/then” structure; it must either over-apply or discard it.</a:t>
            </a:r>
            <a:endParaRPr b="0" i="0" sz="14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39" name="Picture 238" descr="conditional_p9_p1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0" y="1371600"/>
            <a:ext cx="5303520" cy="2426717"/>
          </a:xfrm>
          <a:prstGeom prst="rect">
            <a:avLst/>
          </a:prstGeom>
        </p:spPr>
      </p:pic>
      <p:pic>
        <p:nvPicPr>
          <p:cNvPr id="240" name="Picture 239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1325880"/>
            <a:ext cx="5394960" cy="2468557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BF7EF"/>
        </a:solidFill>
      </p:bgPr>
    </p:bg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11"/>
          <p:cNvSpPr/>
          <p:nvPr/>
        </p:nvSpPr>
        <p:spPr>
          <a:xfrm>
            <a:off x="685800" y="438912"/>
            <a:ext cx="71323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B7F89"/>
              </a:buClr>
              <a:buSzPts val="850"/>
              <a:buFont typeface="Arial"/>
              <a:buNone/>
            </a:pPr>
            <a:r>
              <a:rPr b="1" i="0" lang="en-US" sz="850" u="none" cap="none" strike="noStrike">
                <a:solidFill>
                  <a:srgbClr val="1B7F89"/>
                </a:solidFill>
                <a:latin typeface="Arial"/>
                <a:ea typeface="Arial"/>
                <a:cs typeface="Arial"/>
                <a:sym typeface="Arial"/>
              </a:rPr>
              <a:t>CLINICAL INTEGRATION</a:t>
            </a:r>
            <a:endParaRPr b="0" i="0" sz="8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5" name="Google Shape;245;p11"/>
          <p:cNvSpPr/>
          <p:nvPr/>
        </p:nvSpPr>
        <p:spPr>
          <a:xfrm>
            <a:off x="658368" y="713232"/>
            <a:ext cx="10607040" cy="53035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3000"/>
              <a:buFont typeface="Arial"/>
              <a:buNone/>
            </a:pPr>
            <a:r>
              <a:rPr b="1" i="0" lang="en-US" sz="30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Best workflow fit: pre-populating an ACP note</a:t>
            </a:r>
            <a:endParaRPr b="0" i="0" sz="3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246" name="Google Shape;246;p11"/>
          <p:cNvCxnSpPr/>
          <p:nvPr/>
        </p:nvCxnSpPr>
        <p:spPr>
          <a:xfrm>
            <a:off x="685800" y="1389888"/>
            <a:ext cx="3200400" cy="0"/>
          </a:xfrm>
          <a:prstGeom prst="straightConnector1">
            <a:avLst/>
          </a:prstGeom>
          <a:noFill/>
          <a:ln cap="flat" cmpd="sng" w="27925">
            <a:solidFill>
              <a:srgbClr val="E8B14D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247" name="Google Shape;247;p11"/>
          <p:cNvCxnSpPr/>
          <p:nvPr/>
        </p:nvCxnSpPr>
        <p:spPr>
          <a:xfrm>
            <a:off x="594360" y="6473952"/>
            <a:ext cx="11000232" cy="0"/>
          </a:xfrm>
          <a:prstGeom prst="straightConnector1">
            <a:avLst/>
          </a:prstGeom>
          <a:noFill/>
          <a:ln cap="flat" cmpd="sng" w="9525">
            <a:solidFill>
              <a:srgbClr val="D8DFE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48" name="Google Shape;248;p11"/>
          <p:cNvSpPr/>
          <p:nvPr/>
        </p:nvSpPr>
        <p:spPr>
          <a:xfrm>
            <a:off x="658368" y="6556248"/>
            <a:ext cx="71323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767C"/>
              </a:buClr>
              <a:buSzPts val="750"/>
              <a:buFont typeface="Arial"/>
              <a:buNone/>
            </a:pPr>
            <a:r>
              <a:rPr b="0" i="0" lang="en-US" sz="750" u="none" cap="none" strike="noStrike">
                <a:solidFill>
                  <a:srgbClr val="6B767C"/>
                </a:solidFill>
                <a:latin typeface="Arial"/>
                <a:ea typeface="Arial"/>
                <a:cs typeface="Arial"/>
                <a:sym typeface="Arial"/>
              </a:rPr>
              <a:t>Advance Directive Ontology (ADO)  |  BMDS 210 / CS 270</a:t>
            </a:r>
            <a:endParaRPr b="0" i="0" sz="7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9" name="Google Shape;249;p11"/>
          <p:cNvSpPr/>
          <p:nvPr/>
        </p:nvSpPr>
        <p:spPr>
          <a:xfrm>
            <a:off x="11201400" y="6556248"/>
            <a:ext cx="3657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B767C"/>
              </a:buClr>
              <a:buSzPts val="750"/>
              <a:buFont typeface="Arial"/>
              <a:buNone/>
            </a:pPr>
            <a:r>
              <a:rPr b="0" i="0" lang="en-US" sz="750" u="none" cap="none" strike="noStrike">
                <a:solidFill>
                  <a:srgbClr val="6B767C"/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  <a:endParaRPr b="0" i="0" sz="7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0" name="Google Shape;250;p11"/>
          <p:cNvSpPr/>
          <p:nvPr/>
        </p:nvSpPr>
        <p:spPr>
          <a:xfrm>
            <a:off x="713232" y="1627632"/>
            <a:ext cx="100584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9656F"/>
              </a:buClr>
              <a:buSzPts val="1700"/>
              <a:buFont typeface="Arial"/>
              <a:buNone/>
            </a:pPr>
            <a:r>
              <a:rPr b="0" i="0" lang="en-US" sz="1700" u="none" cap="none" strike="noStrike">
                <a:solidFill>
                  <a:srgbClr val="59656F"/>
                </a:solidFill>
                <a:latin typeface="Arial"/>
                <a:ea typeface="Arial"/>
                <a:cs typeface="Arial"/>
                <a:sym typeface="Arial"/>
              </a:rPr>
              <a:t>Expert review reframed ADO as documentation support rather than a legal directive. This preserves its value while avoiding the wrong legal claim.</a:t>
            </a:r>
            <a:endParaRPr b="0" i="0" sz="17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1" name="Google Shape;251;p11"/>
          <p:cNvSpPr/>
          <p:nvPr/>
        </p:nvSpPr>
        <p:spPr>
          <a:xfrm>
            <a:off x="822960" y="2788920"/>
            <a:ext cx="1691640" cy="822960"/>
          </a:xfrm>
          <a:prstGeom prst="rect">
            <a:avLst/>
          </a:prstGeom>
          <a:solidFill>
            <a:srgbClr val="FFFFFF"/>
          </a:solidFill>
          <a:ln cap="flat" cmpd="sng" w="15225">
            <a:solidFill>
              <a:srgbClr val="1B7F89"/>
            </a:solidFill>
            <a:prstDash val="solid"/>
            <a:round/>
            <a:headEnd len="sm" w="sm" type="none"/>
            <a:tailEnd len="sm" w="sm" type="none"/>
          </a:ln>
          <a:effectLst>
            <a:outerShdw blurRad="25400" rotWithShape="0" algn="bl" dir="2700000" dist="12700">
              <a:srgbClr val="000000">
                <a:alpha val="7843"/>
              </a:srgbClr>
            </a:outerShdw>
          </a:effectLst>
        </p:spPr>
        <p:txBody>
          <a:bodyPr anchorCtr="0" anchor="ctr" bIns="1500" lIns="1500" spcFirstLastPara="1" rIns="1500" wrap="square" tIns="15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Existing AD</a:t>
            </a:r>
            <a:endParaRPr b="0" i="0" sz="13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verbatim wishes</a:t>
            </a:r>
            <a:endParaRPr b="0" i="0" sz="13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2" name="Google Shape;252;p11"/>
          <p:cNvSpPr/>
          <p:nvPr/>
        </p:nvSpPr>
        <p:spPr>
          <a:xfrm>
            <a:off x="3063240" y="2788920"/>
            <a:ext cx="1828800" cy="822960"/>
          </a:xfrm>
          <a:prstGeom prst="rect">
            <a:avLst/>
          </a:prstGeom>
          <a:solidFill>
            <a:srgbClr val="F0FAF8"/>
          </a:solidFill>
          <a:ln cap="flat" cmpd="sng" w="15225">
            <a:solidFill>
              <a:srgbClr val="1B7F89"/>
            </a:solidFill>
            <a:prstDash val="solid"/>
            <a:round/>
            <a:headEnd len="sm" w="sm" type="none"/>
            <a:tailEnd len="sm" w="sm" type="none"/>
          </a:ln>
          <a:effectLst>
            <a:outerShdw blurRad="25400" rotWithShape="0" algn="bl" dir="2700000" dist="12700">
              <a:srgbClr val="000000">
                <a:alpha val="7843"/>
              </a:srgbClr>
            </a:outerShdw>
          </a:effectLst>
        </p:spPr>
        <p:txBody>
          <a:bodyPr anchorCtr="0" anchor="ctr" bIns="1500" lIns="1500" spcFirstLastPara="1" rIns="1500" wrap="square" tIns="15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ADO</a:t>
            </a:r>
            <a:endParaRPr b="0" i="0" sz="13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structured preferences</a:t>
            </a:r>
            <a:endParaRPr b="0" i="0" sz="13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3" name="Google Shape;253;p11"/>
          <p:cNvSpPr/>
          <p:nvPr/>
        </p:nvSpPr>
        <p:spPr>
          <a:xfrm>
            <a:off x="5486400" y="2788920"/>
            <a:ext cx="1874520" cy="822960"/>
          </a:xfrm>
          <a:prstGeom prst="rect">
            <a:avLst/>
          </a:prstGeom>
          <a:solidFill>
            <a:srgbClr val="FFF9EA"/>
          </a:solidFill>
          <a:ln cap="flat" cmpd="sng" w="15225">
            <a:solidFill>
              <a:srgbClr val="E8B14D"/>
            </a:solidFill>
            <a:prstDash val="solid"/>
            <a:round/>
            <a:headEnd len="sm" w="sm" type="none"/>
            <a:tailEnd len="sm" w="sm" type="none"/>
          </a:ln>
          <a:effectLst>
            <a:outerShdw blurRad="25400" rotWithShape="0" algn="bl" dir="2700000" dist="12700">
              <a:srgbClr val="000000">
                <a:alpha val="7843"/>
              </a:srgbClr>
            </a:outerShdw>
          </a:effectLst>
        </p:spPr>
        <p:txBody>
          <a:bodyPr anchorCtr="0" anchor="ctr" bIns="1500" lIns="1500" spcFirstLastPara="1" rIns="1500" wrap="square" tIns="15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Epic ACP note</a:t>
            </a:r>
            <a:endParaRPr b="0" i="0" sz="13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pre-populated fields</a:t>
            </a:r>
            <a:endParaRPr b="0" i="0" sz="13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4" name="Google Shape;254;p11"/>
          <p:cNvSpPr/>
          <p:nvPr/>
        </p:nvSpPr>
        <p:spPr>
          <a:xfrm>
            <a:off x="8001000" y="2788920"/>
            <a:ext cx="2057400" cy="822960"/>
          </a:xfrm>
          <a:prstGeom prst="rect">
            <a:avLst/>
          </a:prstGeom>
          <a:solidFill>
            <a:srgbClr val="FFFFFF"/>
          </a:solidFill>
          <a:ln cap="flat" cmpd="sng" w="15225">
            <a:solidFill>
              <a:srgbClr val="68518A"/>
            </a:solidFill>
            <a:prstDash val="solid"/>
            <a:round/>
            <a:headEnd len="sm" w="sm" type="none"/>
            <a:tailEnd len="sm" w="sm" type="none"/>
          </a:ln>
          <a:effectLst>
            <a:outerShdw blurRad="25400" rotWithShape="0" algn="bl" dir="2700000" dist="12700">
              <a:srgbClr val="000000">
                <a:alpha val="7843"/>
              </a:srgbClr>
            </a:outerShdw>
          </a:effectLst>
        </p:spPr>
        <p:txBody>
          <a:bodyPr anchorCtr="0" anchor="ctr" bIns="1500" lIns="1500" spcFirstLastPara="1" rIns="1500" wrap="square" tIns="15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Provider conversation</a:t>
            </a:r>
            <a:endParaRPr b="0" i="0" sz="13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clarify or override</a:t>
            </a:r>
            <a:endParaRPr b="0" i="0" sz="13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5" name="Google Shape;255;p11"/>
          <p:cNvSpPr/>
          <p:nvPr/>
        </p:nvSpPr>
        <p:spPr>
          <a:xfrm>
            <a:off x="10195560" y="2788920"/>
            <a:ext cx="1554480" cy="822960"/>
          </a:xfrm>
          <a:prstGeom prst="rect">
            <a:avLst/>
          </a:prstGeom>
          <a:solidFill>
            <a:srgbClr val="FCEFEA"/>
          </a:solidFill>
          <a:ln cap="flat" cmpd="sng" w="15225">
            <a:solidFill>
              <a:srgbClr val="D76F5D"/>
            </a:solidFill>
            <a:prstDash val="solid"/>
            <a:round/>
            <a:headEnd len="sm" w="sm" type="none"/>
            <a:tailEnd len="sm" w="sm" type="none"/>
          </a:ln>
          <a:effectLst>
            <a:outerShdw blurRad="25400" rotWithShape="0" algn="bl" dir="2700000" dist="12700">
              <a:srgbClr val="000000">
                <a:alpha val="7843"/>
              </a:srgbClr>
            </a:outerShdw>
          </a:effectLst>
        </p:spPr>
        <p:txBody>
          <a:bodyPr anchorCtr="0" anchor="ctr" bIns="1500" lIns="1500" spcFirstLastPara="1" rIns="1500" wrap="square" tIns="15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150"/>
              <a:buFont typeface="Arial"/>
              <a:buNone/>
            </a:pPr>
            <a:r>
              <a:rPr b="1" i="0" lang="en-US" sz="115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Final record</a:t>
            </a:r>
            <a:endParaRPr b="0" i="0" sz="11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150"/>
              <a:buFont typeface="Arial"/>
              <a:buNone/>
            </a:pPr>
            <a:r>
              <a:rPr b="1" i="0" lang="en-US" sz="115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ACP + POLST/code status</a:t>
            </a:r>
            <a:endParaRPr b="0" i="0" sz="11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6" name="Google Shape;256;p11"/>
          <p:cNvSpPr/>
          <p:nvPr/>
        </p:nvSpPr>
        <p:spPr>
          <a:xfrm>
            <a:off x="1234440" y="4709160"/>
            <a:ext cx="23774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450"/>
              <a:buFont typeface="Arial"/>
              <a:buNone/>
            </a:pPr>
            <a:r>
              <a:rPr b="1" i="0" lang="en-US" sz="145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Source-of-truth priority</a:t>
            </a:r>
            <a:endParaRPr b="0" i="0" sz="14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7" name="Google Shape;257;p11"/>
          <p:cNvSpPr/>
          <p:nvPr/>
        </p:nvSpPr>
        <p:spPr>
          <a:xfrm>
            <a:off x="1234440" y="5047488"/>
            <a:ext cx="905256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9656F"/>
              </a:buClr>
              <a:buSzPts val="1420"/>
              <a:buFont typeface="Arial"/>
              <a:buNone/>
            </a:pPr>
            <a:r>
              <a:rPr b="0" i="0" lang="en-US" sz="1420" u="none" cap="none" strike="noStrike">
                <a:solidFill>
                  <a:srgbClr val="59656F"/>
                </a:solidFill>
                <a:latin typeface="Arial"/>
                <a:ea typeface="Arial"/>
                <a:cs typeface="Arial"/>
                <a:sym typeface="Arial"/>
              </a:rPr>
              <a:t>ACP conversation can clarify or supersede AD preferences. But when a decision is not revisited, the structured AD remains the best available record of the patient’s wishes.</a:t>
            </a:r>
            <a:endParaRPr b="0" i="0" sz="142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BF7EF"/>
        </a:solidFill>
      </p:bgPr>
    </p:bg>
    <p:spTree>
      <p:nvGrpSpPr>
        <p:cNvPr id="262" name="Shape 2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3" name="Google Shape;263;p12"/>
          <p:cNvSpPr/>
          <p:nvPr/>
        </p:nvSpPr>
        <p:spPr>
          <a:xfrm>
            <a:off x="685800" y="438912"/>
            <a:ext cx="71323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B7F89"/>
              </a:buClr>
              <a:buSzPts val="850"/>
              <a:buFont typeface="Arial"/>
              <a:buNone/>
            </a:pPr>
            <a:r>
              <a:rPr b="1" i="0" lang="en-US" sz="850" u="none" cap="none" strike="noStrike">
                <a:solidFill>
                  <a:srgbClr val="1B7F89"/>
                </a:solidFill>
                <a:latin typeface="Arial"/>
                <a:ea typeface="Arial"/>
                <a:cs typeface="Arial"/>
                <a:sym typeface="Arial"/>
              </a:rPr>
              <a:t>LIMITS + PRIORITIES</a:t>
            </a:r>
            <a:endParaRPr b="0" i="0" sz="8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4" name="Google Shape;264;p12"/>
          <p:cNvSpPr/>
          <p:nvPr/>
        </p:nvSpPr>
        <p:spPr>
          <a:xfrm>
            <a:off x="658368" y="713232"/>
            <a:ext cx="10607040" cy="53035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3000"/>
              <a:buFont typeface="Arial"/>
              <a:buNone/>
            </a:pPr>
            <a:r>
              <a:rPr b="1" i="0" lang="en-US" sz="30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Expert review sharpened the contribution</a:t>
            </a:r>
            <a:endParaRPr b="0" i="0" sz="3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265" name="Google Shape;265;p12"/>
          <p:cNvCxnSpPr/>
          <p:nvPr/>
        </p:nvCxnSpPr>
        <p:spPr>
          <a:xfrm>
            <a:off x="685800" y="1389888"/>
            <a:ext cx="3200400" cy="0"/>
          </a:xfrm>
          <a:prstGeom prst="straightConnector1">
            <a:avLst/>
          </a:prstGeom>
          <a:noFill/>
          <a:ln cap="flat" cmpd="sng" w="27925">
            <a:solidFill>
              <a:srgbClr val="E8B14D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266" name="Google Shape;266;p12"/>
          <p:cNvCxnSpPr/>
          <p:nvPr/>
        </p:nvCxnSpPr>
        <p:spPr>
          <a:xfrm>
            <a:off x="594360" y="6473952"/>
            <a:ext cx="11000232" cy="0"/>
          </a:xfrm>
          <a:prstGeom prst="straightConnector1">
            <a:avLst/>
          </a:prstGeom>
          <a:noFill/>
          <a:ln cap="flat" cmpd="sng" w="9525">
            <a:solidFill>
              <a:srgbClr val="D8DFE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67" name="Google Shape;267;p12"/>
          <p:cNvSpPr/>
          <p:nvPr/>
        </p:nvSpPr>
        <p:spPr>
          <a:xfrm>
            <a:off x="658368" y="6556248"/>
            <a:ext cx="71323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767C"/>
              </a:buClr>
              <a:buSzPts val="750"/>
              <a:buFont typeface="Arial"/>
              <a:buNone/>
            </a:pPr>
            <a:r>
              <a:rPr b="0" i="0" lang="en-US" sz="750" u="none" cap="none" strike="noStrike">
                <a:solidFill>
                  <a:srgbClr val="6B767C"/>
                </a:solidFill>
                <a:latin typeface="Arial"/>
                <a:ea typeface="Arial"/>
                <a:cs typeface="Arial"/>
                <a:sym typeface="Arial"/>
              </a:rPr>
              <a:t>Advance Directive Ontology (ADO)  |  BMDS 210 / CS 270</a:t>
            </a:r>
            <a:endParaRPr b="0" i="0" sz="7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8" name="Google Shape;268;p12"/>
          <p:cNvSpPr/>
          <p:nvPr/>
        </p:nvSpPr>
        <p:spPr>
          <a:xfrm>
            <a:off x="11201400" y="6556248"/>
            <a:ext cx="3657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B767C"/>
              </a:buClr>
              <a:buSzPts val="750"/>
              <a:buFont typeface="Arial"/>
              <a:buNone/>
            </a:pPr>
            <a:r>
              <a:rPr b="0" i="0" lang="en-US" sz="750" u="none" cap="none" strike="noStrike">
                <a:solidFill>
                  <a:srgbClr val="6B767C"/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  <a:endParaRPr b="0" i="0" sz="7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9" name="Google Shape;269;p12"/>
          <p:cNvSpPr/>
          <p:nvPr/>
        </p:nvSpPr>
        <p:spPr>
          <a:xfrm>
            <a:off x="713232" y="1627632"/>
            <a:ext cx="1005840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9656F"/>
              </a:buClr>
              <a:buSzPts val="1700"/>
              <a:buFont typeface="Arial"/>
              <a:buNone/>
            </a:pPr>
            <a:r>
              <a:rPr b="0" i="0" lang="en-US" sz="1700" u="none" cap="none" strike="noStrike">
                <a:solidFill>
                  <a:srgbClr val="59656F"/>
                </a:solidFill>
                <a:latin typeface="Arial"/>
                <a:ea typeface="Arial"/>
                <a:cs typeface="Arial"/>
                <a:sym typeface="Arial"/>
              </a:rPr>
              <a:t>The critique did not eliminate the system’s value; it moved ADO to the right place in the clinical workflow and exposed the next modeling gaps.</a:t>
            </a:r>
            <a:endParaRPr b="0" i="0" sz="17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0" name="Google Shape;270;p12"/>
          <p:cNvSpPr/>
          <p:nvPr/>
        </p:nvSpPr>
        <p:spPr>
          <a:xfrm>
            <a:off x="987552" y="2542032"/>
            <a:ext cx="2148840" cy="384048"/>
          </a:xfrm>
          <a:prstGeom prst="rect">
            <a:avLst/>
          </a:prstGeom>
          <a:solidFill>
            <a:srgbClr val="1B7F89"/>
          </a:solidFill>
          <a:ln cap="flat" cmpd="sng" w="15225">
            <a:solidFill>
              <a:srgbClr val="1B7F89"/>
            </a:solidFill>
            <a:prstDash val="solid"/>
            <a:round/>
            <a:headEnd len="sm" w="sm" type="none"/>
            <a:tailEnd len="sm" w="sm" type="none"/>
          </a:ln>
          <a:effectLst>
            <a:outerShdw blurRad="25400" rotWithShape="0" algn="bl" dir="2700000" dist="12700">
              <a:srgbClr val="000000">
                <a:alpha val="7843"/>
              </a:srgbClr>
            </a:outerShdw>
          </a:effectLst>
        </p:spPr>
        <p:txBody>
          <a:bodyPr anchorCtr="0" anchor="ctr" bIns="1500" lIns="1500" spcFirstLastPara="1" rIns="1500" wrap="square" tIns="15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Positioning</a:t>
            </a:r>
            <a:endParaRPr b="0" i="0" sz="13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1" name="Google Shape;271;p12"/>
          <p:cNvSpPr/>
          <p:nvPr/>
        </p:nvSpPr>
        <p:spPr>
          <a:xfrm>
            <a:off x="3337560" y="2569464"/>
            <a:ext cx="726948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9656F"/>
              </a:buClr>
              <a:buSzPts val="1360"/>
              <a:buFont typeface="Arial"/>
              <a:buNone/>
            </a:pPr>
            <a:r>
              <a:rPr b="0" i="0" lang="en-US" sz="1360" u="none" cap="none" strike="noStrike">
                <a:solidFill>
                  <a:srgbClr val="59656F"/>
                </a:solidFill>
                <a:latin typeface="Arial"/>
                <a:ea typeface="Arial"/>
                <a:cs typeface="Arial"/>
                <a:sym typeface="Arial"/>
              </a:rPr>
              <a:t>Decision-support aid, not a signed legal directive</a:t>
            </a:r>
            <a:endParaRPr b="0" i="0" sz="136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2" name="Google Shape;272;p12"/>
          <p:cNvSpPr/>
          <p:nvPr/>
        </p:nvSpPr>
        <p:spPr>
          <a:xfrm>
            <a:off x="987552" y="3200400"/>
            <a:ext cx="2148840" cy="384048"/>
          </a:xfrm>
          <a:prstGeom prst="rect">
            <a:avLst/>
          </a:prstGeom>
          <a:solidFill>
            <a:srgbClr val="E8B14D"/>
          </a:solidFill>
          <a:ln cap="flat" cmpd="sng" w="15225">
            <a:solidFill>
              <a:srgbClr val="E8B14D"/>
            </a:solidFill>
            <a:prstDash val="solid"/>
            <a:round/>
            <a:headEnd len="sm" w="sm" type="none"/>
            <a:tailEnd len="sm" w="sm" type="none"/>
          </a:ln>
          <a:effectLst>
            <a:outerShdw blurRad="25400" rotWithShape="0" algn="bl" dir="2700000" dist="12700">
              <a:srgbClr val="000000">
                <a:alpha val="7843"/>
              </a:srgbClr>
            </a:outerShdw>
          </a:effectLst>
        </p:spPr>
        <p:txBody>
          <a:bodyPr anchorCtr="0" anchor="ctr" bIns="1500" lIns="1500" spcFirstLastPara="1" rIns="1500" wrap="square" tIns="15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Dimensionality</a:t>
            </a:r>
            <a:endParaRPr b="0" i="0" sz="13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3" name="Google Shape;273;p12"/>
          <p:cNvSpPr/>
          <p:nvPr/>
        </p:nvSpPr>
        <p:spPr>
          <a:xfrm>
            <a:off x="3337560" y="3227832"/>
            <a:ext cx="726948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9656F"/>
              </a:buClr>
              <a:buSzPts val="1360"/>
              <a:buFont typeface="Arial"/>
              <a:buNone/>
            </a:pPr>
            <a:r>
              <a:rPr b="0" i="0" lang="en-US" sz="1360" u="none" cap="none" strike="noStrike">
                <a:solidFill>
                  <a:srgbClr val="59656F"/>
                </a:solidFill>
                <a:latin typeface="Arial"/>
                <a:ea typeface="Arial"/>
                <a:cs typeface="Arial"/>
                <a:sym typeface="Arial"/>
              </a:rPr>
              <a:t>Current model covers what intervention; next model must cover who decides</a:t>
            </a:r>
            <a:endParaRPr b="0" i="0" sz="136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4" name="Google Shape;274;p12"/>
          <p:cNvSpPr/>
          <p:nvPr/>
        </p:nvSpPr>
        <p:spPr>
          <a:xfrm>
            <a:off x="987552" y="3858768"/>
            <a:ext cx="2148840" cy="384048"/>
          </a:xfrm>
          <a:prstGeom prst="rect">
            <a:avLst/>
          </a:prstGeom>
          <a:solidFill>
            <a:srgbClr val="D76F5D"/>
          </a:solidFill>
          <a:ln cap="flat" cmpd="sng" w="15225">
            <a:solidFill>
              <a:srgbClr val="D76F5D"/>
            </a:solidFill>
            <a:prstDash val="solid"/>
            <a:round/>
            <a:headEnd len="sm" w="sm" type="none"/>
            <a:tailEnd len="sm" w="sm" type="none"/>
          </a:ln>
          <a:effectLst>
            <a:outerShdw blurRad="25400" rotWithShape="0" algn="bl" dir="2700000" dist="12700">
              <a:srgbClr val="000000">
                <a:alpha val="7843"/>
              </a:srgbClr>
            </a:outerShdw>
          </a:effectLst>
        </p:spPr>
        <p:txBody>
          <a:bodyPr anchorCtr="0" anchor="ctr" bIns="1500" lIns="1500" spcFirstLastPara="1" rIns="1500" wrap="square" tIns="15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Coverage gaps</a:t>
            </a:r>
            <a:endParaRPr b="0" i="0" sz="13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5" name="Google Shape;275;p12"/>
          <p:cNvSpPr/>
          <p:nvPr/>
        </p:nvSpPr>
        <p:spPr>
          <a:xfrm>
            <a:off x="3337560" y="3886200"/>
            <a:ext cx="726948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9656F"/>
              </a:buClr>
              <a:buSzPts val="1360"/>
              <a:buFont typeface="Arial"/>
              <a:buNone/>
            </a:pPr>
            <a:r>
              <a:rPr b="0" i="0" lang="en-US" sz="1360" u="none" cap="none" strike="noStrike">
                <a:solidFill>
                  <a:srgbClr val="59656F"/>
                </a:solidFill>
                <a:latin typeface="Arial"/>
                <a:ea typeface="Arial"/>
                <a:cs typeface="Arial"/>
                <a:sym typeface="Arial"/>
              </a:rPr>
              <a:t>Artificial hydration/nutrition; antibiotics; comfort-care decisions</a:t>
            </a:r>
            <a:endParaRPr b="0" i="0" sz="136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6" name="Google Shape;276;p12"/>
          <p:cNvSpPr/>
          <p:nvPr/>
        </p:nvSpPr>
        <p:spPr>
          <a:xfrm>
            <a:off x="987552" y="4517136"/>
            <a:ext cx="2148840" cy="384048"/>
          </a:xfrm>
          <a:prstGeom prst="rect">
            <a:avLst/>
          </a:prstGeom>
          <a:solidFill>
            <a:srgbClr val="68518A"/>
          </a:solidFill>
          <a:ln cap="flat" cmpd="sng" w="15225">
            <a:solidFill>
              <a:srgbClr val="68518A"/>
            </a:solidFill>
            <a:prstDash val="solid"/>
            <a:round/>
            <a:headEnd len="sm" w="sm" type="none"/>
            <a:tailEnd len="sm" w="sm" type="none"/>
          </a:ln>
          <a:effectLst>
            <a:outerShdw blurRad="25400" rotWithShape="0" algn="bl" dir="2700000" dist="12700">
              <a:srgbClr val="000000">
                <a:alpha val="7843"/>
              </a:srgbClr>
            </a:outerShdw>
          </a:effectLst>
        </p:spPr>
        <p:txBody>
          <a:bodyPr anchorCtr="0" anchor="ctr" bIns="1500" lIns="1500" spcFirstLastPara="1" rIns="1500" wrap="square" tIns="15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Temporal limits</a:t>
            </a:r>
            <a:endParaRPr b="0" i="0" sz="13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7" name="Google Shape;277;p12"/>
          <p:cNvSpPr/>
          <p:nvPr/>
        </p:nvSpPr>
        <p:spPr>
          <a:xfrm>
            <a:off x="3337560" y="4544568"/>
            <a:ext cx="726948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9656F"/>
              </a:buClr>
              <a:buSzPts val="1360"/>
              <a:buFont typeface="Arial"/>
              <a:buNone/>
            </a:pPr>
            <a:r>
              <a:rPr b="0" i="0" lang="en-US" sz="1360" u="none" cap="none" strike="noStrike">
                <a:solidFill>
                  <a:srgbClr val="59656F"/>
                </a:solidFill>
                <a:latin typeface="Arial"/>
                <a:ea typeface="Arial"/>
                <a:cs typeface="Arial"/>
                <a:sym typeface="Arial"/>
              </a:rPr>
              <a:t>OWL lacks native temporal reasoning; ADO uses numeric time bounds</a:t>
            </a:r>
            <a:endParaRPr b="0" i="0" sz="136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8" name="Google Shape;278;p12"/>
          <p:cNvSpPr/>
          <p:nvPr/>
        </p:nvSpPr>
        <p:spPr>
          <a:xfrm>
            <a:off x="987552" y="5175504"/>
            <a:ext cx="2148840" cy="384048"/>
          </a:xfrm>
          <a:prstGeom prst="rect">
            <a:avLst/>
          </a:prstGeom>
          <a:solidFill>
            <a:srgbClr val="38A6A5"/>
          </a:solidFill>
          <a:ln cap="flat" cmpd="sng" w="15225">
            <a:solidFill>
              <a:srgbClr val="38A6A5"/>
            </a:solidFill>
            <a:prstDash val="solid"/>
            <a:round/>
            <a:headEnd len="sm" w="sm" type="none"/>
            <a:tailEnd len="sm" w="sm" type="none"/>
          </a:ln>
          <a:effectLst>
            <a:outerShdw blurRad="25400" rotWithShape="0" algn="bl" dir="2700000" dist="12700">
              <a:srgbClr val="000000">
                <a:alpha val="7843"/>
              </a:srgbClr>
            </a:outerShdw>
          </a:effectLst>
        </p:spPr>
        <p:txBody>
          <a:bodyPr anchorCtr="0" anchor="ctr" bIns="1500" lIns="1500" spcFirstLastPara="1" rIns="1500" wrap="square" tIns="15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Validation limits</a:t>
            </a:r>
            <a:endParaRPr b="0" i="0" sz="13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9" name="Google Shape;279;p12"/>
          <p:cNvSpPr/>
          <p:nvPr/>
        </p:nvSpPr>
        <p:spPr>
          <a:xfrm>
            <a:off x="3337560" y="5202936"/>
            <a:ext cx="726948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9656F"/>
              </a:buClr>
              <a:buSzPts val="1360"/>
              <a:buFont typeface="Arial"/>
              <a:buNone/>
            </a:pPr>
            <a:r>
              <a:rPr b="0" i="0" lang="en-US" sz="1360" u="none" cap="none" strike="noStrike">
                <a:solidFill>
                  <a:srgbClr val="59656F"/>
                </a:solidFill>
                <a:latin typeface="Arial"/>
                <a:ea typeface="Arial"/>
                <a:cs typeface="Arial"/>
                <a:sym typeface="Arial"/>
              </a:rPr>
              <a:t>Team-authored gold standards; real-EHR validation remains future work</a:t>
            </a:r>
            <a:endParaRPr b="0" i="0" sz="136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0" name="Google Shape;280;p12"/>
          <p:cNvSpPr/>
          <p:nvPr/>
        </p:nvSpPr>
        <p:spPr>
          <a:xfrm>
            <a:off x="1554480" y="5779008"/>
            <a:ext cx="9098280" cy="384048"/>
          </a:xfrm>
          <a:prstGeom prst="rect">
            <a:avLst/>
          </a:prstGeom>
          <a:solidFill>
            <a:srgbClr val="11364A"/>
          </a:solidFill>
          <a:ln cap="flat" cmpd="sng" w="9525">
            <a:solidFill>
              <a:srgbClr val="11364A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50" lIns="750" spcFirstLastPara="1" rIns="750" wrap="square" tIns="75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50"/>
              <a:buFont typeface="Arial"/>
              <a:buNone/>
            </a:pPr>
            <a:r>
              <a:rPr b="1" i="0" lang="en-US" sz="135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Design principle: use the reasoner to surface uncertainty, not to replace clinicians or surrogates</a:t>
            </a:r>
            <a:endParaRPr b="0" i="0" sz="13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1364A"/>
        </a:solidFill>
      </p:bgPr>
    </p:bg>
    <p:spTree>
      <p:nvGrpSpPr>
        <p:cNvPr id="285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Google Shape;286;p13"/>
          <p:cNvSpPr/>
          <p:nvPr/>
        </p:nvSpPr>
        <p:spPr>
          <a:xfrm>
            <a:off x="713232" y="804672"/>
            <a:ext cx="54864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600"/>
              <a:buFont typeface="Arial"/>
              <a:buNone/>
            </a:pPr>
            <a:r>
              <a:rPr b="1" i="0" lang="en-US" sz="36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Takeaways</a:t>
            </a:r>
            <a:endParaRPr b="0" i="0" sz="36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287" name="Google Shape;287;p13"/>
          <p:cNvCxnSpPr/>
          <p:nvPr/>
        </p:nvCxnSpPr>
        <p:spPr>
          <a:xfrm>
            <a:off x="731520" y="1481328"/>
            <a:ext cx="2103120" cy="0"/>
          </a:xfrm>
          <a:prstGeom prst="straightConnector1">
            <a:avLst/>
          </a:prstGeom>
          <a:noFill/>
          <a:ln cap="flat" cmpd="sng" w="38100">
            <a:solidFill>
              <a:srgbClr val="E8B14D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88" name="Google Shape;288;p13"/>
          <p:cNvSpPr/>
          <p:nvPr/>
        </p:nvSpPr>
        <p:spPr>
          <a:xfrm>
            <a:off x="868680" y="2057400"/>
            <a:ext cx="411480" cy="411480"/>
          </a:xfrm>
          <a:prstGeom prst="rect">
            <a:avLst/>
          </a:prstGeom>
          <a:solidFill>
            <a:srgbClr val="E8B14D"/>
          </a:solidFill>
          <a:ln cap="flat" cmpd="sng" w="9525">
            <a:solidFill>
              <a:srgbClr val="E8B14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  <a:endParaRPr b="0" i="0" sz="16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9" name="Google Shape;289;p13"/>
          <p:cNvSpPr/>
          <p:nvPr/>
        </p:nvSpPr>
        <p:spPr>
          <a:xfrm>
            <a:off x="1508760" y="2075688"/>
            <a:ext cx="9601200" cy="40233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7F4F4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E7F4F4"/>
                </a:solidFill>
                <a:latin typeface="Arial"/>
                <a:ea typeface="Arial"/>
                <a:cs typeface="Arial"/>
                <a:sym typeface="Arial"/>
              </a:rPr>
              <a:t>ADO makes conditional, graded, negatable EOL preferences computable.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0" name="Google Shape;290;p13"/>
          <p:cNvSpPr/>
          <p:nvPr/>
        </p:nvSpPr>
        <p:spPr>
          <a:xfrm>
            <a:off x="868680" y="2834640"/>
            <a:ext cx="411480" cy="411480"/>
          </a:xfrm>
          <a:prstGeom prst="rect">
            <a:avLst/>
          </a:prstGeom>
          <a:solidFill>
            <a:srgbClr val="E8B14D"/>
          </a:solidFill>
          <a:ln cap="flat" cmpd="sng" w="9525">
            <a:solidFill>
              <a:srgbClr val="E8B14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  <a:endParaRPr b="0" i="0" sz="16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1" name="Google Shape;291;p13"/>
          <p:cNvSpPr/>
          <p:nvPr/>
        </p:nvSpPr>
        <p:spPr>
          <a:xfrm>
            <a:off x="1508760" y="2852928"/>
            <a:ext cx="9601200" cy="40233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7F4F4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E7F4F4"/>
                </a:solidFill>
                <a:latin typeface="Arial"/>
                <a:ea typeface="Arial"/>
                <a:cs typeface="Arial"/>
                <a:sym typeface="Arial"/>
              </a:rPr>
              <a:t>The safest outputs include honest non-answers: no coverage, partial, and vague.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2" name="Google Shape;292;p13"/>
          <p:cNvSpPr/>
          <p:nvPr/>
        </p:nvSpPr>
        <p:spPr>
          <a:xfrm>
            <a:off x="868680" y="3611880"/>
            <a:ext cx="411480" cy="411480"/>
          </a:xfrm>
          <a:prstGeom prst="rect">
            <a:avLst/>
          </a:prstGeom>
          <a:solidFill>
            <a:srgbClr val="E8B14D"/>
          </a:solidFill>
          <a:ln cap="flat" cmpd="sng" w="9525">
            <a:solidFill>
              <a:srgbClr val="E8B14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  <a:endParaRPr b="0" i="0" sz="16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3" name="Google Shape;293;p13"/>
          <p:cNvSpPr/>
          <p:nvPr/>
        </p:nvSpPr>
        <p:spPr>
          <a:xfrm>
            <a:off x="1508760" y="3630168"/>
            <a:ext cx="9601200" cy="40233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7F4F4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E7F4F4"/>
                </a:solidFill>
                <a:latin typeface="Arial"/>
                <a:ea typeface="Arial"/>
                <a:cs typeface="Arial"/>
                <a:sym typeface="Arial"/>
              </a:rPr>
              <a:t>LLMs are useful for extraction, but the auditable ontology/reasoner should own inference.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4" name="Google Shape;294;p13"/>
          <p:cNvSpPr/>
          <p:nvPr/>
        </p:nvSpPr>
        <p:spPr>
          <a:xfrm>
            <a:off x="868680" y="4389120"/>
            <a:ext cx="411480" cy="411480"/>
          </a:xfrm>
          <a:prstGeom prst="rect">
            <a:avLst/>
          </a:prstGeom>
          <a:solidFill>
            <a:srgbClr val="E8B14D"/>
          </a:solidFill>
          <a:ln cap="flat" cmpd="sng" w="9525">
            <a:solidFill>
              <a:srgbClr val="E8B14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  <a:endParaRPr b="0" i="0" sz="16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5" name="Google Shape;295;p13"/>
          <p:cNvSpPr/>
          <p:nvPr/>
        </p:nvSpPr>
        <p:spPr>
          <a:xfrm>
            <a:off x="1508760" y="4407408"/>
            <a:ext cx="9601200" cy="40233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7F4F4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E7F4F4"/>
                </a:solidFill>
                <a:latin typeface="Arial"/>
                <a:ea typeface="Arial"/>
                <a:cs typeface="Arial"/>
                <a:sym typeface="Arial"/>
              </a:rPr>
              <a:t>The near-term product is ACP documentation support, not a legal directive.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6" name="Google Shape;296;p13"/>
          <p:cNvSpPr/>
          <p:nvPr/>
        </p:nvSpPr>
        <p:spPr>
          <a:xfrm>
            <a:off x="868680" y="5715000"/>
            <a:ext cx="1069848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Next steps: surrogate/override modeling • artificial nutrition/hydration • time-limited trials • real-EHR validation</a:t>
            </a:r>
            <a:endParaRPr b="0" i="0" sz="16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EVALUATION FIGURES — Track 3 &amp; code-status fidelity</a:t>
            </a:r>
          </a:p>
        </p:txBody>
      </p:sp>
      <p:pic>
        <p:nvPicPr>
          <p:cNvPr id="3" name="Picture 2" descr="track3_field_agreem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914400"/>
            <a:ext cx="5669280" cy="3137742"/>
          </a:xfrm>
          <a:prstGeom prst="rect">
            <a:avLst/>
          </a:prstGeom>
        </p:spPr>
      </p:pic>
      <p:pic>
        <p:nvPicPr>
          <p:cNvPr id="4" name="Picture 3" descr="code_status_confus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914400"/>
            <a:ext cx="5669280" cy="484292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6035040"/>
            <a:ext cx="11247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12 real-world template profiles • Gold = POLST semantics • Diagonal confusion matrix = agreement across all observed code-status categories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4300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STRENGTHENED EVALUATION — developmental validation (report / June 2026)</a:t>
            </a:r>
          </a:p>
        </p:txBody>
      </p:sp>
      <p:pic>
        <p:nvPicPr>
          <p:cNvPr id="3" name="Picture 2" descr="vignette_spli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868680"/>
            <a:ext cx="2788920" cy="1963197"/>
          </a:xfrm>
          <a:prstGeom prst="rect">
            <a:avLst/>
          </a:prstGeom>
        </p:spPr>
      </p:pic>
      <p:pic>
        <p:nvPicPr>
          <p:cNvPr id="4" name="Picture 3" descr="ablation_condition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54680" y="868680"/>
            <a:ext cx="2788920" cy="1625901"/>
          </a:xfrm>
          <a:prstGeom prst="rect">
            <a:avLst/>
          </a:prstGeom>
        </p:spPr>
      </p:pic>
      <p:pic>
        <p:nvPicPr>
          <p:cNvPr id="5" name="Picture 4" descr="coverage_inventor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89320" y="868680"/>
            <a:ext cx="5486400" cy="2834188"/>
          </a:xfrm>
          <a:prstGeom prst="rect">
            <a:avLst/>
          </a:prstGeom>
        </p:spPr>
      </p:pic>
      <p:pic>
        <p:nvPicPr>
          <p:cNvPr id="6" name="Picture 5" descr="extraction_f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0040" y="3703320"/>
            <a:ext cx="2788920" cy="1746703"/>
          </a:xfrm>
          <a:prstGeom prst="rect">
            <a:avLst/>
          </a:prstGeom>
        </p:spPr>
      </p:pic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154680" y="3703320"/>
            <a:ext cx="2788920" cy="1543566"/>
          </a:xfrm>
          <a:prstGeom prst="rect">
            <a:avLst/>
          </a:prstGeom>
        </p:spPr>
      </p:pic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989320" y="3703320"/>
            <a:ext cx="5486400" cy="468670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65760" y="6172200"/>
            <a:ext cx="112471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Developmental validation — not clinical trial. Team gold; single patient ontology. Lead with ablation (69%) + coverage (47% fully representable), not only 100% vignettes.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2026-05-31T02:48:26Z</dcterms:created>
  <dc:creator>OpenAI</dc:creator>
</cp:coreProperties>
</file>