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9"/>
    <p:sldId id="270" r:id="rId20"/>
    <p:sldId id="271" r:id="rId21"/>
    <p:sldId id="272" r:id="rId22"/>
    <p:sldId id="273" r:id="rId23"/>
    <p:sldId id="274" r:id="rId24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frame the talk.</a:t>
            </a:r>
          </a:p>
          <a:p>
            <a:r>
              <a:t>SAY: Patrick Walsh &amp; Darren Chan. ADO = computable EOL preferences in advanced HF. Not a legal AD.</a:t>
            </a:r>
          </a:p>
          <a:p>
            <a:r>
              <a:t>TRANSITION: "Start at the 2 a.m. crisis."</a:t>
            </a:r>
          </a:p>
          <a:p>
            <a:r>
              <a:t>[~25s]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three instruments, translation loss.</a:t>
            </a:r>
          </a:p>
          <a:p>
            <a:r>
              <a:t>SAY: AD → POLST → code status. Conditional wishes → coarse boxes. Low resolution + disease blindness.</a:t>
            </a:r>
          </a:p>
          <a:p>
            <a:r>
              <a:t>TRANSITION: "HF is where that hurts most."</a:t>
            </a:r>
          </a:p>
          <a:p>
            <a:r>
              <a:t>[~45s]</a:t>
            </a: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why HF scope.</a:t>
            </a:r>
          </a:p>
          <a:p>
            <a:r>
              <a:t>SAY: Five decision points. ICD/LVAD/inotropes missing from generic templates.</a:t>
            </a:r>
          </a:p>
          <a:p>
            <a:r>
              <a:t>TRANSITION: "Smallest object that preserves patient logic?"</a:t>
            </a:r>
          </a:p>
          <a:p>
            <a:r>
              <a:t>[~35s]</a:t>
            </a:r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PreferenceStatement.</a:t>
            </a:r>
          </a:p>
          <a:p>
            <a:r>
              <a:t>SAY: Intervention + activation + strength + negation + verbatim. Walk 72h vasopressor example.</a:t>
            </a:r>
          </a:p>
          <a:p>
            <a:r>
              <a:t>TRANSITION: "How much structure we built."</a:t>
            </a:r>
          </a:p>
          <a:p>
            <a:r>
              <a:t>[~45s]</a:t>
            </a: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ontology credibility.</a:t>
            </a:r>
          </a:p>
          <a:p>
            <a:r>
              <a:t>SAY: 67 classes, 22 properties, 21 interventions. POINT AT hierarchy figure.</a:t>
            </a:r>
          </a:p>
          <a:p>
            <a:r>
              <a:t>OPTIONAL LIVE: Protégé — ado_jane_doe_001.owl</a:t>
            </a:r>
          </a:p>
          <a:p>
            <a:r>
              <a:t>TRANSITION: "Know when NOT to answer."</a:t>
            </a:r>
          </a:p>
          <a:p>
            <a:r>
              <a:t>[~35s]</a:t>
            </a: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four honest outputs.</a:t>
            </a:r>
          </a:p>
          <a:p>
            <a:r>
              <a:t>SAY: Clear / Partial / No coverage / Vague. Can't say "I don't know" = safety failure.</a:t>
            </a:r>
          </a:p>
          <a:p>
            <a:r>
              <a:t>TRANSITION: "Pipeline wiring."</a:t>
            </a:r>
          </a:p>
          <a:p>
            <a:r>
              <a:t>[~40s]</a:t>
            </a:r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architecture.</a:t>
            </a:r>
          </a:p>
          <a:p>
            <a:r>
              <a:t>SAY: LLMs extract ONLY. Ontology = truth. Reasoner decides. Closed-world extraction.</a:t>
            </a:r>
          </a:p>
          <a:p>
            <a:r>
              <a:t>TRANSITION: "Six evaluation strands including 520-cell cohort."</a:t>
            </a:r>
          </a:p>
          <a:p>
            <a:r>
              <a:t>[~45s]</a:t>
            </a:r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study design (six strands).</a:t>
            </a:r>
          </a:p>
          <a:p>
            <a:r>
              <a:t>SAY: Vignettes 16+10 held-out; ablation; cohort 520 cells (20×12); extraction n=12; POLST n=12; coverage 30 clauses. Developmental — not clinical trial.</a:t>
            </a:r>
          </a:p>
          <a:p>
            <a:r>
              <a:t>POINT AT: study_design_strands.png</a:t>
            </a:r>
          </a:p>
          <a:p>
            <a:r>
              <a:t>TRANSITION: "Two-layer validation."</a:t>
            </a:r>
          </a:p>
          <a:p>
            <a:r>
              <a:t>[~50s]</a:t>
            </a:r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MAIN RESULTS (two-layer).</a:t>
            </a:r>
          </a:p>
          <a:p>
            <a:r>
              <a:t>SAY: Layer 1: 16/16 dev, 10/10 held-out, 69% ablation — spec test on Jane Doe. Layer 2: cohort ~47% vs simplified oracle; checkbox fails nuanced cells. Also F1 0.97, 35/36 POLST.</a:t>
            </a:r>
          </a:p>
          <a:p>
            <a:r>
              <a:t>POINT AT: eval_two_layer.png (full slide). DO NOT oversell 100%.</a:t>
            </a:r>
          </a:p>
          <a:p>
            <a:r>
              <a:t>TRANSITION: "Conditionality + cohort detail."</a:t>
            </a:r>
          </a:p>
          <a:p>
            <a:r>
              <a:t>[~60s]</a:t>
            </a:r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Ablation + conditional aha.</a:t>
            </a:r>
          </a:p>
          <a:p>
            <a:r>
              <a:t>SAY: Ablation 11/16 (69%) — activation conditions matter. P9/P10: DNR vs Full code same directive.</a:t>
            </a:r>
          </a:p>
          <a:p>
            <a:r>
              <a:t>POINT AT: ablation_conditions.png, conditional_p9_p10.png</a:t>
            </a:r>
          </a:p>
          <a:p>
            <a:r>
              <a:t>TRANSITION: "Cohort stress test."</a:t>
            </a:r>
          </a:p>
          <a:p>
            <a:r>
              <a:t>[~45s]</a:t>
            </a:r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Magnus reframe (if slide order = integration before cohort, adjust).</a:t>
            </a:r>
          </a:p>
          <a:p>
            <a:r>
              <a:t>SAY: ACP progress note. Directive → ADO → conversation → POLST.</a:t>
            </a:r>
          </a:p>
          <a:p>
            <a:r>
              <a:t>[~40s]</a:t>
            </a:r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Limits.</a:t>
            </a:r>
          </a:p>
          <a:p>
            <a:r>
              <a:t>SAY: No legal force; cohort oracle not clinical gold; team gold; EHR future.</a:t>
            </a:r>
          </a:p>
          <a:p>
            <a:r>
              <a:t>TRANSITION: "Takeaways."</a:t>
            </a:r>
          </a:p>
          <a:p>
            <a:r>
              <a:t>[~40s]</a:t>
            </a:r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Close.</a:t>
            </a:r>
          </a:p>
          <a:p>
            <a:r>
              <a:t>SAY: Four bullets. Repo. Questions. Optional demo scenario 1.</a:t>
            </a:r>
          </a:p>
          <a:p>
            <a:r>
              <a:t>[~25s]</a:t>
            </a:r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(Legacy slide — prefer COHORT + DASHBOARD slides.)</a:t>
            </a:r>
          </a:p>
          <a:p>
            <a:r>
              <a:t>SAY: Lead with ablation 69% and cohort 47%, not only 100% vignettes.</a:t>
            </a:r>
          </a:p>
          <a:p>
            <a:r>
              <a:t>[~30s]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Cohort honesty slide.</a:t>
            </a:r>
          </a:p>
          <a:p>
            <a:r>
              <a:t>SAY: 20 profiles (messy_level tags) × 12 scenarios = 520 cells. ~47% vs simplified oracle. 421/520 checkbox overconfident. Clean &gt; minimal/contradictory.</a:t>
            </a:r>
          </a:p>
          <a:p>
            <a:r>
              <a:t>POINT AT: cohort_messy_breakdown.png, cohort_baseline_comparison.png</a:t>
            </a:r>
          </a:p>
          <a:p>
            <a:r>
              <a:t>[~50s]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Backup all-in-one numbers.</a:t>
            </a:r>
          </a:p>
          <a:p>
            <a:r>
              <a:t>SAY: Walk six panels if asked for full summary. Optional — skip if short on time.</a:t>
            </a:r>
          </a:p>
          <a:p>
            <a:r>
              <a:t>[~20s]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Scope + extraction discipline.</a:t>
            </a:r>
          </a:p>
          <a:p>
            <a:r>
              <a:t>SAY: 47% fully representable (14/30). F1 0.97, 0 OOS hallucinations on nutrition/antibiotics.</a:t>
            </a:r>
          </a:p>
          <a:p>
            <a:r>
              <a:t>POINT AT: coverage_inventory.png, extraction_f1.png</a:t>
            </a:r>
          </a:p>
          <a:p>
            <a:r>
              <a:t>[~35s]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Bedside mapping.</a:t>
            </a:r>
          </a:p>
          <a:p>
            <a:r>
              <a:t>SAY: 35/36 fields. P5 principled divergence. Confusion matrix diagonal.</a:t>
            </a:r>
          </a:p>
          <a:p>
            <a:r>
              <a:t>POINT AT: track3_field_agreement.png, code_status_confusion.png</a:t>
            </a:r>
          </a:p>
          <a:p>
            <a:r>
              <a:t>[~35s]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5.png"/><Relationship Id="rId8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Picture 118" descr="ontology_class_hierar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Picture 190" descr="vignette_match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114800" cy="3788660"/>
          </a:xfrm>
          <a:prstGeom prst="rect">
            <a:avLst/>
          </a:prstGeom>
        </p:spPr>
      </p:pic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051560"/>
            <a:ext cx="3931920" cy="3620275"/>
          </a:xfrm>
          <a:prstGeom prst="rect">
            <a:avLst/>
          </a:prstGeom>
        </p:spPr>
      </p:pic>
      <p:pic>
        <p:nvPicPr>
          <p:cNvPr id="193" name="Picture 192" descr="study_design_str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960120"/>
            <a:ext cx="6400800" cy="3369982"/>
          </a:xfrm>
          <a:prstGeom prst="rect">
            <a:avLst/>
          </a:prstGeom>
        </p:spPr>
      </p:pic>
      <p:pic>
        <p:nvPicPr>
          <p:cNvPr id="194" name="Picture 193" descr="vignette_match_typ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20440"/>
            <a:ext cx="4389120" cy="3957669"/>
          </a:xfrm>
          <a:prstGeom prst="rect">
            <a:avLst/>
          </a:prstGeom>
        </p:spPr>
      </p:pic>
      <p:pic>
        <p:nvPicPr>
          <p:cNvPr id="195" name="Picture 194" descr="study_design_stran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960120"/>
            <a:ext cx="6400800" cy="3374814"/>
          </a:xfrm>
          <a:prstGeom prst="rect">
            <a:avLst/>
          </a:prstGeom>
        </p:spPr>
      </p:pic>
      <p:pic>
        <p:nvPicPr>
          <p:cNvPr id="196" name="Picture 195" descr="vignette_match_typ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520440"/>
            <a:ext cx="4389120" cy="3271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κ=1.00 / 1.00 / 0.88</a:t>
            </a: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r>
              <a:t>code / POLST A / POLST B</a:t>
            </a: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69%</a:t>
            </a: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r>
              <a:t>Post-hoc ablation: ignore activation conditions on the same 16 vignettes → 12/16 (69%). All four errors are conditional/partial cases.</a:t>
            </a: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411480" y="59893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Also: extraction P/R = 0.94 / 1.00 • 0 out-of-scope hallucinations • 11/12 profiles exact match on all three bedside fields</a:t>
            </a:r>
          </a:p>
        </p:txBody>
      </p:sp>
      <p:pic>
        <p:nvPicPr>
          <p:cNvPr id="222" name="Picture 221" descr="eval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843797"/>
          </a:xfrm>
          <a:prstGeom prst="rect">
            <a:avLst/>
          </a:prstGeom>
        </p:spPr>
      </p:pic>
      <p:pic>
        <p:nvPicPr>
          <p:cNvPr id="223" name="Picture 222" descr="ablation_condi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03320"/>
            <a:ext cx="5486400" cy="3624758"/>
          </a:xfrm>
          <a:prstGeom prst="rect">
            <a:avLst/>
          </a:prstGeom>
        </p:spPr>
      </p:pic>
      <p:pic>
        <p:nvPicPr>
          <p:cNvPr id="224" name="Picture 223" descr="eval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97280"/>
            <a:ext cx="5577840" cy="2854953"/>
          </a:xfrm>
          <a:prstGeom prst="rect">
            <a:avLst/>
          </a:prstGeom>
        </p:spPr>
      </p:pic>
      <p:pic>
        <p:nvPicPr>
          <p:cNvPr id="225" name="Picture 224" descr="ablation_condi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611880"/>
            <a:ext cx="5577840" cy="3251802"/>
          </a:xfrm>
          <a:prstGeom prst="rect">
            <a:avLst/>
          </a:prstGeom>
        </p:spPr>
      </p:pic>
      <p:pic>
        <p:nvPicPr>
          <p:cNvPr id="226" name="Picture 225" descr="eval_two_lay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960120"/>
            <a:ext cx="11430000" cy="5488378"/>
          </a:xfrm>
          <a:prstGeom prst="rect">
            <a:avLst/>
          </a:prstGeom>
        </p:spPr>
      </p:pic>
      <p:pic>
        <p:nvPicPr>
          <p:cNvPr id="227" name="Picture 226" descr="eval_two_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960120"/>
            <a:ext cx="11430000" cy="49007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Picture 238" descr="conditional_p9_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2426717"/>
          </a:xfrm>
          <a:prstGeom prst="rect">
            <a:avLst/>
          </a:prstGeom>
        </p:spPr>
      </p:pic>
      <p:pic>
        <p:nvPicPr>
          <p:cNvPr id="240" name="Picture 2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94960" cy="2468557"/>
          </a:xfrm>
          <a:prstGeom prst="rect">
            <a:avLst/>
          </a:prstGeom>
        </p:spPr>
      </p:pic>
      <p:pic>
        <p:nvPicPr>
          <p:cNvPr id="241" name="Picture 240" descr="conditional_p9_p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486400" cy="2847962"/>
          </a:xfrm>
          <a:prstGeom prst="rect">
            <a:avLst/>
          </a:prstGeom>
        </p:spPr>
      </p:pic>
      <p:pic>
        <p:nvPicPr>
          <p:cNvPr id="242" name="Picture 241" descr="ablation_condi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34440"/>
            <a:ext cx="5029200" cy="3369371"/>
          </a:xfrm>
          <a:prstGeom prst="rect">
            <a:avLst/>
          </a:prstGeom>
        </p:spPr>
      </p:pic>
      <p:pic>
        <p:nvPicPr>
          <p:cNvPr id="243" name="Picture 242" descr="conditional_p9_p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1234440"/>
            <a:ext cx="5486400" cy="2660209"/>
          </a:xfrm>
          <a:prstGeom prst="rect">
            <a:avLst/>
          </a:prstGeom>
        </p:spPr>
      </p:pic>
      <p:pic>
        <p:nvPicPr>
          <p:cNvPr id="244" name="Picture 243" descr="ablation_condi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1234440"/>
            <a:ext cx="5029200" cy="35174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FIGURES — Track 3 &amp; code-status fidelity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3137742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669280" cy="4842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 real-world template profiles • Gold = POLST semantics • Diagonal confusion matrix = agreement across all observed code-status categories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STRENGTHENED EVALUATION — developmental validation (report / June 2026)</a:t>
            </a:r>
          </a:p>
        </p:txBody>
      </p:sp>
      <p:pic>
        <p:nvPicPr>
          <p:cNvPr id="3" name="Picture 2" descr="vignette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2788920" cy="1963197"/>
          </a:xfrm>
          <a:prstGeom prst="rect">
            <a:avLst/>
          </a:prstGeom>
        </p:spPr>
      </p:pic>
      <p:pic>
        <p:nvPicPr>
          <p:cNvPr id="4" name="Picture 3" descr="ablation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868680"/>
            <a:ext cx="2788920" cy="1625901"/>
          </a:xfrm>
          <a:prstGeom prst="rect">
            <a:avLst/>
          </a:prstGeom>
        </p:spPr>
      </p:pic>
      <p:pic>
        <p:nvPicPr>
          <p:cNvPr id="5" name="Picture 4" descr="coverage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868680"/>
            <a:ext cx="5486400" cy="2834188"/>
          </a:xfrm>
          <a:prstGeom prst="rect">
            <a:avLst/>
          </a:prstGeom>
        </p:spPr>
      </p:pic>
      <p:pic>
        <p:nvPicPr>
          <p:cNvPr id="6" name="Picture 5" descr="extraction_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703320"/>
            <a:ext cx="2788920" cy="174670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80" y="3703320"/>
            <a:ext cx="2788920" cy="154356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703320"/>
            <a:ext cx="5486400" cy="46867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722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Developmental validation — not clinical trial. Team gold; single patient ontology. Lead with ablation (69%) + coverage (47% fully representable), not only 100% vignettes.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/>
            </a:pPr>
            <a:r>
              <a:t>COHORT STRESS TEST — 20 messy profiles × 12 scenarios (520 cells)</a:t>
            </a:r>
          </a:p>
        </p:txBody>
      </p:sp>
      <p:pic>
        <p:nvPicPr>
          <p:cNvPr id="3" name="Picture 2" descr="cohort_messy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2778182"/>
          </a:xfrm>
          <a:prstGeom prst="rect">
            <a:avLst/>
          </a:prstGeom>
        </p:spPr>
      </p:pic>
      <p:pic>
        <p:nvPicPr>
          <p:cNvPr id="4" name="Picture 3" descr="cohort_baselin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868680"/>
            <a:ext cx="5669280" cy="2353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98932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~47% agreement vs simplified reference oracle (not hand-adjudicated). Flat checkbox over-asserts on 421/520 nuanced cells. Honest population stress test — complements 16/16 vignette spec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/>
            </a:pPr>
            <a:r>
              <a:t>EVALUATION DASHBOARD — developmental validation (June 2026)</a:t>
            </a:r>
          </a:p>
        </p:txBody>
      </p:sp>
      <p:pic>
        <p:nvPicPr>
          <p:cNvPr id="3" name="Picture 2" descr="eva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85800"/>
            <a:ext cx="11521440" cy="7424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/>
            </a:pPr>
            <a:r>
              <a:t>COVERAGE &amp; EXTRACTION — scope and closed-world discipline</a:t>
            </a:r>
          </a:p>
        </p:txBody>
      </p:sp>
      <p:pic>
        <p:nvPicPr>
          <p:cNvPr id="3" name="Picture 2" descr="coverage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760720" cy="2922803"/>
          </a:xfrm>
          <a:prstGeom prst="rect">
            <a:avLst/>
          </a:prstGeom>
        </p:spPr>
      </p:pic>
      <p:pic>
        <p:nvPicPr>
          <p:cNvPr id="4" name="Picture 3" descr="extraction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303520" cy="3381322"/>
          </a:xfrm>
          <a:prstGeom prst="rect">
            <a:avLst/>
          </a:prstGeom>
        </p:spPr>
      </p:pic>
      <p:pic>
        <p:nvPicPr>
          <p:cNvPr id="5" name="Picture 4" descr="vignette_spl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57600"/>
            <a:ext cx="5303520" cy="380381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/>
            </a:pPr>
            <a:r>
              <a:t>TRACK 3 — CODE STATUS &amp; POLST MAPPING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577840" cy="2957395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868680"/>
            <a:ext cx="5577840" cy="4668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