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wTtu56rGevqiwSdbkv/9xS7Bs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1 summarizes the ADO final report and is designed for a concise project presentation.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2 summarizes the ADO final report and is designed for a concise project presentation.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3 summarizes the ADO final report and is designed for a concise project presentation.</a:t>
            </a:r>
            <a:endParaRPr/>
          </a:p>
        </p:txBody>
      </p:sp>
      <p:sp>
        <p:nvSpPr>
          <p:cNvPr id="48" name="Google Shape;4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4 summarizes the ADO final report and is designed for a concise project presentation.</a:t>
            </a:r>
            <a:endParaRPr/>
          </a:p>
        </p:txBody>
      </p:sp>
      <p:sp>
        <p:nvSpPr>
          <p:cNvPr id="67" name="Google Shape;6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5 summarizes the ADO final report and is designed for a concise project presentation.</a:t>
            </a:r>
            <a:endParaRPr/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6 summarizes the ADO final report and is designed for a concise project presentation.</a:t>
            </a:r>
            <a:endParaRPr/>
          </a:p>
        </p:txBody>
      </p:sp>
      <p:sp>
        <p:nvSpPr>
          <p:cNvPr id="122" name="Google Shape;12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7 summarizes the ADO final report and is designed for a concise project presentation.</a:t>
            </a:r>
            <a:endParaRPr/>
          </a:p>
        </p:txBody>
      </p:sp>
      <p:sp>
        <p:nvSpPr>
          <p:cNvPr id="144" name="Google Shape;14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8 summarizes the ADO final report and is designed for a concise project presentation.</a:t>
            </a:r>
            <a:endParaRPr/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9 summarizes the ADO final report and is designed for a concise project presentation.</a:t>
            </a:r>
            <a:endParaRPr/>
          </a:p>
        </p:txBody>
      </p:sp>
      <p:sp>
        <p:nvSpPr>
          <p:cNvPr id="194" name="Google Shape;19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10 summarizes the ADO final report and is designed for a concise project presentation.</a:t>
            </a:r>
            <a:endParaRPr/>
          </a:p>
        </p:txBody>
      </p:sp>
      <p:sp>
        <p:nvSpPr>
          <p:cNvPr id="224" name="Google Shape;22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11 summarizes the ADO final report and is designed for a concise project presentation.</a:t>
            </a:r>
            <a:endParaRPr/>
          </a:p>
        </p:txBody>
      </p:sp>
      <p:sp>
        <p:nvSpPr>
          <p:cNvPr id="242" name="Google Shape;24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12 summarizes the ADO final report and is designed for a concise project presentation.</a:t>
            </a:r>
            <a:endParaRPr/>
          </a:p>
        </p:txBody>
      </p:sp>
      <p:sp>
        <p:nvSpPr>
          <p:cNvPr id="261" name="Google Shape;26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Presenter note: Slide 13 summarizes the ADO final report and is designed for a concise project presentation.</a:t>
            </a:r>
            <a:endParaRPr/>
          </a:p>
        </p:txBody>
      </p:sp>
      <p:sp>
        <p:nvSpPr>
          <p:cNvPr id="284" name="Google Shape;28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115568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Advance Directive Ontology (ADO)</a:t>
            </a:r>
            <a:endParaRPr b="0" i="0" sz="3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713232" y="1993392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F6F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E9F6F5"/>
                </a:solidFill>
                <a:latin typeface="Arial"/>
                <a:ea typeface="Arial"/>
                <a:cs typeface="Arial"/>
                <a:sym typeface="Arial"/>
              </a:rPr>
              <a:t>A computable representation of end-of-life care preferences in advanced heart failure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731520" y="2670048"/>
            <a:ext cx="384048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1"/>
          <p:cNvSpPr/>
          <p:nvPr/>
        </p:nvSpPr>
        <p:spPr>
          <a:xfrm>
            <a:off x="713232" y="3063240"/>
            <a:ext cx="65836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Patrick Walsh  •  Darren Chan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E9EC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9E9EC"/>
                </a:solidFill>
                <a:latin typeface="Arial"/>
                <a:ea typeface="Arial"/>
                <a:cs typeface="Arial"/>
                <a:sym typeface="Arial"/>
              </a:rPr>
              <a:t>Stanford University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635240" y="4069080"/>
            <a:ext cx="1417320" cy="91440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ontology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9372600" y="3730752"/>
            <a:ext cx="1417320" cy="914400"/>
          </a:xfrm>
          <a:prstGeom prst="rect">
            <a:avLst/>
          </a:prstGeom>
          <a:solidFill>
            <a:srgbClr val="FFF4DE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458200" y="5166360"/>
            <a:ext cx="1508760" cy="914400"/>
          </a:xfrm>
          <a:prstGeom prst="rect">
            <a:avLst/>
          </a:prstGeom>
          <a:solidFill>
            <a:srgbClr val="F6E9E6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Actionable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PROBLEM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workflow has documents, orders, and gaps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" name="Google Shape;30;p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713232" y="1627632"/>
            <a:ext cx="10149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End-of-life preferences often move through three different instruments. The loss happens in the middle: conditional patient wishes become coarse checkboxes or bedside orders.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777240" y="2907792"/>
            <a:ext cx="205740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 directive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values + wishes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36576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portable orders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400800" y="2907792"/>
            <a:ext cx="196596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Code status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bedside action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9144000" y="2907792"/>
            <a:ext cx="2103120" cy="9144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Acute crisis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do we do?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2926080" y="2615184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Low resolution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71500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Disease blind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8412480" y="2615184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4C43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4C43"/>
                </a:solidFill>
                <a:latin typeface="Arial"/>
                <a:ea typeface="Arial"/>
                <a:cs typeface="Arial"/>
                <a:sym typeface="Arial"/>
              </a:rPr>
              <a:t>No reasoning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914400" y="4617720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Example wish lost in translation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914400" y="5029200"/>
            <a:ext cx="7863840" cy="512064"/>
          </a:xfrm>
          <a:prstGeom prst="rect">
            <a:avLst/>
          </a:prstGeom>
          <a:solidFill>
            <a:srgbClr val="FFF9EA"/>
          </a:solidFill>
          <a:ln cap="flat" cmpd="sng" w="12700">
            <a:solidFill>
              <a:srgbClr val="F0D1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“I would accept a ventilator temporarily if the cause is reversible, but never indefinitely.”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914400" y="5715000"/>
            <a:ext cx="8778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checkbox can record “ventilator: yes/no,” but not the conditional structure.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WHY THIS CLINICAL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Advanced heart failure makes the gap visible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3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3" name="Google Shape;53;p3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3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13232" y="162763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Heart failure is unpredictable, device-dependent, and frequently revisited in emergency/ICU settings—exactly where preference interpretation becomes time pressured.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617720" y="2697480"/>
            <a:ext cx="2926080" cy="713232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14901"/>
              </a:srgbClr>
            </a:outerShdw>
          </a:effectLst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Advanced HF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86868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resuscitation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256032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Mechanical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983480" y="52852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ICD + device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management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543800" y="4572000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Vasopressor /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inotrope escalation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9235440" y="2542032"/>
            <a:ext cx="1783080" cy="74980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68680" y="6144768"/>
            <a:ext cx="10332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080"/>
              <a:buFont typeface="Arial"/>
              <a:buNone/>
            </a:pPr>
            <a:r>
              <a:rPr b="0" i="0" lang="en-US" sz="108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Generic AD templates rarely mention ICD deactivation, LVAD/device decisions, or inotrope escalation.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APPROACH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Core idea: turn patient language into computable preference objects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p4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4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" name="Google Shape;73;p4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713232" y="1609344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ADO preserves the original text, but gives a reasoner the structured facts it needs to decide whether a preference actually applies.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822960" y="2788920"/>
            <a:ext cx="3108960" cy="10058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“Do not continue vasopressors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if there is no improvement after 72 hours.”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754880" y="2542032"/>
            <a:ext cx="2377440" cy="64008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PreferenceStatement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635240" y="239572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Intervention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9235440" y="239572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 withdrawal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7635240" y="312724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ActivationCondition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9235440" y="312724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 improvement; 72h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635240" y="385876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Strength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235440" y="385876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strong / conditional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635240" y="459028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Negated?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9235440" y="459028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635240" y="5321808"/>
            <a:ext cx="146304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OriginalText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9235440" y="5321808"/>
            <a:ext cx="2057400" cy="438912"/>
          </a:xfrm>
          <a:prstGeom prst="rect">
            <a:avLst/>
          </a:prstGeom>
          <a:solidFill>
            <a:srgbClr val="F8FAFA"/>
          </a:solidFill>
          <a:ln cap="flat" cmpd="sng" w="15225">
            <a:solidFill>
              <a:srgbClr val="CBD8D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verbatim quote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960120" y="4645152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Why preserve original language?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60120" y="50109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It lets the system be auditable and lets clinicians see the patient’s words behind the inference.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ONTOLOGY SCOPE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ADO models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5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100584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00584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2560320" y="2011680"/>
            <a:ext cx="1371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560320" y="253288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properties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114800" y="2011680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114800" y="253288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intervention subclasses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6629400" y="1993392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Five decision points are expanded into intervention subclasses at a clinically meaningful level of granularity.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14400" y="329184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CPR / resuscitation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3337560" y="329184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CPR • defibrillation • transcutaneous pacing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914400" y="379476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Ventilation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3337560" y="379476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temporary vs. indefinite • invasive vs. non-invasive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914400" y="429768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Device management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337560" y="429768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ICD deactivation • shock therapy • LVAD • pacemaker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14400" y="480060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Escalation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337560" y="480060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vasopressor/inotrope escalation and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914400" y="5303520"/>
            <a:ext cx="2286000" cy="329184"/>
          </a:xfrm>
          <a:prstGeom prst="rect">
            <a:avLst/>
          </a:prstGeom>
          <a:solidFill>
            <a:srgbClr val="E8F3F2"/>
          </a:solidFill>
          <a:ln cap="flat" cmpd="sng" w="9525">
            <a:solidFill>
              <a:srgbClr val="CF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Dialysis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3337560" y="5303520"/>
            <a:ext cx="7040880" cy="3291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acute • chronic • withdrawal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14400" y="5961888"/>
            <a:ext cx="8961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Grounding: clinical concepts are mapped to standard terminologies such as SNOMED CT.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OUTPUT SEMANTICS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The reasoner is designed to be honest, not overconfident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6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6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6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Instead of forcing a binary answer, ADO returns one of four outputs that tell a clinician how much the directive actually says.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303520" y="3383280"/>
            <a:ext cx="1554480" cy="82296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Clinical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960120" y="2423160"/>
            <a:ext cx="2651760" cy="438912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96012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conditions met; unambiguous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960120" y="4572000"/>
            <a:ext cx="2651760" cy="438912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Partial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96012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some conditions uncertain/unmet; defer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8229600" y="2423160"/>
            <a:ext cx="2651760" cy="438912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 coverage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229600" y="291693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directive is silent for this scenario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8229600" y="4572000"/>
            <a:ext cx="2651760" cy="438912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Vague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8229600" y="5065776"/>
            <a:ext cx="2651760" cy="5486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imprecise language surfaced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2057400" y="5925312"/>
            <a:ext cx="8092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This is the safety feature: uncertainty becomes visible rather than hidden behind a confident answer.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SYSTEM IMPLEMENTATION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End-to-end architecture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7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" name="Google Shape;149;p7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7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LLMs are used only at the boundary. The ontology remains the auditable source of truth, and the deterministic reasoner produces the clinical output.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68580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form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or free text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2697480" y="2971800"/>
            <a:ext cx="155448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709160" y="2971800"/>
            <a:ext cx="1554480" cy="77724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Validated JSON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6720840" y="2971800"/>
            <a:ext cx="1554480" cy="77724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OWL ontology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+ individuals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8732520" y="2971800"/>
            <a:ext cx="1554480" cy="777240"/>
          </a:xfrm>
          <a:prstGeom prst="rect">
            <a:avLst/>
          </a:prstGeom>
          <a:solidFill>
            <a:srgbClr val="11364A"/>
          </a:solidFill>
          <a:ln cap="flat" cmpd="sng" w="15225">
            <a:solidFill>
              <a:srgbClr val="11364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Scenario-based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reasoner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0561320" y="2971800"/>
            <a:ext cx="1417320" cy="77724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note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POLST/code status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2697480" y="4160520"/>
            <a:ext cx="1554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Closed-world rule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057400" y="4498848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Extract only what the patient explicitly states; do not map out-of-scope content to the nearest covered class.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8183880" y="416052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responsibility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7818120" y="4498848"/>
            <a:ext cx="2926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 intervention + activation conditions + negation + strength against the clinical scenario.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STUDY DESIGN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Evaluation asked: does ADO reason correctly and integrate plausibly?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0" name="Google Shape;170;p8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" name="Google Shape;171;p8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8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822960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1325880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Pipeline validation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822960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Example patient → populated ontology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3035808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3538728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Clinical vignettes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3035808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16 scenarios across all decision points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5248656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751576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Ablation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248656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 vs. condition-blind variant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461504" y="2770632"/>
            <a:ext cx="411480" cy="411480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7964424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LLM extraction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461504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real-template statements + out-of-scope tests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9674352" y="2770632"/>
            <a:ext cx="411480" cy="411480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10177272" y="2615184"/>
            <a:ext cx="1600200" cy="438912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Mapping + expert review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674352" y="3273552"/>
            <a:ext cx="2148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12 directive profiles → code status/POLST; ethics review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1143000" y="4983480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Gold standards were human-defined for vignette decisions and grounded in POLST semantics for code-status mapping.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920240" y="5468112"/>
            <a:ext cx="7955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ablation isolates whether activation-condition modeling actually changes decisions.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9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QUANTITATIVE EVALUATION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Results: high fidelity, with conditionality doing real work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8" name="Google Shape;198;p9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9" name="Google Shape;199;p9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0" name="Google Shape;200;p9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777240" y="1847088"/>
            <a:ext cx="2011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77240" y="236829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vignette decision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2926080" y="1847088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8A6A5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38A6A5"/>
                </a:solidFill>
                <a:latin typeface="Arial"/>
                <a:ea typeface="Arial"/>
                <a:cs typeface="Arial"/>
                <a:sym typeface="Arial"/>
              </a:rPr>
              <a:t>16/16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2926080" y="2368296"/>
            <a:ext cx="1828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match-type accuracy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4983480" y="1847088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B14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E8B14D"/>
                </a:solidFill>
                <a:latin typeface="Arial"/>
                <a:ea typeface="Arial"/>
                <a:cs typeface="Arial"/>
                <a:sym typeface="Arial"/>
              </a:rPr>
              <a:t>0.97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983480" y="2368296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LLM extraction F1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6858000" y="1847088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6F5D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D76F5D"/>
                </a:solidFill>
                <a:latin typeface="Arial"/>
                <a:ea typeface="Arial"/>
                <a:cs typeface="Arial"/>
                <a:sym typeface="Arial"/>
              </a:rPr>
              <a:t>35/36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6858000" y="2368296"/>
            <a:ext cx="21031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code/POLST field agreement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144000" y="1847088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8518A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68518A"/>
                </a:solidFill>
                <a:latin typeface="Arial"/>
                <a:ea typeface="Arial"/>
                <a:cs typeface="Arial"/>
                <a:sym typeface="Arial"/>
              </a:rPr>
              <a:t>κ=1.00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9144000" y="2368296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code status + POLST A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1234440" y="36118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Reasoner ablation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1234440" y="40233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Full reasoner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2697480" y="4023360"/>
            <a:ext cx="3108960" cy="320040"/>
          </a:xfrm>
          <a:prstGeom prst="rect">
            <a:avLst/>
          </a:prstGeom>
          <a:solidFill>
            <a:srgbClr val="1B7F89"/>
          </a:solidFill>
          <a:ln cap="flat" cmpd="sng" w="12700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5916168" y="40599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234440" y="4590288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Condition-blind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2697480" y="4590288"/>
            <a:ext cx="2331720" cy="320040"/>
          </a:xfrm>
          <a:prstGeom prst="rect">
            <a:avLst/>
          </a:prstGeom>
          <a:solidFill>
            <a:srgbClr val="D76F5D"/>
          </a:solidFill>
          <a:ln cap="flat" cmpd="sng" w="12700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138928" y="4626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6565392" y="3886200"/>
            <a:ext cx="4160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Ignoring activation conditions produced false-confident errors on the four conditional cases.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2743200" y="5559552"/>
            <a:ext cx="676656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finding: conditional logic prevents dangerous over-reading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EXAMPLE DECISION LOGIC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What conditional reasoning changes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8" name="Google Shape;228;p10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p10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" name="Google Shape;230;p10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same directive can map to different bedside outputs depending on the scenario. ADO keeps that conditionality explicit.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401568" y="2331720"/>
            <a:ext cx="5394960" cy="77724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Directive preference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“No CPR if NYHA IV and no reversible cause.”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114300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IV + no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143000" y="4718304"/>
            <a:ext cx="2971800" cy="658368"/>
          </a:xfrm>
          <a:prstGeom prst="rect">
            <a:avLst/>
          </a:prstGeom>
          <a:solidFill>
            <a:srgbClr val="E8F3F2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DNR / clear match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8046720" y="3886200"/>
            <a:ext cx="2971800" cy="658368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Scenario B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NYHA III + reversible cause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8046720" y="4718304"/>
            <a:ext cx="2971800" cy="658368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 output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Full code / partial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1920240" y="5797296"/>
            <a:ext cx="8412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 flat checkbox cannot carry this “if/then” structure; it must either over-apply or discard it.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CLINICAL INTEGRATION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Best workflow fit: pre-populating an ACP note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6" name="Google Shape;246;p11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11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p11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713232" y="1627632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Expert review reframed ADO as documentation support rather than a legal directive. This preserves its value while avoiding the wrong legal claim.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822960" y="2788920"/>
            <a:ext cx="169164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Existing AD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verbatim wishes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3063240" y="2788920"/>
            <a:ext cx="1828800" cy="822960"/>
          </a:xfrm>
          <a:prstGeom prst="rect">
            <a:avLst/>
          </a:prstGeom>
          <a:solidFill>
            <a:srgbClr val="F0FAF8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ADO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structured preferences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5486400" y="2788920"/>
            <a:ext cx="1874520" cy="822960"/>
          </a:xfrm>
          <a:prstGeom prst="rect">
            <a:avLst/>
          </a:prstGeom>
          <a:solidFill>
            <a:srgbClr val="FFF9EA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Epic ACP note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pre-populated fields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8001000" y="2788920"/>
            <a:ext cx="2057400" cy="82296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Provider conversation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clarify or override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10195560" y="2788920"/>
            <a:ext cx="1554480" cy="822960"/>
          </a:xfrm>
          <a:prstGeom prst="rect">
            <a:avLst/>
          </a:prstGeom>
          <a:solidFill>
            <a:srgbClr val="FCEFEA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Final record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ACP + POLST/code status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1234440" y="4709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Source-of-truth priority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1234440" y="5047488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420"/>
              <a:buFont typeface="Arial"/>
              <a:buNone/>
            </a:pPr>
            <a:r>
              <a:rPr b="0" i="0" lang="en-US" sz="142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ACP conversation can clarify or supersede AD preferences. But when a decision is not revisited, the structured AD remains the best available record of the patient’s wishes.</a:t>
            </a:r>
            <a:endParaRPr b="0" i="0" sz="14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"/>
          <p:cNvSpPr/>
          <p:nvPr/>
        </p:nvSpPr>
        <p:spPr>
          <a:xfrm>
            <a:off x="685800" y="438912"/>
            <a:ext cx="7132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7F89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B7F89"/>
                </a:solidFill>
                <a:latin typeface="Arial"/>
                <a:ea typeface="Arial"/>
                <a:cs typeface="Arial"/>
                <a:sym typeface="Arial"/>
              </a:rPr>
              <a:t>LIMITS + PRIORITIES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658368" y="713232"/>
            <a:ext cx="10607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Expert review sharpened the contribution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5" name="Google Shape;265;p12"/>
          <p:cNvCxnSpPr/>
          <p:nvPr/>
        </p:nvCxnSpPr>
        <p:spPr>
          <a:xfrm>
            <a:off x="685800" y="1389888"/>
            <a:ext cx="3200400" cy="0"/>
          </a:xfrm>
          <a:prstGeom prst="straightConnector1">
            <a:avLst/>
          </a:prstGeom>
          <a:noFill/>
          <a:ln cap="flat" cmpd="sng" w="279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6" name="Google Shape;266;p12"/>
          <p:cNvCxnSpPr/>
          <p:nvPr/>
        </p:nvCxnSpPr>
        <p:spPr>
          <a:xfrm>
            <a:off x="594360" y="6473952"/>
            <a:ext cx="11000232" cy="0"/>
          </a:xfrm>
          <a:prstGeom prst="straightConnector1">
            <a:avLst/>
          </a:prstGeom>
          <a:noFill/>
          <a:ln cap="flat" cmpd="sng" w="9525">
            <a:solidFill>
              <a:srgbClr val="D8DFE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12"/>
          <p:cNvSpPr/>
          <p:nvPr/>
        </p:nvSpPr>
        <p:spPr>
          <a:xfrm>
            <a:off x="658368" y="6556248"/>
            <a:ext cx="7132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Advance Directive Ontology (ADO)  |  BMDS 210 / CS 270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11201400" y="6556248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67C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B767C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713232" y="1627632"/>
            <a:ext cx="10058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The critique did not eliminate the system’s value; it moved ADO to the right place in the clinical workflow and exposed the next modeling gaps.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987552" y="2542032"/>
            <a:ext cx="2148840" cy="384048"/>
          </a:xfrm>
          <a:prstGeom prst="rect">
            <a:avLst/>
          </a:prstGeom>
          <a:solidFill>
            <a:srgbClr val="1B7F89"/>
          </a:solidFill>
          <a:ln cap="flat" cmpd="sng" w="15225">
            <a:solidFill>
              <a:srgbClr val="1B7F89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Positioning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3337560" y="2569464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Decision-support aid, not a signed legal directive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987552" y="3200400"/>
            <a:ext cx="2148840" cy="384048"/>
          </a:xfrm>
          <a:prstGeom prst="rect">
            <a:avLst/>
          </a:prstGeom>
          <a:solidFill>
            <a:srgbClr val="E8B14D"/>
          </a:solidFill>
          <a:ln cap="flat" cmpd="sng" w="152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Dimensionality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3337560" y="3227832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Current model covers what intervention; next model must cover who decides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/>
          <p:nvPr/>
        </p:nvSpPr>
        <p:spPr>
          <a:xfrm>
            <a:off x="987552" y="3858768"/>
            <a:ext cx="2148840" cy="384048"/>
          </a:xfrm>
          <a:prstGeom prst="rect">
            <a:avLst/>
          </a:prstGeom>
          <a:solidFill>
            <a:srgbClr val="D76F5D"/>
          </a:solidFill>
          <a:ln cap="flat" cmpd="sng" w="15225">
            <a:solidFill>
              <a:srgbClr val="D76F5D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Coverage gaps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3337560" y="3886200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Artificial hydration/nutrition; antibiotics; comfort-care decisions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987552" y="4517136"/>
            <a:ext cx="2148840" cy="384048"/>
          </a:xfrm>
          <a:prstGeom prst="rect">
            <a:avLst/>
          </a:prstGeom>
          <a:solidFill>
            <a:srgbClr val="68518A"/>
          </a:solidFill>
          <a:ln cap="flat" cmpd="sng" w="15225">
            <a:solidFill>
              <a:srgbClr val="68518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Temporal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3337560" y="4544568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OWL lacks native temporal reasoning; ADO uses numeric time bounds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987552" y="5175504"/>
            <a:ext cx="2148840" cy="384048"/>
          </a:xfrm>
          <a:prstGeom prst="rect">
            <a:avLst/>
          </a:prstGeom>
          <a:solidFill>
            <a:srgbClr val="38A6A5"/>
          </a:solidFill>
          <a:ln cap="flat" cmpd="sng" w="15225">
            <a:solidFill>
              <a:srgbClr val="38A6A5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12700">
              <a:srgbClr val="000000">
                <a:alpha val="7843"/>
              </a:srgbClr>
            </a:outerShdw>
          </a:effectLst>
        </p:spPr>
        <p:txBody>
          <a:bodyPr anchorCtr="0" anchor="ctr" bIns="1500" lIns="1500" spcFirstLastPara="1" rIns="1500" wrap="square" tIns="1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Validation limits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3337560" y="5202936"/>
            <a:ext cx="7269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9656F"/>
              </a:buClr>
              <a:buSzPts val="1360"/>
              <a:buFont typeface="Arial"/>
              <a:buNone/>
            </a:pPr>
            <a:r>
              <a:rPr b="0" i="0" lang="en-US" sz="1360" u="none" cap="none" strike="noStrike">
                <a:solidFill>
                  <a:srgbClr val="59656F"/>
                </a:solidFill>
                <a:latin typeface="Arial"/>
                <a:ea typeface="Arial"/>
                <a:cs typeface="Arial"/>
                <a:sym typeface="Arial"/>
              </a:rPr>
              <a:t>Team-authored gold standards; real-EHR validation remains future work</a:t>
            </a:r>
            <a:endParaRPr b="0" i="0" sz="13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1554480" y="5779008"/>
            <a:ext cx="9098280" cy="384048"/>
          </a:xfrm>
          <a:prstGeom prst="rect">
            <a:avLst/>
          </a:prstGeom>
          <a:solidFill>
            <a:srgbClr val="11364A"/>
          </a:solidFill>
          <a:ln cap="flat" cmpd="sng" w="9525">
            <a:solidFill>
              <a:srgbClr val="11364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0" lIns="750" spcFirstLastPara="1" rIns="750" wrap="square" tIns="7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principle: use the reasoner to surface uncertainty, not to replace clinicians or surrogates</a:t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364A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"/>
          <p:cNvSpPr/>
          <p:nvPr/>
        </p:nvSpPr>
        <p:spPr>
          <a:xfrm>
            <a:off x="713232" y="804672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Takeaways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7" name="Google Shape;287;p13"/>
          <p:cNvCxnSpPr/>
          <p:nvPr/>
        </p:nvCxnSpPr>
        <p:spPr>
          <a:xfrm>
            <a:off x="731520" y="1481328"/>
            <a:ext cx="2103120" cy="0"/>
          </a:xfrm>
          <a:prstGeom prst="straightConnector1">
            <a:avLst/>
          </a:prstGeom>
          <a:noFill/>
          <a:ln cap="flat" cmpd="sng" w="38100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13"/>
          <p:cNvSpPr/>
          <p:nvPr/>
        </p:nvSpPr>
        <p:spPr>
          <a:xfrm>
            <a:off x="868680" y="205740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1508760" y="207568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ADO makes conditional, graded, negatable EOL preferences computable.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868680" y="283464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1508760" y="285292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safest outputs include honest non-answers: no coverage, partial, and vague.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868680" y="361188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1508760" y="363016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LLMs are useful for extraction, but the auditable ontology/reasoner should own inference.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868680" y="4389120"/>
            <a:ext cx="411480" cy="411480"/>
          </a:xfrm>
          <a:prstGeom prst="rect">
            <a:avLst/>
          </a:prstGeom>
          <a:solidFill>
            <a:srgbClr val="E8B14D"/>
          </a:solidFill>
          <a:ln cap="flat" cmpd="sng" w="9525">
            <a:solidFill>
              <a:srgbClr val="E8B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364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364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1508760" y="4407408"/>
            <a:ext cx="96012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F4F4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7F4F4"/>
                </a:solidFill>
                <a:latin typeface="Arial"/>
                <a:ea typeface="Arial"/>
                <a:cs typeface="Arial"/>
                <a:sym typeface="Arial"/>
              </a:rPr>
              <a:t>The near-term product is ACP documentation support, not a legal directive.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68680" y="5715000"/>
            <a:ext cx="10698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steps: surrogate/override modeling • artificial nutrition/hydration • time-limited trials • real-EHR validation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2026-05-31T02:48:26Z</dcterms:created>
  <dc:creator>OpenAI</dc:creator>
</cp:coreProperties>
</file>