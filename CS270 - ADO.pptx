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p6LmRjsUncn69bxdOVGYwHnEX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PW: “I'm Patrick Walsh, this is Darren Chan. Our project is ADO — the Advance Directive Ontology. In one sentence: advance directives tell us what patients want at the end of life, but those documents are nearly useless when a clinician has to act on them at 2 a.m. We built a system that makes those preferences computable — and, critically, honest about what it doesn't know. ADO is decision support, not a legal directive."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**Transition:</a:t>
            </a:r>
            <a:r>
              <a:rPr lang="en-US" sz="1500"/>
              <a:t>** "</a:t>
            </a:r>
            <a:r>
              <a:rPr lang="en-US" sz="1500"/>
              <a:t>The problem is cascading information loss."</a:t>
            </a:r>
            <a:endParaRPr sz="1500"/>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 </a:t>
            </a:r>
            <a:r>
              <a:rPr lang="en-US"/>
              <a:t>"A patient's advance directive captures nuanced, conditional wishes: 'CPR only if there's a reversible cause.' That becomes a POLST — portable medical orders. That becomes a bedside code-status box: full code or DNR. At every translation, information vanishes. A patient's 'ventilator for a few days if reversible, but never indefinitely' collapses into one checkbox or disappears entirely. The deeper problem: these instruments are *low-resolution* and *disease-blind*. Generic templates don't mention ICDs, LVADs, or inotropes — yet 200,000 HF patients have devices. Heart failure is where this gap becomes dangerous."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"So we asked: what's the smallest structure that preserves patient logic?"</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t>PW: </a:t>
            </a:r>
            <a:r>
              <a:rPr lang="en-US" sz="1100"/>
              <a:t>"Everything in ADO is built from one core object — the PreferenceStatement. It has five parts: the specific **intervention** (CPR, Indefinite Ventilation, etc.); the **activation conditions** (what circumstances it applies to: NYHA class, clinical condition, reversible cause); the **strength** (Absolute vs. Weak); a **negated flag** (refuse vs. want); and the patient's **verbatim words**. That single record holds the patient's actual logic — not collapsed into a yes/no box. Later, when the reasoner meets a clinical scenario, it checks those conditions one by one instead of guessing."</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**Transition (Darren):** "That's the unit. We built an ontology on top of it."</a:t>
            </a:r>
            <a:endParaRPr sz="1100"/>
          </a:p>
        </p:txBody>
      </p:sp>
      <p:sp>
        <p:nvSpPr>
          <p:cNvPr id="48" name="Google Shape;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c88dc7738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c88dc7738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Darren: </a:t>
            </a:r>
            <a:r>
              <a:rPr lang="en-US"/>
              <a:t>"The ontology has 67 classes, 22 properties, and 21 specific interventions. Five decision points: Device management (ICD, LVAD, pacemaker deactivation), Resuscitation (CPR, pacing, defibrillation), Ventilation, Pharmacologic (vasopressors, inotropes), and Dialysis. The key design: Ventilation splits into Intubation → Temporary vs. Indefinite. A patient says 'few days if reversible' — that's Temporary. 'Never indefinitely' — that's Indefinite. A checkbox collapses both. We keep them apart. This is OWL 2 DL, consistency-checked with HermiT, not a lookup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"How does the system work?"</a:t>
            </a:r>
            <a:endParaRPr/>
          </a:p>
        </p:txBody>
      </p:sp>
      <p:sp>
        <p:nvSpPr>
          <p:cNvPr id="74" name="Google Shape;74;g3ec88dc7738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c88dc7738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c88dc7738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"DC: We built the ontology in Protégé, Stanford's OWL editor. HermiT validates it offline — classifies the hierarchy, detects contradictions, checks that every constraint is satisfiable. Once locked and sound, we export it as standard W3C OWL 2 DL and load it with owlready2 for programmatic querying. The reasoner is deterministic: every vignette produces the same answer on every run. We validated this by re-running our 16 vignettes three times — 100% agreement each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"Now here's what happens when you query."</a:t>
            </a:r>
            <a:endParaRPr/>
          </a:p>
        </p:txBody>
      </p:sp>
      <p:sp>
        <p:nvSpPr>
          <p:cNvPr id="80" name="Google Shape;80;g3ec88dc7738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c88dc7738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c88dc7738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DC: "A vignette is a clinical snapshot: cardiac arrest, NYHA IV, no reversible cause. We search the patient's ontology for matching preferences — here, a CPR-negated preference. Then we check its activation conditions one by one: NYHA IV met? Yes. No reversible cause required? Yes. Time bound? None. Conditions satisfied? All yes → decision: 'no', match type: 'clear'. Same preference, different scenario: patient is NYHA III and cause IS reversible. Conditions not all met → decision still 'no' [because preference is negated, unmet conditions mean CPR is allowed], but match type: 'partial' — defer to surrogate. The key: conditions are independent. Some met means partial, not met means no coverage, ambiguous language means vague. The reasoner can be honest."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"That's one patient at scale. But one isn't enough."</a:t>
            </a:r>
            <a:endParaRPr/>
          </a:p>
        </p:txBody>
      </p:sp>
      <p:sp>
        <p:nvSpPr>
          <p:cNvPr id="86" name="Google Shape;86;g3ec88dc7738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DC:</a:t>
            </a:r>
            <a:r>
              <a:rPr lang="en-US"/>
              <a:t>"Given a patient's encoded preferences and a clinical scenario, the reasoner returns one of four outputs. *Clear*: the conditions are met and the answer is unambiguous. *Partial*: some conditions are met but others aren't, so we defer to the surrogate rather than guess. *No coverage*: the directive simply doesn't address this situation — escalate, don't presume. And *Vague*: when the language is irreducibly fuzzy, like 'no heroic measures,' we surface the patient's own words instead of forcing a yes or no. In this setting, a system that *can't* say 'I don't know' isn't a convenience problem — it's a safety failure. Those three honest non-answers are the point."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2" name="Google Shape;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c88dc7738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c88dc7738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PW: "Layer one — the spec test: one patient, 16 development vignettes, all correct. 10 held-out vignettes, all correct — 26 out of 26. When we remove activation conditions, accuracy drops to 69%, proving the conditional logic does real work. But this is *one carefully-encoded patient*. It's a proof of correctness, not generalization.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two — the honest layer: 20 realistically-encoded patient profiles, 12 clinical scenarios, 520 decision cells total. ADO agrees with a simplified reference oracle on about 47% of cells. Much lower. And that's the point — real directive encoding is *hard*. Ambiguity, gaps, clinician variation. But here's what matters: in 421 of those 520 cells — 81% — the correct answer was genuinely partial, vague, or no-coverage. A checkbox forces yes or no anyway. ADO preserves the actual uncertainty. That's the win: spec test proves correctness; stress test proves honesty."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"Here's what conditional reasoning concretely buys you."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"Layer one — the spec test: one patient, 16 development vignettes, all correct. 10 held-out vignettes, all correct — 26 out of 26. When we remove activation conditions, accuracy drops to 69%, proving the conditional logic does real work. But this is *one carefully-encoded patient*. It's a proof of correctness, not generalization.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two — the honest layer: 20 realistically-encoded patient profiles, 12 clinical scenarios, 520 decision cells total. ADO agrees with a simplified reference oracle on about 47% of cells. Much lower. And that's the point — real directive encoding is *hard*. Ambiguity, gaps, clinician variation. But here's what matters: in 421 of those 520 cells — 81% — the correct answer was genuinely partial, vague, or no-coverage. A checkbox forces yes or no anyway. ADO preserves the actual uncertainty. That's the win: spec test proves correctness; stress test proves honesty."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"Here's what conditional reasoning concretely buys you."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**Speaker notes:**</a:t>
            </a:r>
            <a:endParaRPr/>
          </a:p>
          <a:p>
            <a:pPr indent="0" lvl="0" marL="0" rtl="0" algn="l">
              <a:spcBef>
                <a:spcPts val="0"/>
              </a:spcBef>
              <a:spcAft>
                <a:spcPts val="0"/>
              </a:spcAft>
              <a:buNone/>
            </a:pPr>
            <a:r>
              <a:rPr lang="en-US"/>
              <a:t>"[Point to the left panel: Layer A, the vignette spec test.] This is layer one — controlled, tidy, one encoded patient. 16 development vignettes, all correct. 10 held-out vignettes, all correct — that's 26 out of 26. And when we strip out activation conditions (</a:t>
            </a:r>
            <a:r>
              <a:rPr lang="en-US"/>
              <a:t>treat every preference as unconditional) </a:t>
            </a:r>
            <a:r>
              <a:rPr lang="en-US"/>
              <a:t>it drops to 11 out of 16, or 69%. That tells us the conditional logic is doing real work. But here's the crucial caveat: this is *one patient*, carefully encoded by the team. It's a specification test — proof that the logic is consistent — not proof that it generalizes.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[Point to the right panel: Layer B, the cohort stress test.] This is the honest layer. We took 20 messy, realistically-encoded patient profiles — varying in quality, some contradictory, some minimal — and ran them through 12 clinical scenarios. That's 520 decision cells. ADO agreed with an independent, simplified reference oracle on about 47% of those cells. That's *much* lower than the vignettes, and that's exactly the point. It's not a failure — it's where the rubber meets the road. Real-world preference encoding is hard; there's ambiguity in the chart, gaps in what was documented, clinicians coding things differently. That 47% reflects that reality, not a deployment-ready error 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here's what matters most. [Point to the lower annotation.] In 421 of those 520 cells — that's 81% — the correct answer was partial, vague, or no-coverage. In other words, there was genuine uncertainty or the directive didn't address the scenario. If you gave a flat checkbox to a clinician in those 421 cases, they'd be forced to pick yes or no anyway, guessing. ADO says 'defer to the surrogate' or 'the directive is silent.' That epistemic honesty is the entire architectural win."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"Let me show you concretely what the conditional layer buys."</a:t>
            </a:r>
            <a:endParaRPr/>
          </a:p>
          <a:p>
            <a:pPr indent="0" lvl="0" marL="0" rtl="0" algn="l">
              <a:spcBef>
                <a:spcPts val="0"/>
              </a:spcBef>
              <a:spcAft>
                <a:spcPts val="0"/>
              </a:spcAft>
              <a:buNone/>
            </a:pPr>
            <a:r>
              <a:t/>
            </a:r>
            <a:endParaRPr/>
          </a:p>
        </p:txBody>
      </p:sp>
      <p:sp>
        <p:nvSpPr>
          <p:cNvPr id="114" name="Google Shape;114;g3ec88dc7738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 "The directive goes through ADO. ADO extracts and structures the preferences into ontology individuals. That feeds into Epic to pre-populate an advance-care-planning note with structured fields. The clinician and family then have a summary to start the conversation — they can clarify, override, or update. The final record is what a human signs. ADO is documentation support, not a decision-maker. It informs; humans decide."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"With that, a few honest limits and what's next."</a:t>
            </a:r>
            <a:endParaRPr/>
          </a:p>
        </p:txBody>
      </p:sp>
      <p:sp>
        <p:nvSpPr>
          <p:cNvPr id="120" name="Google Shape;1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DC: </a:t>
            </a:r>
            <a:r>
              <a:rPr lang="en-US"/>
              <a:t>"The architecture has one organizing principle: language models are used *only at the boundaries*. A free-text directive goes through an LLM that extracts structured preferences — and we constrain it to *closed-world* extraction, meaning it encodes only what the patient actually said and never infers. Those structured preferences populate the ontology, which is the auditable source of truth, and the reasoner produces the decision. Why this split? Because a pure language model in end-of-life care is dangerous — it's non-deterministic and confidently wrong. An auditable reasoner can do the one thing the LLM won't: honestly report when the directive is silent."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"So — does it actually work? We tested it six ways, including a 520-cell cohort stress test." *(Darren continues into Act III.)*</a:t>
            </a:r>
            <a:endParaRPr/>
          </a:p>
          <a:p>
            <a:pPr indent="0" lvl="0" marL="0" rtl="0" algn="l">
              <a:spcBef>
                <a:spcPts val="0"/>
              </a:spcBef>
              <a:spcAft>
                <a:spcPts val="0"/>
              </a:spcAft>
              <a:buNone/>
            </a:pPr>
            <a:r>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 </a:t>
            </a:r>
            <a:r>
              <a:rPr lang="en-US"/>
              <a:t>"EOL care is incredibly complex and </a:t>
            </a:r>
            <a:endParaRPr/>
          </a:p>
          <a:p>
            <a:pPr indent="-317500" lvl="0" marL="457200" rtl="0" algn="l">
              <a:spcBef>
                <a:spcPts val="0"/>
              </a:spcBef>
              <a:spcAft>
                <a:spcPts val="0"/>
              </a:spcAft>
              <a:buSzPts val="1400"/>
              <a:buAutoNum type="arabicPeriod"/>
            </a:pPr>
            <a:r>
              <a:rPr lang="en-US"/>
              <a:t>Positioning: ADO has no legal force.</a:t>
            </a:r>
            <a:endParaRPr/>
          </a:p>
          <a:p>
            <a:pPr indent="-317500" lvl="0" marL="457200" rtl="0" algn="l">
              <a:spcBef>
                <a:spcPts val="0"/>
              </a:spcBef>
              <a:spcAft>
                <a:spcPts val="0"/>
              </a:spcAft>
              <a:buSzPts val="1400"/>
              <a:buAutoNum type="arabicPeriod"/>
            </a:pPr>
            <a:r>
              <a:rPr lang="en-US"/>
              <a:t>Dimensionality: </a:t>
            </a:r>
            <a:r>
              <a:rPr lang="en-US"/>
              <a:t>Magnus also identified the deepest gap: the model is one-dimensional. </a:t>
            </a:r>
            <a:r>
              <a:rPr lang="en-US"/>
              <a:t>Real preferences have a second axis — not just *what* you want, but *who* decides — and many patients explicitly want their family to be able to override them. So our priorities are: add that surrogate-override axis</a:t>
            </a:r>
            <a:endParaRPr/>
          </a:p>
          <a:p>
            <a:pPr indent="-317500" lvl="0" marL="457200" rtl="0" algn="l">
              <a:spcBef>
                <a:spcPts val="0"/>
              </a:spcBef>
              <a:spcAft>
                <a:spcPts val="0"/>
              </a:spcAft>
              <a:buSzPts val="1400"/>
              <a:buAutoNum type="arabicPeriod"/>
            </a:pPr>
            <a:r>
              <a:rPr lang="en-US"/>
              <a:t>Coverage gaps: add artificial nutrition and the POLST time-limited-trial concept, and validate against real EHR code-status data."</a:t>
            </a:r>
            <a:endParaRPr/>
          </a:p>
          <a:p>
            <a:pPr indent="-317500" lvl="0" marL="457200" rtl="0" algn="l">
              <a:spcBef>
                <a:spcPts val="0"/>
              </a:spcBef>
              <a:spcAft>
                <a:spcPts val="0"/>
              </a:spcAft>
              <a:buSzPts val="1400"/>
              <a:buAutoNum type="arabicPeriod"/>
            </a:pPr>
            <a:r>
              <a:rPr lang="en-US"/>
              <a:t>Temporal Limits: OWL lacks native temporal reasoning; ADO uses numeric time bounds</a:t>
            </a:r>
            <a:endParaRPr/>
          </a:p>
          <a:p>
            <a:pPr indent="-317500" lvl="0" marL="457200" rtl="0" algn="l">
              <a:spcBef>
                <a:spcPts val="0"/>
              </a:spcBef>
              <a:spcAft>
                <a:spcPts val="0"/>
              </a:spcAft>
              <a:buSzPts val="1400"/>
              <a:buAutoNum type="arabicPeriod"/>
            </a:pPr>
            <a:r>
              <a:rPr lang="en-US"/>
              <a:t>Validation limits: </a:t>
            </a:r>
            <a:r>
              <a:rPr lang="en-US"/>
              <a:t>Our cohort 'oracle' is a simplified reference, not hand-adjudicated clinical gold, so that 47% is a stress-test signal. Next, we will validate against real EHR code-status data. We have shown developmental validation; next is clinical validation."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"To bring it together —"</a:t>
            </a:r>
            <a:endParaRPr/>
          </a:p>
        </p:txBody>
      </p:sp>
      <p:sp>
        <p:nvSpPr>
          <p:cNvPr id="165" name="Google Shape;1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a:t>
            </a:r>
            <a:r>
              <a:rPr lang="en-US"/>
              <a:t>Four takeaways. </a:t>
            </a:r>
            <a:endParaRPr/>
          </a:p>
          <a:p>
            <a:pPr indent="0" lvl="0" marL="0" rtl="0" algn="l">
              <a:spcBef>
                <a:spcPts val="0"/>
              </a:spcBef>
              <a:spcAft>
                <a:spcPts val="0"/>
              </a:spcAft>
              <a:buNone/>
            </a:pPr>
            <a:r>
              <a:rPr lang="en-US"/>
              <a:t>One: ADO makes conditional, graded, negatable end-of-life preferences computable. </a:t>
            </a:r>
            <a:endParaRPr/>
          </a:p>
          <a:p>
            <a:pPr indent="0" lvl="0" marL="0" rtl="0" algn="l">
              <a:spcBef>
                <a:spcPts val="0"/>
              </a:spcBef>
              <a:spcAft>
                <a:spcPts val="0"/>
              </a:spcAft>
              <a:buNone/>
            </a:pPr>
            <a:r>
              <a:rPr lang="en-US"/>
              <a:t>Two: it produces honest outputs — including honest non-answers: 'partial', 'no coverage', 'vague'. </a:t>
            </a:r>
            <a:endParaRPr/>
          </a:p>
          <a:p>
            <a:pPr indent="0" lvl="0" marL="0" rtl="0" algn="l">
              <a:spcBef>
                <a:spcPts val="0"/>
              </a:spcBef>
              <a:spcAft>
                <a:spcPts val="0"/>
              </a:spcAft>
              <a:buNone/>
            </a:pPr>
            <a:r>
              <a:rPr lang="en-US"/>
              <a:t>Three: the architecture is ontology *with* LLMs at the boundaries — not ontology versus LLM. The code, ontology, and all evaluation are on GitHub."</a:t>
            </a:r>
            <a:endParaRPr/>
          </a:p>
          <a:p>
            <a:pPr indent="0" lvl="0" marL="0" rtl="0" algn="l">
              <a:spcBef>
                <a:spcPts val="0"/>
              </a:spcBef>
              <a:spcAft>
                <a:spcPts val="0"/>
              </a:spcAft>
              <a:buNone/>
            </a:pPr>
            <a:r>
              <a:rPr lang="en-US"/>
              <a:t>Four: The near-term product is ACP documentation support, not a legal directive.</a:t>
            </a:r>
            <a:endParaRPr/>
          </a:p>
          <a:p>
            <a:pPr indent="0" lvl="0" marL="0" rtl="0" algn="l">
              <a:spcBef>
                <a:spcPts val="0"/>
              </a:spcBef>
              <a:spcAft>
                <a:spcPts val="0"/>
              </a:spcAft>
              <a:buNone/>
            </a:pPr>
            <a:r>
              <a:t/>
            </a:r>
            <a:endParaRPr/>
          </a:p>
        </p:txBody>
      </p:sp>
      <p:sp>
        <p:nvSpPr>
          <p:cNvPr id="188" name="Google Shape;18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c88dc773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ec88dc7738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 "EOL care is incredibly complex and </a:t>
            </a:r>
            <a:endParaRPr/>
          </a:p>
          <a:p>
            <a:pPr indent="-317500" lvl="0" marL="457200" rtl="0" algn="l">
              <a:spcBef>
                <a:spcPts val="0"/>
              </a:spcBef>
              <a:spcAft>
                <a:spcPts val="0"/>
              </a:spcAft>
              <a:buSzPts val="1400"/>
              <a:buAutoNum type="arabicPeriod"/>
            </a:pPr>
            <a:r>
              <a:rPr lang="en-US"/>
              <a:t>Positioning: ADO has no legal force.</a:t>
            </a:r>
            <a:endParaRPr/>
          </a:p>
          <a:p>
            <a:pPr indent="-317500" lvl="0" marL="457200" rtl="0" algn="l">
              <a:spcBef>
                <a:spcPts val="0"/>
              </a:spcBef>
              <a:spcAft>
                <a:spcPts val="0"/>
              </a:spcAft>
              <a:buSzPts val="1400"/>
              <a:buAutoNum type="arabicPeriod"/>
            </a:pPr>
            <a:r>
              <a:rPr lang="en-US"/>
              <a:t>Dimensionality: Magnus also identified the deepest gap: the model is one-dimensional. Real preferences have a second axis — not just *what* you want, but *who* decides — and many patients explicitly want their family to be able to override them. So our priorities are: add that surrogate-override axis</a:t>
            </a:r>
            <a:endParaRPr/>
          </a:p>
          <a:p>
            <a:pPr indent="-317500" lvl="0" marL="457200" rtl="0" algn="l">
              <a:spcBef>
                <a:spcPts val="0"/>
              </a:spcBef>
              <a:spcAft>
                <a:spcPts val="0"/>
              </a:spcAft>
              <a:buSzPts val="1400"/>
              <a:buAutoNum type="arabicPeriod"/>
            </a:pPr>
            <a:r>
              <a:rPr lang="en-US"/>
              <a:t>Coverage gaps: add artificial nutrition and the POLST time-limited-trial concept, and validate against real EHR code-status data."</a:t>
            </a:r>
            <a:endParaRPr/>
          </a:p>
          <a:p>
            <a:pPr indent="-317500" lvl="0" marL="457200" rtl="0" algn="l">
              <a:spcBef>
                <a:spcPts val="0"/>
              </a:spcBef>
              <a:spcAft>
                <a:spcPts val="0"/>
              </a:spcAft>
              <a:buSzPts val="1400"/>
              <a:buAutoNum type="arabicPeriod"/>
            </a:pPr>
            <a:r>
              <a:rPr lang="en-US"/>
              <a:t>Temporal Limits: OWL lacks native temporal reasoning; ADO uses numeric time bounds</a:t>
            </a:r>
            <a:endParaRPr/>
          </a:p>
          <a:p>
            <a:pPr indent="-317500" lvl="0" marL="457200" rtl="0" algn="l">
              <a:spcBef>
                <a:spcPts val="0"/>
              </a:spcBef>
              <a:spcAft>
                <a:spcPts val="0"/>
              </a:spcAft>
              <a:buSzPts val="1400"/>
              <a:buAutoNum type="arabicPeriod"/>
            </a:pPr>
            <a:r>
              <a:rPr lang="en-US"/>
              <a:t>Validation limits: Our cohort 'oracle' is a simplified reference, not hand-adjudicated clinical gold, so that 47% is a stress-test signal. Next, we will validate against real EHR code-status data. We have shown developmental validation; next is clinical validation."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"To bring it together —"</a:t>
            </a:r>
            <a:endParaRPr/>
          </a:p>
        </p:txBody>
      </p:sp>
      <p:sp>
        <p:nvSpPr>
          <p:cNvPr id="204" name="Google Shape;204;g3ec88dc7738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c88dc7738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ec88dc7738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 "EOL care is incredibly complex and </a:t>
            </a:r>
            <a:endParaRPr/>
          </a:p>
          <a:p>
            <a:pPr indent="-317500" lvl="0" marL="457200" rtl="0" algn="l">
              <a:spcBef>
                <a:spcPts val="0"/>
              </a:spcBef>
              <a:spcAft>
                <a:spcPts val="0"/>
              </a:spcAft>
              <a:buSzPts val="1400"/>
              <a:buAutoNum type="arabicPeriod"/>
            </a:pPr>
            <a:r>
              <a:rPr lang="en-US"/>
              <a:t>Positioning: ADO has no legal force.</a:t>
            </a:r>
            <a:endParaRPr/>
          </a:p>
          <a:p>
            <a:pPr indent="-317500" lvl="0" marL="457200" rtl="0" algn="l">
              <a:spcBef>
                <a:spcPts val="0"/>
              </a:spcBef>
              <a:spcAft>
                <a:spcPts val="0"/>
              </a:spcAft>
              <a:buSzPts val="1400"/>
              <a:buAutoNum type="arabicPeriod"/>
            </a:pPr>
            <a:r>
              <a:rPr lang="en-US"/>
              <a:t>Dimensionality: Magnus also identified the deepest gap: the model is one-dimensional. Real preferences have a second axis — not just *what* you want, but *who* decides — and many patients explicitly want their family to be able to override them. So our priorities are: add that surrogate-override axis</a:t>
            </a:r>
            <a:endParaRPr/>
          </a:p>
          <a:p>
            <a:pPr indent="-317500" lvl="0" marL="457200" rtl="0" algn="l">
              <a:spcBef>
                <a:spcPts val="0"/>
              </a:spcBef>
              <a:spcAft>
                <a:spcPts val="0"/>
              </a:spcAft>
              <a:buSzPts val="1400"/>
              <a:buAutoNum type="arabicPeriod"/>
            </a:pPr>
            <a:r>
              <a:rPr lang="en-US"/>
              <a:t>Coverage gaps: add artificial nutrition and the POLST time-limited-trial concept, and validate against real EHR code-status data."</a:t>
            </a:r>
            <a:endParaRPr/>
          </a:p>
          <a:p>
            <a:pPr indent="-317500" lvl="0" marL="457200" rtl="0" algn="l">
              <a:spcBef>
                <a:spcPts val="0"/>
              </a:spcBef>
              <a:spcAft>
                <a:spcPts val="0"/>
              </a:spcAft>
              <a:buSzPts val="1400"/>
              <a:buAutoNum type="arabicPeriod"/>
            </a:pPr>
            <a:r>
              <a:rPr lang="en-US"/>
              <a:t>Temporal Limits: OWL lacks native temporal reasoning; ADO uses numeric time bounds</a:t>
            </a:r>
            <a:endParaRPr/>
          </a:p>
          <a:p>
            <a:pPr indent="-317500" lvl="0" marL="457200" rtl="0" algn="l">
              <a:spcBef>
                <a:spcPts val="0"/>
              </a:spcBef>
              <a:spcAft>
                <a:spcPts val="0"/>
              </a:spcAft>
              <a:buSzPts val="1400"/>
              <a:buAutoNum type="arabicPeriod"/>
            </a:pPr>
            <a:r>
              <a:rPr lang="en-US"/>
              <a:t>Validation limits: Our cohort 'oracle' is a simplified reference, not hand-adjudicated clinical gold, so that 47% is a stress-test signal. Next, we will validate against real EHR code-status data. We have shown developmental validation; next is clinical validation."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"To bring it together —"</a:t>
            </a:r>
            <a:endParaRPr/>
          </a:p>
        </p:txBody>
      </p:sp>
      <p:sp>
        <p:nvSpPr>
          <p:cNvPr id="212" name="Google Shape;212;g3ec88dc7738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DC: </a:t>
            </a:r>
            <a:r>
              <a:rPr lang="en-US"/>
              <a:t>"Layer one is the controlled specification test: on a single, carefully encoded patient, the reasoner scored 16 out of 16 on development vignettes and 10 out of 10 on held-out vignettes. That tells us the logic is correct — but it's one patient, so it's a spec test, not generalization. The honest layer is layer two: the cohort stress test. Across 520 decision cells from 20 messy, realistically-encoded profiles, ADO agreed with an independent simplified reference oracle about 47% of the time. That number is *much* lower than the vignettes, and that's the point — it reflects how hard messy real-world encoding actually is, and it's nowhere near a deployment-ready error rate. But here's the comparison that matters: in 421 of those 520 cells — 81% — the correct answer was partial, vague, or no-coverage, where a flat checkbox is *forced* to give a definitive yes or no. ADO preserves the honesty a checkbox structurally cannot."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"Let me show you concretely what the conditional layer buys."</a:t>
            </a:r>
            <a:endParaRPr/>
          </a:p>
        </p:txBody>
      </p:sp>
      <p:sp>
        <p:nvSpPr>
          <p:cNvPr id="220" name="Google Shape;22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c88dc773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c88dc7738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PW: </a:t>
            </a:r>
            <a:r>
              <a:rPr lang="en-US"/>
              <a:t>**Notes on the cohort design:** "Twenty patient profiles tagged by messiness level — clean, minimal, contradictory, incomplete — crossed with 12 clinical scenarios. That's 520 decision cells total. ADO agrees with a simplified independent oracle on about 47% of those cells."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**Notes on the baseline comparison (the key figure):** "The right panel compares three approaches on these 520 cells. First, ADO — 47% agreement with the oracle, meaning partial, vague, and no-coverage answers in the remaining 53%. Second, a checkbox with *full-code default* — if the directive is silent, presume full resuscitation. That approach scores artificially high on agreement because it matches the oracle's 'no coverage = defer' on only some cells, but it's dangerously overconfident. Third, a checkbox that's *blank if silent* — it leaves the cell unspecified. That's lower agreement because it doesn't commit to an answer. The real win for ADO: in 421 of the 520 cells — 81% — the correct answer was genuinely partial, vague, or no-coverage. A checkbox forces yes or no anyway; ADO says 'I don't know,' which is exactly right. Performance also stratifies by messiness: clean profiles score highest, contradictory and minimal encodings lower — that's honest sensitivity to data quality, not a bug."</a:t>
            </a:r>
            <a:endParaRPr/>
          </a:p>
        </p:txBody>
      </p:sp>
      <p:sp>
        <p:nvSpPr>
          <p:cNvPr id="257" name="Google Shape;257;g3ec88dc7738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DC: </a:t>
            </a:r>
            <a:r>
              <a:rPr lang="en-US"/>
              <a:t>"Same preference, two scenarios. Scenario A: NYHA IV, no reversible cause — conditions met, answer is unambiguous: DNR. Scenario B: NYHA III, reversible cause — conditions not met, answer is 'allow CPR,' but partial because the directive only *conditionally* applies. A flat checkbox cannot carry 'if/then.' It applies everywhere or nowhere. ADO keeps the conditionality explicit — same directive, two scenarios, two correct answers. That's what the 69% ablation told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(to Patrick):** "So where does this fit in real care?"</a:t>
            </a:r>
            <a:endParaRPr/>
          </a:p>
        </p:txBody>
      </p:sp>
      <p:sp>
        <p:nvSpPr>
          <p:cNvPr id="263" name="Google Shape;2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364A"/>
        </a:solidFill>
      </p:bgPr>
    </p:bg>
    <p:spTree>
      <p:nvGrpSpPr>
        <p:cNvPr id="15" name="Shape 15"/>
        <p:cNvGrpSpPr/>
        <p:nvPr/>
      </p:nvGrpSpPr>
      <p:grpSpPr>
        <a:xfrm>
          <a:off x="0" y="0"/>
          <a:ext cx="0" cy="0"/>
          <a:chOff x="0" y="0"/>
          <a:chExt cx="0" cy="0"/>
        </a:xfrm>
      </p:grpSpPr>
      <p:sp>
        <p:nvSpPr>
          <p:cNvPr id="16" name="Google Shape;16;p1"/>
          <p:cNvSpPr/>
          <p:nvPr/>
        </p:nvSpPr>
        <p:spPr>
          <a:xfrm>
            <a:off x="685800" y="1115568"/>
            <a:ext cx="10698480" cy="7315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3900"/>
              <a:buFont typeface="Arial"/>
              <a:buNone/>
            </a:pPr>
            <a:r>
              <a:rPr b="1" i="0" lang="en-US" sz="3900" u="none" cap="none" strike="noStrike">
                <a:solidFill>
                  <a:srgbClr val="FFFFFF"/>
                </a:solidFill>
                <a:latin typeface="Arial"/>
                <a:ea typeface="Arial"/>
                <a:cs typeface="Arial"/>
                <a:sym typeface="Arial"/>
              </a:rPr>
              <a:t>The Advance Directive Ontology (ADO)</a:t>
            </a:r>
            <a:endParaRPr b="0" i="0" sz="3900" u="none" cap="none" strike="noStrike">
              <a:solidFill>
                <a:schemeClr val="dk1"/>
              </a:solidFill>
              <a:latin typeface="Arial"/>
              <a:ea typeface="Arial"/>
              <a:cs typeface="Arial"/>
              <a:sym typeface="Arial"/>
            </a:endParaRPr>
          </a:p>
        </p:txBody>
      </p:sp>
      <p:sp>
        <p:nvSpPr>
          <p:cNvPr id="17" name="Google Shape;17;p1"/>
          <p:cNvSpPr/>
          <p:nvPr/>
        </p:nvSpPr>
        <p:spPr>
          <a:xfrm>
            <a:off x="713232" y="1993392"/>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F6F5"/>
              </a:buClr>
              <a:buSzPts val="2000"/>
              <a:buFont typeface="Arial"/>
              <a:buNone/>
            </a:pPr>
            <a:r>
              <a:rPr b="0" i="0" lang="en-US" sz="2000" u="none" cap="none" strike="noStrike">
                <a:solidFill>
                  <a:srgbClr val="E9F6F5"/>
                </a:solidFill>
                <a:latin typeface="Arial"/>
                <a:ea typeface="Arial"/>
                <a:cs typeface="Arial"/>
                <a:sym typeface="Arial"/>
              </a:rPr>
              <a:t>A computable representation of end-of-life care preferences in advanced heart failure</a:t>
            </a:r>
            <a:endParaRPr b="0" i="0" sz="2000" u="none" cap="none" strike="noStrike">
              <a:solidFill>
                <a:schemeClr val="dk1"/>
              </a:solidFill>
              <a:latin typeface="Arial"/>
              <a:ea typeface="Arial"/>
              <a:cs typeface="Arial"/>
              <a:sym typeface="Arial"/>
            </a:endParaRPr>
          </a:p>
        </p:txBody>
      </p:sp>
      <p:cxnSp>
        <p:nvCxnSpPr>
          <p:cNvPr id="18" name="Google Shape;18;p1"/>
          <p:cNvCxnSpPr/>
          <p:nvPr/>
        </p:nvCxnSpPr>
        <p:spPr>
          <a:xfrm>
            <a:off x="731520" y="2670048"/>
            <a:ext cx="3840480" cy="0"/>
          </a:xfrm>
          <a:prstGeom prst="straightConnector1">
            <a:avLst/>
          </a:prstGeom>
          <a:noFill/>
          <a:ln cap="flat" cmpd="sng" w="38100">
            <a:solidFill>
              <a:srgbClr val="E8B14D"/>
            </a:solidFill>
            <a:prstDash val="solid"/>
            <a:round/>
            <a:headEnd len="sm" w="sm" type="none"/>
            <a:tailEnd len="sm" w="sm" type="none"/>
          </a:ln>
        </p:spPr>
      </p:cxnSp>
      <p:sp>
        <p:nvSpPr>
          <p:cNvPr id="19" name="Google Shape;19;p1"/>
          <p:cNvSpPr/>
          <p:nvPr/>
        </p:nvSpPr>
        <p:spPr>
          <a:xfrm>
            <a:off x="713232" y="3063240"/>
            <a:ext cx="6583680" cy="658368"/>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D9E9EC"/>
              </a:buClr>
              <a:buSzPts val="1700"/>
              <a:buFont typeface="Arial"/>
              <a:buNone/>
            </a:pPr>
            <a:r>
              <a:rPr b="0" i="0" lang="en-US" sz="1700" u="none" cap="none" strike="noStrike">
                <a:solidFill>
                  <a:srgbClr val="D9E9EC"/>
                </a:solidFill>
                <a:latin typeface="Arial"/>
                <a:ea typeface="Arial"/>
                <a:cs typeface="Arial"/>
                <a:sym typeface="Arial"/>
              </a:rPr>
              <a:t>Patrick Walsh  •  Darren Chan</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D9E9EC"/>
              </a:buClr>
              <a:buSzPts val="1700"/>
              <a:buFont typeface="Arial"/>
              <a:buNone/>
            </a:pPr>
            <a:r>
              <a:rPr lang="en-US" sz="1700">
                <a:solidFill>
                  <a:srgbClr val="D9E9EC"/>
                </a:solidFill>
              </a:rPr>
              <a:t>CS270 </a:t>
            </a:r>
            <a:r>
              <a:rPr lang="en-US" sz="1700">
                <a:solidFill>
                  <a:srgbClr val="D9E9EC"/>
                </a:solidFill>
              </a:rPr>
              <a:t> • </a:t>
            </a:r>
            <a:r>
              <a:rPr lang="en-US" sz="1700">
                <a:solidFill>
                  <a:srgbClr val="D9E9EC"/>
                </a:solidFill>
              </a:rPr>
              <a:t> </a:t>
            </a:r>
            <a:r>
              <a:rPr b="0" i="0" lang="en-US" sz="1700" u="none" cap="none" strike="noStrike">
                <a:solidFill>
                  <a:srgbClr val="D9E9EC"/>
                </a:solidFill>
                <a:latin typeface="Arial"/>
                <a:ea typeface="Arial"/>
                <a:cs typeface="Arial"/>
                <a:sym typeface="Arial"/>
              </a:rPr>
              <a:t>Stanford University</a:t>
            </a:r>
            <a:endParaRPr b="0" i="0" sz="1700" u="none" cap="none" strike="noStrike">
              <a:solidFill>
                <a:schemeClr val="dk1"/>
              </a:solidFill>
              <a:latin typeface="Arial"/>
              <a:ea typeface="Arial"/>
              <a:cs typeface="Arial"/>
              <a:sym typeface="Arial"/>
            </a:endParaRPr>
          </a:p>
        </p:txBody>
      </p:sp>
      <p:sp>
        <p:nvSpPr>
          <p:cNvPr id="20" name="Google Shape;20;p1"/>
          <p:cNvSpPr/>
          <p:nvPr/>
        </p:nvSpPr>
        <p:spPr>
          <a:xfrm>
            <a:off x="7635240" y="4069080"/>
            <a:ext cx="1417320" cy="914400"/>
          </a:xfrm>
          <a:prstGeom prst="rect">
            <a:avLst/>
          </a:prstGeom>
          <a:solidFill>
            <a:srgbClr val="F0FAF8"/>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OWL 2</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ontology</a:t>
            </a:r>
            <a:endParaRPr b="0" i="0" sz="1600" u="none" cap="none" strike="noStrike">
              <a:solidFill>
                <a:schemeClr val="dk1"/>
              </a:solidFill>
              <a:latin typeface="Arial"/>
              <a:ea typeface="Arial"/>
              <a:cs typeface="Arial"/>
              <a:sym typeface="Arial"/>
            </a:endParaRPr>
          </a:p>
        </p:txBody>
      </p:sp>
      <p:sp>
        <p:nvSpPr>
          <p:cNvPr id="21" name="Google Shape;21;p1"/>
          <p:cNvSpPr/>
          <p:nvPr/>
        </p:nvSpPr>
        <p:spPr>
          <a:xfrm>
            <a:off x="9372600" y="3730752"/>
            <a:ext cx="1417320" cy="914400"/>
          </a:xfrm>
          <a:prstGeom prst="rect">
            <a:avLst/>
          </a:prstGeom>
          <a:solidFill>
            <a:srgbClr val="FFF4DE"/>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Clinical</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scenario</a:t>
            </a:r>
            <a:endParaRPr b="0" i="0" sz="1600" u="none" cap="none" strike="noStrike">
              <a:solidFill>
                <a:schemeClr val="dk1"/>
              </a:solidFill>
              <a:latin typeface="Arial"/>
              <a:ea typeface="Arial"/>
              <a:cs typeface="Arial"/>
              <a:sym typeface="Arial"/>
            </a:endParaRPr>
          </a:p>
        </p:txBody>
      </p:sp>
      <p:sp>
        <p:nvSpPr>
          <p:cNvPr id="22" name="Google Shape;22;p1"/>
          <p:cNvSpPr/>
          <p:nvPr/>
        </p:nvSpPr>
        <p:spPr>
          <a:xfrm>
            <a:off x="8458200" y="5166360"/>
            <a:ext cx="1508760" cy="914400"/>
          </a:xfrm>
          <a:prstGeom prst="rect">
            <a:avLst/>
          </a:prstGeom>
          <a:solidFill>
            <a:srgbClr val="F6E9E6"/>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Actionable</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output</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27" name="Shape 27"/>
        <p:cNvGrpSpPr/>
        <p:nvPr/>
      </p:nvGrpSpPr>
      <p:grpSpPr>
        <a:xfrm>
          <a:off x="0" y="0"/>
          <a:ext cx="0" cy="0"/>
          <a:chOff x="0" y="0"/>
          <a:chExt cx="0" cy="0"/>
        </a:xfrm>
      </p:grpSpPr>
      <p:sp>
        <p:nvSpPr>
          <p:cNvPr id="28" name="Google Shape;28;p2"/>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CLINICAL PROBLEM</a:t>
            </a:r>
            <a:endParaRPr b="0" i="0" sz="850" u="none" cap="none" strike="noStrike">
              <a:solidFill>
                <a:schemeClr val="dk1"/>
              </a:solidFill>
              <a:latin typeface="Arial"/>
              <a:ea typeface="Arial"/>
              <a:cs typeface="Arial"/>
              <a:sym typeface="Arial"/>
            </a:endParaRPr>
          </a:p>
        </p:txBody>
      </p:sp>
      <p:sp>
        <p:nvSpPr>
          <p:cNvPr id="29" name="Google Shape;29;p2"/>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The workflow has documents, orders, and gaps</a:t>
            </a:r>
            <a:endParaRPr b="0" i="0" sz="3000" u="none" cap="none" strike="noStrike">
              <a:solidFill>
                <a:schemeClr val="dk1"/>
              </a:solidFill>
              <a:latin typeface="Arial"/>
              <a:ea typeface="Arial"/>
              <a:cs typeface="Arial"/>
              <a:sym typeface="Arial"/>
            </a:endParaRPr>
          </a:p>
        </p:txBody>
      </p:sp>
      <p:cxnSp>
        <p:nvCxnSpPr>
          <p:cNvPr id="30" name="Google Shape;30;p2"/>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31" name="Google Shape;31;p2"/>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32" name="Google Shape;32;p2"/>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33" name="Google Shape;33;p2"/>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2</a:t>
            </a:r>
            <a:endParaRPr b="0" i="0" sz="750" u="none" cap="none" strike="noStrike">
              <a:solidFill>
                <a:schemeClr val="dk1"/>
              </a:solidFill>
              <a:latin typeface="Arial"/>
              <a:ea typeface="Arial"/>
              <a:cs typeface="Arial"/>
              <a:sym typeface="Arial"/>
            </a:endParaRPr>
          </a:p>
        </p:txBody>
      </p:sp>
      <p:sp>
        <p:nvSpPr>
          <p:cNvPr id="34" name="Google Shape;34;p2"/>
          <p:cNvSpPr/>
          <p:nvPr/>
        </p:nvSpPr>
        <p:spPr>
          <a:xfrm>
            <a:off x="713232" y="1627632"/>
            <a:ext cx="1014984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End-of-life preferences often move through three different instruments. The loss happens in the middle: conditional patient wishes become coarse checkboxes or bedside orders.</a:t>
            </a:r>
            <a:endParaRPr b="0" i="0" sz="1700" u="none" cap="none" strike="noStrike">
              <a:solidFill>
                <a:schemeClr val="dk1"/>
              </a:solidFill>
              <a:latin typeface="Arial"/>
              <a:ea typeface="Arial"/>
              <a:cs typeface="Arial"/>
              <a:sym typeface="Arial"/>
            </a:endParaRPr>
          </a:p>
        </p:txBody>
      </p:sp>
      <p:sp>
        <p:nvSpPr>
          <p:cNvPr id="35" name="Google Shape;35;p2"/>
          <p:cNvSpPr/>
          <p:nvPr/>
        </p:nvSpPr>
        <p:spPr>
          <a:xfrm>
            <a:off x="914400" y="4617725"/>
            <a:ext cx="35409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500"/>
              <a:buFont typeface="Arial"/>
              <a:buNone/>
            </a:pPr>
            <a:r>
              <a:rPr b="1" i="0" lang="en-US" sz="1500" u="none" cap="none" strike="noStrike">
                <a:solidFill>
                  <a:srgbClr val="11364A"/>
                </a:solidFill>
                <a:latin typeface="Arial"/>
                <a:ea typeface="Arial"/>
                <a:cs typeface="Arial"/>
                <a:sym typeface="Arial"/>
              </a:rPr>
              <a:t>Example wish lost in translation</a:t>
            </a:r>
            <a:endParaRPr b="0" i="0" sz="1500" u="none" cap="none" strike="noStrike">
              <a:solidFill>
                <a:schemeClr val="dk1"/>
              </a:solidFill>
              <a:latin typeface="Arial"/>
              <a:ea typeface="Arial"/>
              <a:cs typeface="Arial"/>
              <a:sym typeface="Arial"/>
            </a:endParaRPr>
          </a:p>
        </p:txBody>
      </p:sp>
      <p:sp>
        <p:nvSpPr>
          <p:cNvPr id="36" name="Google Shape;36;p2"/>
          <p:cNvSpPr/>
          <p:nvPr/>
        </p:nvSpPr>
        <p:spPr>
          <a:xfrm>
            <a:off x="914400" y="5029200"/>
            <a:ext cx="7863840" cy="512064"/>
          </a:xfrm>
          <a:prstGeom prst="rect">
            <a:avLst/>
          </a:prstGeom>
          <a:solidFill>
            <a:srgbClr val="FFF9EA"/>
          </a:solidFill>
          <a:ln cap="flat" cmpd="sng" w="12700">
            <a:solidFill>
              <a:srgbClr val="F0D18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1364A"/>
              </a:buClr>
              <a:buSzPts val="2000"/>
              <a:buFont typeface="Arial"/>
              <a:buNone/>
            </a:pPr>
            <a:r>
              <a:rPr b="0" i="1" lang="en-US" sz="1500" u="none" cap="none" strike="noStrike">
                <a:solidFill>
                  <a:srgbClr val="11364A"/>
                </a:solidFill>
                <a:latin typeface="Arial"/>
                <a:ea typeface="Arial"/>
                <a:cs typeface="Arial"/>
                <a:sym typeface="Arial"/>
              </a:rPr>
              <a:t>“I would accept a ventilator temporarily if the cause is reversible, but never indefinitely.”</a:t>
            </a:r>
            <a:endParaRPr b="0" i="0" sz="1500" u="none" cap="none" strike="noStrike">
              <a:solidFill>
                <a:schemeClr val="dk1"/>
              </a:solidFill>
              <a:latin typeface="Arial"/>
              <a:ea typeface="Arial"/>
              <a:cs typeface="Arial"/>
              <a:sym typeface="Arial"/>
            </a:endParaRPr>
          </a:p>
        </p:txBody>
      </p:sp>
      <p:sp>
        <p:nvSpPr>
          <p:cNvPr id="37" name="Google Shape;37;p2"/>
          <p:cNvSpPr/>
          <p:nvPr/>
        </p:nvSpPr>
        <p:spPr>
          <a:xfrm>
            <a:off x="914400" y="5715000"/>
            <a:ext cx="8778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400"/>
              <a:buFont typeface="Arial"/>
              <a:buNone/>
            </a:pPr>
            <a:r>
              <a:rPr b="0" i="0" lang="en-US" sz="1400" u="none" cap="none" strike="noStrike">
                <a:solidFill>
                  <a:srgbClr val="59656F"/>
                </a:solidFill>
                <a:latin typeface="Arial"/>
                <a:ea typeface="Arial"/>
                <a:cs typeface="Arial"/>
                <a:sym typeface="Arial"/>
              </a:rPr>
              <a:t>A checkbox can record “ventilator: yes/no,” but not the conditional structure.</a:t>
            </a:r>
            <a:endParaRPr b="0" i="0" sz="1400" u="none" cap="none" strike="noStrike">
              <a:solidFill>
                <a:schemeClr val="dk1"/>
              </a:solidFill>
              <a:latin typeface="Arial"/>
              <a:ea typeface="Arial"/>
              <a:cs typeface="Arial"/>
              <a:sym typeface="Arial"/>
            </a:endParaRPr>
          </a:p>
        </p:txBody>
      </p:sp>
      <p:sp>
        <p:nvSpPr>
          <p:cNvPr id="38" name="Google Shape;38;p2"/>
          <p:cNvSpPr txBox="1"/>
          <p:nvPr/>
        </p:nvSpPr>
        <p:spPr>
          <a:xfrm>
            <a:off x="1175500" y="2535988"/>
            <a:ext cx="2453400" cy="1662300"/>
          </a:xfrm>
          <a:prstGeom prst="rect">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1700">
                <a:solidFill>
                  <a:schemeClr val="lt1"/>
                </a:solidFill>
              </a:rPr>
              <a:t>1. Advance Directive</a:t>
            </a:r>
            <a:endParaRPr sz="1300">
              <a:solidFill>
                <a:schemeClr val="lt1"/>
              </a:solidFill>
            </a:endParaRPr>
          </a:p>
          <a:p>
            <a:pPr indent="0" lvl="0" marL="0" rtl="0" algn="l">
              <a:spcBef>
                <a:spcPts val="0"/>
              </a:spcBef>
              <a:spcAft>
                <a:spcPts val="0"/>
              </a:spcAft>
              <a:buNone/>
            </a:pPr>
            <a:r>
              <a:rPr lang="en-US" sz="1300">
                <a:solidFill>
                  <a:schemeClr val="lt1"/>
                </a:solidFill>
              </a:rPr>
              <a:t>- Captures goals, values, and conditional wishes for future health states</a:t>
            </a:r>
            <a:endParaRPr sz="1300">
              <a:solidFill>
                <a:schemeClr val="lt1"/>
              </a:solidFill>
            </a:endParaRPr>
          </a:p>
          <a:p>
            <a:pPr indent="0" lvl="0" marL="0" rtl="0" algn="l">
              <a:spcBef>
                <a:spcPts val="0"/>
              </a:spcBef>
              <a:spcAft>
                <a:spcPts val="0"/>
              </a:spcAft>
              <a:buNone/>
            </a:pPr>
            <a:r>
              <a:rPr lang="en-US" sz="1300">
                <a:solidFill>
                  <a:schemeClr val="lt1"/>
                </a:solidFill>
              </a:rPr>
              <a:t>- </a:t>
            </a:r>
            <a:r>
              <a:rPr lang="en-US" sz="1300">
                <a:solidFill>
                  <a:schemeClr val="accent4"/>
                </a:solidFill>
              </a:rPr>
              <a:t>Broad, values-based, often conditional</a:t>
            </a:r>
            <a:endParaRPr sz="1300">
              <a:solidFill>
                <a:schemeClr val="accent4"/>
              </a:solidFill>
            </a:endParaRPr>
          </a:p>
          <a:p>
            <a:pPr indent="0" lvl="0" marL="0" rtl="0" algn="ctr">
              <a:spcBef>
                <a:spcPts val="0"/>
              </a:spcBef>
              <a:spcAft>
                <a:spcPts val="0"/>
              </a:spcAft>
              <a:buNone/>
            </a:pPr>
            <a:r>
              <a:t/>
            </a:r>
            <a:endParaRPr>
              <a:solidFill>
                <a:schemeClr val="lt1"/>
              </a:solidFill>
            </a:endParaRPr>
          </a:p>
        </p:txBody>
      </p:sp>
      <p:sp>
        <p:nvSpPr>
          <p:cNvPr id="39" name="Google Shape;39;p2"/>
          <p:cNvSpPr/>
          <p:nvPr/>
        </p:nvSpPr>
        <p:spPr>
          <a:xfrm>
            <a:off x="3776100" y="3310063"/>
            <a:ext cx="1139700" cy="219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2"/>
          <p:cNvSpPr txBox="1"/>
          <p:nvPr/>
        </p:nvSpPr>
        <p:spPr>
          <a:xfrm>
            <a:off x="5063000" y="2535988"/>
            <a:ext cx="2453400" cy="16623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1700">
                <a:solidFill>
                  <a:schemeClr val="lt1"/>
                </a:solidFill>
              </a:rPr>
              <a:t>2. POLST</a:t>
            </a:r>
            <a:endParaRPr b="1" sz="1700">
              <a:solidFill>
                <a:schemeClr val="lt1"/>
              </a:solidFill>
            </a:endParaRPr>
          </a:p>
          <a:p>
            <a:pPr indent="0" lvl="0" marL="0" rtl="0" algn="l">
              <a:spcBef>
                <a:spcPts val="0"/>
              </a:spcBef>
              <a:spcAft>
                <a:spcPts val="0"/>
              </a:spcAft>
              <a:buNone/>
            </a:pPr>
            <a:r>
              <a:rPr lang="en-US" sz="1300">
                <a:solidFill>
                  <a:schemeClr val="lt1"/>
                </a:solidFill>
              </a:rPr>
              <a:t>- Medical orders for common scenarios based on current medical condition</a:t>
            </a:r>
            <a:endParaRPr sz="1300">
              <a:solidFill>
                <a:schemeClr val="lt1"/>
              </a:solidFill>
            </a:endParaRPr>
          </a:p>
          <a:p>
            <a:pPr indent="0" lvl="0" marL="0" rtl="0" algn="l">
              <a:spcBef>
                <a:spcPts val="0"/>
              </a:spcBef>
              <a:spcAft>
                <a:spcPts val="0"/>
              </a:spcAft>
              <a:buNone/>
            </a:pPr>
            <a:r>
              <a:rPr lang="en-US" sz="1300">
                <a:solidFill>
                  <a:schemeClr val="lt1"/>
                </a:solidFill>
              </a:rPr>
              <a:t>- </a:t>
            </a:r>
            <a:r>
              <a:rPr lang="en-US" sz="1300">
                <a:solidFill>
                  <a:schemeClr val="accent4"/>
                </a:solidFill>
              </a:rPr>
              <a:t>Scenario-limited, condition-specific</a:t>
            </a:r>
            <a:endParaRPr sz="1300">
              <a:solidFill>
                <a:schemeClr val="accent4"/>
              </a:solidFill>
            </a:endParaRPr>
          </a:p>
          <a:p>
            <a:pPr indent="0" lvl="0" marL="0" rtl="0" algn="ctr">
              <a:spcBef>
                <a:spcPts val="0"/>
              </a:spcBef>
              <a:spcAft>
                <a:spcPts val="0"/>
              </a:spcAft>
              <a:buNone/>
            </a:pPr>
            <a:r>
              <a:t/>
            </a:r>
            <a:endParaRPr>
              <a:solidFill>
                <a:schemeClr val="lt1"/>
              </a:solidFill>
            </a:endParaRPr>
          </a:p>
        </p:txBody>
      </p:sp>
      <p:sp>
        <p:nvSpPr>
          <p:cNvPr id="41" name="Google Shape;41;p2"/>
          <p:cNvSpPr txBox="1"/>
          <p:nvPr/>
        </p:nvSpPr>
        <p:spPr>
          <a:xfrm>
            <a:off x="3933000" y="2863450"/>
            <a:ext cx="82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
                <a:solidFill>
                  <a:srgbClr val="B84C43"/>
                </a:solidFill>
              </a:rPr>
              <a:t>TRANSLATION</a:t>
            </a:r>
            <a:endParaRPr sz="700">
              <a:solidFill>
                <a:srgbClr val="B84C43"/>
              </a:solidFill>
            </a:endParaRPr>
          </a:p>
          <a:p>
            <a:pPr indent="0" lvl="0" marL="0" rtl="0" algn="ctr">
              <a:spcBef>
                <a:spcPts val="0"/>
              </a:spcBef>
              <a:spcAft>
                <a:spcPts val="0"/>
              </a:spcAft>
              <a:buNone/>
            </a:pPr>
            <a:r>
              <a:rPr lang="en-US" sz="700">
                <a:solidFill>
                  <a:srgbClr val="B84C43"/>
                </a:solidFill>
              </a:rPr>
              <a:t>LOSS</a:t>
            </a:r>
            <a:endParaRPr sz="700">
              <a:solidFill>
                <a:srgbClr val="B84C43"/>
              </a:solidFill>
            </a:endParaRPr>
          </a:p>
        </p:txBody>
      </p:sp>
      <p:sp>
        <p:nvSpPr>
          <p:cNvPr id="42" name="Google Shape;42;p2"/>
          <p:cNvSpPr/>
          <p:nvPr/>
        </p:nvSpPr>
        <p:spPr>
          <a:xfrm>
            <a:off x="7663600" y="3380125"/>
            <a:ext cx="1139700" cy="219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2"/>
          <p:cNvSpPr txBox="1"/>
          <p:nvPr/>
        </p:nvSpPr>
        <p:spPr>
          <a:xfrm>
            <a:off x="8950500" y="2536000"/>
            <a:ext cx="2453400" cy="1732500"/>
          </a:xfrm>
          <a:prstGeom prst="rect">
            <a:avLst/>
          </a:prstGeom>
          <a:solidFill>
            <a:srgbClr val="68518A"/>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1700">
                <a:solidFill>
                  <a:schemeClr val="lt1"/>
                </a:solidFill>
              </a:rPr>
              <a:t>3. Code-Status Order</a:t>
            </a:r>
            <a:endParaRPr b="1" sz="1700">
              <a:solidFill>
                <a:schemeClr val="lt1"/>
              </a:solidFill>
            </a:endParaRPr>
          </a:p>
          <a:p>
            <a:pPr indent="0" lvl="0" marL="0" rtl="0" algn="l">
              <a:spcBef>
                <a:spcPts val="0"/>
              </a:spcBef>
              <a:spcAft>
                <a:spcPts val="0"/>
              </a:spcAft>
              <a:buNone/>
            </a:pPr>
            <a:r>
              <a:rPr lang="en-US" sz="1300">
                <a:solidFill>
                  <a:schemeClr val="lt1"/>
                </a:solidFill>
              </a:rPr>
              <a:t>- Immediate orders acted on in an emergency: full code, DNR, DNI, Do Not Escalate</a:t>
            </a:r>
            <a:endParaRPr sz="1300">
              <a:solidFill>
                <a:schemeClr val="lt1"/>
              </a:solidFill>
            </a:endParaRPr>
          </a:p>
          <a:p>
            <a:pPr indent="0" lvl="0" marL="0" rtl="0" algn="l">
              <a:spcBef>
                <a:spcPts val="0"/>
              </a:spcBef>
              <a:spcAft>
                <a:spcPts val="0"/>
              </a:spcAft>
              <a:buNone/>
            </a:pPr>
            <a:r>
              <a:rPr lang="en-US" sz="1300">
                <a:solidFill>
                  <a:schemeClr val="accent4"/>
                </a:solidFill>
              </a:rPr>
              <a:t>- Coarse, binary, context-poor</a:t>
            </a:r>
            <a:endParaRPr sz="1300">
              <a:solidFill>
                <a:schemeClr val="accent4"/>
              </a:solidFill>
            </a:endParaRPr>
          </a:p>
        </p:txBody>
      </p:sp>
      <p:sp>
        <p:nvSpPr>
          <p:cNvPr id="44" name="Google Shape;44;p2"/>
          <p:cNvSpPr txBox="1"/>
          <p:nvPr/>
        </p:nvSpPr>
        <p:spPr>
          <a:xfrm>
            <a:off x="7820500" y="2863450"/>
            <a:ext cx="82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
                <a:solidFill>
                  <a:srgbClr val="B84C43"/>
                </a:solidFill>
              </a:rPr>
              <a:t>TRANSLATION</a:t>
            </a:r>
            <a:endParaRPr sz="700">
              <a:solidFill>
                <a:srgbClr val="B84C43"/>
              </a:solidFill>
            </a:endParaRPr>
          </a:p>
          <a:p>
            <a:pPr indent="0" lvl="0" marL="0" rtl="0" algn="ctr">
              <a:spcBef>
                <a:spcPts val="0"/>
              </a:spcBef>
              <a:spcAft>
                <a:spcPts val="0"/>
              </a:spcAft>
              <a:buNone/>
            </a:pPr>
            <a:r>
              <a:rPr lang="en-US" sz="700">
                <a:solidFill>
                  <a:srgbClr val="B84C43"/>
                </a:solidFill>
              </a:rPr>
              <a:t>LOSS</a:t>
            </a:r>
            <a:endParaRPr sz="700">
              <a:solidFill>
                <a:srgbClr val="B84C4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49" name="Shape 49"/>
        <p:cNvGrpSpPr/>
        <p:nvPr/>
      </p:nvGrpSpPr>
      <p:grpSpPr>
        <a:xfrm>
          <a:off x="0" y="0"/>
          <a:ext cx="0" cy="0"/>
          <a:chOff x="0" y="0"/>
          <a:chExt cx="0" cy="0"/>
        </a:xfrm>
      </p:grpSpPr>
      <p:sp>
        <p:nvSpPr>
          <p:cNvPr id="50" name="Google Shape;50;p4"/>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APPROACH</a:t>
            </a:r>
            <a:endParaRPr b="0" i="0" sz="850" u="none" cap="none" strike="noStrike">
              <a:solidFill>
                <a:schemeClr val="dk1"/>
              </a:solidFill>
              <a:latin typeface="Arial"/>
              <a:ea typeface="Arial"/>
              <a:cs typeface="Arial"/>
              <a:sym typeface="Arial"/>
            </a:endParaRPr>
          </a:p>
        </p:txBody>
      </p:sp>
      <p:sp>
        <p:nvSpPr>
          <p:cNvPr id="51" name="Google Shape;51;p4"/>
          <p:cNvSpPr/>
          <p:nvPr/>
        </p:nvSpPr>
        <p:spPr>
          <a:xfrm>
            <a:off x="658368" y="797467"/>
            <a:ext cx="10607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Core idea: turn patient language into computable preference objects</a:t>
            </a:r>
            <a:endParaRPr b="0" i="0" sz="3000" u="none" cap="none" strike="noStrike">
              <a:solidFill>
                <a:schemeClr val="dk1"/>
              </a:solidFill>
              <a:latin typeface="Arial"/>
              <a:ea typeface="Arial"/>
              <a:cs typeface="Arial"/>
              <a:sym typeface="Arial"/>
            </a:endParaRPr>
          </a:p>
        </p:txBody>
      </p:sp>
      <p:cxnSp>
        <p:nvCxnSpPr>
          <p:cNvPr id="52" name="Google Shape;52;p4"/>
          <p:cNvCxnSpPr/>
          <p:nvPr/>
        </p:nvCxnSpPr>
        <p:spPr>
          <a:xfrm>
            <a:off x="685800" y="1587516"/>
            <a:ext cx="3200400" cy="0"/>
          </a:xfrm>
          <a:prstGeom prst="straightConnector1">
            <a:avLst/>
          </a:prstGeom>
          <a:noFill/>
          <a:ln cap="flat" cmpd="sng" w="27925">
            <a:solidFill>
              <a:srgbClr val="E8B14D"/>
            </a:solidFill>
            <a:prstDash val="solid"/>
            <a:round/>
            <a:headEnd len="sm" w="sm" type="none"/>
            <a:tailEnd len="sm" w="sm" type="none"/>
          </a:ln>
        </p:spPr>
      </p:cxnSp>
      <p:cxnSp>
        <p:nvCxnSpPr>
          <p:cNvPr id="53" name="Google Shape;53;p4"/>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54" name="Google Shape;54;p4"/>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55" name="Google Shape;55;p4"/>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4</a:t>
            </a:r>
            <a:endParaRPr b="0" i="0" sz="750" u="none" cap="none" strike="noStrike">
              <a:solidFill>
                <a:schemeClr val="dk1"/>
              </a:solidFill>
              <a:latin typeface="Arial"/>
              <a:ea typeface="Arial"/>
              <a:cs typeface="Arial"/>
              <a:sym typeface="Arial"/>
            </a:endParaRPr>
          </a:p>
        </p:txBody>
      </p:sp>
      <p:sp>
        <p:nvSpPr>
          <p:cNvPr id="56" name="Google Shape;56;p4"/>
          <p:cNvSpPr/>
          <p:nvPr/>
        </p:nvSpPr>
        <p:spPr>
          <a:xfrm>
            <a:off x="713232" y="1700058"/>
            <a:ext cx="10058400" cy="502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ADO preserves the original text, but gives a reasoner the structured facts it needs to decide whether a preference actually applies.</a:t>
            </a:r>
            <a:endParaRPr b="0" i="0" sz="1700" u="none" cap="none" strike="noStrike">
              <a:solidFill>
                <a:schemeClr val="dk1"/>
              </a:solidFill>
              <a:latin typeface="Arial"/>
              <a:ea typeface="Arial"/>
              <a:cs typeface="Arial"/>
              <a:sym typeface="Arial"/>
            </a:endParaRPr>
          </a:p>
        </p:txBody>
      </p:sp>
      <p:sp>
        <p:nvSpPr>
          <p:cNvPr id="57" name="Google Shape;57;p4"/>
          <p:cNvSpPr/>
          <p:nvPr/>
        </p:nvSpPr>
        <p:spPr>
          <a:xfrm>
            <a:off x="822960" y="2788920"/>
            <a:ext cx="3108960" cy="1005840"/>
          </a:xfrm>
          <a:prstGeom prst="rect">
            <a:avLst/>
          </a:prstGeom>
          <a:solidFill>
            <a:srgbClr val="FFF9EA"/>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500"/>
              <a:buFont typeface="Arial"/>
              <a:buNone/>
            </a:pPr>
            <a:r>
              <a:rPr b="1" i="0" lang="en-US" u="none" cap="none" strike="noStrike">
                <a:solidFill>
                  <a:srgbClr val="11364A"/>
                </a:solidFill>
                <a:latin typeface="Arial"/>
                <a:ea typeface="Arial"/>
                <a:cs typeface="Arial"/>
                <a:sym typeface="Arial"/>
              </a:rPr>
              <a:t>“Do not continue vasopressors</a:t>
            </a:r>
            <a:endParaRPr b="0" i="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500"/>
              <a:buFont typeface="Arial"/>
              <a:buNone/>
            </a:pPr>
            <a:r>
              <a:rPr b="1" i="0" lang="en-US" u="none" cap="none" strike="noStrike">
                <a:solidFill>
                  <a:srgbClr val="11364A"/>
                </a:solidFill>
                <a:latin typeface="Arial"/>
                <a:ea typeface="Arial"/>
                <a:cs typeface="Arial"/>
                <a:sym typeface="Arial"/>
              </a:rPr>
              <a:t>if there is no improvement after 72 hours.”</a:t>
            </a:r>
            <a:endParaRPr b="0" i="0" u="none" cap="none" strike="noStrike">
              <a:solidFill>
                <a:schemeClr val="dk1"/>
              </a:solidFill>
              <a:latin typeface="Arial"/>
              <a:ea typeface="Arial"/>
              <a:cs typeface="Arial"/>
              <a:sym typeface="Arial"/>
            </a:endParaRPr>
          </a:p>
        </p:txBody>
      </p:sp>
      <p:sp>
        <p:nvSpPr>
          <p:cNvPr id="58" name="Google Shape;58;p4"/>
          <p:cNvSpPr/>
          <p:nvPr/>
        </p:nvSpPr>
        <p:spPr>
          <a:xfrm>
            <a:off x="4754880" y="2542032"/>
            <a:ext cx="2377440" cy="640080"/>
          </a:xfrm>
          <a:prstGeom prst="rect">
            <a:avLst/>
          </a:prstGeom>
          <a:solidFill>
            <a:srgbClr val="11364A"/>
          </a:solidFill>
          <a:ln cap="flat" cmpd="sng" w="15225">
            <a:solidFill>
              <a:srgbClr val="11364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PreferenceStatement</a:t>
            </a:r>
            <a:endParaRPr b="0" i="0" sz="1700" u="none" cap="none" strike="noStrike">
              <a:solidFill>
                <a:schemeClr val="dk1"/>
              </a:solidFill>
              <a:latin typeface="Arial"/>
              <a:ea typeface="Arial"/>
              <a:cs typeface="Arial"/>
              <a:sym typeface="Arial"/>
            </a:endParaRPr>
          </a:p>
        </p:txBody>
      </p:sp>
      <p:sp>
        <p:nvSpPr>
          <p:cNvPr id="59" name="Google Shape;59;p4"/>
          <p:cNvSpPr/>
          <p:nvPr/>
        </p:nvSpPr>
        <p:spPr>
          <a:xfrm>
            <a:off x="7635240" y="2395728"/>
            <a:ext cx="1463040" cy="438912"/>
          </a:xfrm>
          <a:prstGeom prst="rect">
            <a:avLst/>
          </a:prstGeom>
          <a:solidFill>
            <a:srgbClr val="FFFFFF"/>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Intervention</a:t>
            </a:r>
            <a:endParaRPr b="0" i="0" sz="1200" u="none" cap="none" strike="noStrike">
              <a:solidFill>
                <a:schemeClr val="dk1"/>
              </a:solidFill>
              <a:latin typeface="Arial"/>
              <a:ea typeface="Arial"/>
              <a:cs typeface="Arial"/>
              <a:sym typeface="Arial"/>
            </a:endParaRPr>
          </a:p>
        </p:txBody>
      </p:sp>
      <p:sp>
        <p:nvSpPr>
          <p:cNvPr id="60" name="Google Shape;60;p4"/>
          <p:cNvSpPr/>
          <p:nvPr/>
        </p:nvSpPr>
        <p:spPr>
          <a:xfrm>
            <a:off x="9235440" y="2395728"/>
            <a:ext cx="2057400" cy="438912"/>
          </a:xfrm>
          <a:prstGeom prst="rect">
            <a:avLst/>
          </a:prstGeom>
          <a:solidFill>
            <a:srgbClr val="F8FAFA"/>
          </a:solidFill>
          <a:ln cap="flat" cmpd="sng" w="15225">
            <a:solidFill>
              <a:srgbClr val="CBD8DC"/>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vasopressor withdrawal</a:t>
            </a:r>
            <a:endParaRPr b="0" i="0" sz="1100" u="none" cap="none" strike="noStrike">
              <a:solidFill>
                <a:schemeClr val="dk1"/>
              </a:solidFill>
              <a:latin typeface="Arial"/>
              <a:ea typeface="Arial"/>
              <a:cs typeface="Arial"/>
              <a:sym typeface="Arial"/>
            </a:endParaRPr>
          </a:p>
        </p:txBody>
      </p:sp>
      <p:sp>
        <p:nvSpPr>
          <p:cNvPr id="61" name="Google Shape;61;p4"/>
          <p:cNvSpPr/>
          <p:nvPr/>
        </p:nvSpPr>
        <p:spPr>
          <a:xfrm>
            <a:off x="7635240" y="3127248"/>
            <a:ext cx="1463040" cy="438912"/>
          </a:xfrm>
          <a:prstGeom prst="rect">
            <a:avLst/>
          </a:prstGeom>
          <a:solidFill>
            <a:srgbClr val="FFFFFF"/>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200"/>
              <a:buFont typeface="Arial"/>
              <a:buNone/>
            </a:pPr>
            <a:r>
              <a:rPr b="1" i="0" lang="en-US" sz="1100" u="none" cap="none" strike="noStrike">
                <a:solidFill>
                  <a:srgbClr val="11364A"/>
                </a:solidFill>
                <a:latin typeface="Arial"/>
                <a:ea typeface="Arial"/>
                <a:cs typeface="Arial"/>
                <a:sym typeface="Arial"/>
              </a:rPr>
              <a:t>ActivationCondition</a:t>
            </a:r>
            <a:endParaRPr b="0" i="0" sz="1100" u="none" cap="none" strike="noStrike">
              <a:solidFill>
                <a:schemeClr val="dk1"/>
              </a:solidFill>
              <a:latin typeface="Arial"/>
              <a:ea typeface="Arial"/>
              <a:cs typeface="Arial"/>
              <a:sym typeface="Arial"/>
            </a:endParaRPr>
          </a:p>
        </p:txBody>
      </p:sp>
      <p:sp>
        <p:nvSpPr>
          <p:cNvPr id="62" name="Google Shape;62;p4"/>
          <p:cNvSpPr/>
          <p:nvPr/>
        </p:nvSpPr>
        <p:spPr>
          <a:xfrm>
            <a:off x="9235440" y="3127248"/>
            <a:ext cx="2057400" cy="438912"/>
          </a:xfrm>
          <a:prstGeom prst="rect">
            <a:avLst/>
          </a:prstGeom>
          <a:solidFill>
            <a:srgbClr val="F8FAFA"/>
          </a:solidFill>
          <a:ln cap="flat" cmpd="sng" w="15225">
            <a:solidFill>
              <a:srgbClr val="CBD8DC"/>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no improvement; 72h</a:t>
            </a:r>
            <a:endParaRPr b="0" i="0" sz="1100" u="none" cap="none" strike="noStrike">
              <a:solidFill>
                <a:schemeClr val="dk1"/>
              </a:solidFill>
              <a:latin typeface="Arial"/>
              <a:ea typeface="Arial"/>
              <a:cs typeface="Arial"/>
              <a:sym typeface="Arial"/>
            </a:endParaRPr>
          </a:p>
        </p:txBody>
      </p:sp>
      <p:sp>
        <p:nvSpPr>
          <p:cNvPr id="63" name="Google Shape;63;p4"/>
          <p:cNvSpPr/>
          <p:nvPr/>
        </p:nvSpPr>
        <p:spPr>
          <a:xfrm>
            <a:off x="7635240" y="3858768"/>
            <a:ext cx="1463040" cy="438912"/>
          </a:xfrm>
          <a:prstGeom prst="rect">
            <a:avLst/>
          </a:prstGeom>
          <a:solidFill>
            <a:srgbClr val="FFFFFF"/>
          </a:solidFill>
          <a:ln cap="flat" cmpd="sng" w="15225">
            <a:solidFill>
              <a:srgbClr val="68518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Strength</a:t>
            </a:r>
            <a:endParaRPr b="0" i="0" sz="1200" u="none" cap="none" strike="noStrike">
              <a:solidFill>
                <a:schemeClr val="dk1"/>
              </a:solidFill>
              <a:latin typeface="Arial"/>
              <a:ea typeface="Arial"/>
              <a:cs typeface="Arial"/>
              <a:sym typeface="Arial"/>
            </a:endParaRPr>
          </a:p>
        </p:txBody>
      </p:sp>
      <p:sp>
        <p:nvSpPr>
          <p:cNvPr id="64" name="Google Shape;64;p4"/>
          <p:cNvSpPr/>
          <p:nvPr/>
        </p:nvSpPr>
        <p:spPr>
          <a:xfrm>
            <a:off x="9235440" y="3858768"/>
            <a:ext cx="2057400" cy="438912"/>
          </a:xfrm>
          <a:prstGeom prst="rect">
            <a:avLst/>
          </a:prstGeom>
          <a:solidFill>
            <a:srgbClr val="F8FAFA"/>
          </a:solidFill>
          <a:ln cap="flat" cmpd="sng" w="15225">
            <a:solidFill>
              <a:srgbClr val="CBD8DC"/>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strong / conditional</a:t>
            </a:r>
            <a:endParaRPr b="0" i="0" sz="1100" u="none" cap="none" strike="noStrike">
              <a:solidFill>
                <a:schemeClr val="dk1"/>
              </a:solidFill>
              <a:latin typeface="Arial"/>
              <a:ea typeface="Arial"/>
              <a:cs typeface="Arial"/>
              <a:sym typeface="Arial"/>
            </a:endParaRPr>
          </a:p>
        </p:txBody>
      </p:sp>
      <p:sp>
        <p:nvSpPr>
          <p:cNvPr id="65" name="Google Shape;65;p4"/>
          <p:cNvSpPr/>
          <p:nvPr/>
        </p:nvSpPr>
        <p:spPr>
          <a:xfrm>
            <a:off x="7635240" y="4590288"/>
            <a:ext cx="1463040" cy="438912"/>
          </a:xfrm>
          <a:prstGeom prst="rect">
            <a:avLst/>
          </a:prstGeom>
          <a:solidFill>
            <a:srgbClr val="FFFFFF"/>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Negated?</a:t>
            </a:r>
            <a:endParaRPr b="0" i="0" sz="1200" u="none" cap="none" strike="noStrike">
              <a:solidFill>
                <a:schemeClr val="dk1"/>
              </a:solidFill>
              <a:latin typeface="Arial"/>
              <a:ea typeface="Arial"/>
              <a:cs typeface="Arial"/>
              <a:sym typeface="Arial"/>
            </a:endParaRPr>
          </a:p>
        </p:txBody>
      </p:sp>
      <p:sp>
        <p:nvSpPr>
          <p:cNvPr id="66" name="Google Shape;66;p4"/>
          <p:cNvSpPr/>
          <p:nvPr/>
        </p:nvSpPr>
        <p:spPr>
          <a:xfrm>
            <a:off x="9235440" y="4590288"/>
            <a:ext cx="2057400" cy="438912"/>
          </a:xfrm>
          <a:prstGeom prst="rect">
            <a:avLst/>
          </a:prstGeom>
          <a:solidFill>
            <a:srgbClr val="F8FAFA"/>
          </a:solidFill>
          <a:ln cap="flat" cmpd="sng" w="15225">
            <a:solidFill>
              <a:srgbClr val="CBD8DC"/>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no</a:t>
            </a:r>
            <a:endParaRPr b="0" i="0" sz="1100" u="none" cap="none" strike="noStrike">
              <a:solidFill>
                <a:schemeClr val="dk1"/>
              </a:solidFill>
              <a:latin typeface="Arial"/>
              <a:ea typeface="Arial"/>
              <a:cs typeface="Arial"/>
              <a:sym typeface="Arial"/>
            </a:endParaRPr>
          </a:p>
        </p:txBody>
      </p:sp>
      <p:sp>
        <p:nvSpPr>
          <p:cNvPr id="67" name="Google Shape;67;p4"/>
          <p:cNvSpPr/>
          <p:nvPr/>
        </p:nvSpPr>
        <p:spPr>
          <a:xfrm>
            <a:off x="7635240" y="5321808"/>
            <a:ext cx="1463040" cy="438912"/>
          </a:xfrm>
          <a:prstGeom prst="rect">
            <a:avLst/>
          </a:prstGeom>
          <a:solidFill>
            <a:srgbClr val="FFFFFF"/>
          </a:solidFill>
          <a:ln cap="flat" cmpd="sng" w="15225">
            <a:solidFill>
              <a:srgbClr val="38A6A5"/>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OriginalText</a:t>
            </a:r>
            <a:endParaRPr b="0" i="0" sz="1200" u="none" cap="none" strike="noStrike">
              <a:solidFill>
                <a:schemeClr val="dk1"/>
              </a:solidFill>
              <a:latin typeface="Arial"/>
              <a:ea typeface="Arial"/>
              <a:cs typeface="Arial"/>
              <a:sym typeface="Arial"/>
            </a:endParaRPr>
          </a:p>
        </p:txBody>
      </p:sp>
      <p:sp>
        <p:nvSpPr>
          <p:cNvPr id="68" name="Google Shape;68;p4"/>
          <p:cNvSpPr/>
          <p:nvPr/>
        </p:nvSpPr>
        <p:spPr>
          <a:xfrm>
            <a:off x="9235440" y="5321808"/>
            <a:ext cx="2057400" cy="438912"/>
          </a:xfrm>
          <a:prstGeom prst="rect">
            <a:avLst/>
          </a:prstGeom>
          <a:solidFill>
            <a:srgbClr val="F8FAFA"/>
          </a:solidFill>
          <a:ln cap="flat" cmpd="sng" w="15225">
            <a:solidFill>
              <a:srgbClr val="CBD8DC"/>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verbatim quote</a:t>
            </a:r>
            <a:endParaRPr b="0" i="0" sz="1100" u="none" cap="none" strike="noStrike">
              <a:solidFill>
                <a:schemeClr val="dk1"/>
              </a:solidFill>
              <a:latin typeface="Arial"/>
              <a:ea typeface="Arial"/>
              <a:cs typeface="Arial"/>
              <a:sym typeface="Arial"/>
            </a:endParaRPr>
          </a:p>
        </p:txBody>
      </p:sp>
      <p:sp>
        <p:nvSpPr>
          <p:cNvPr id="69" name="Google Shape;69;p4"/>
          <p:cNvSpPr/>
          <p:nvPr/>
        </p:nvSpPr>
        <p:spPr>
          <a:xfrm>
            <a:off x="960126" y="4645150"/>
            <a:ext cx="3200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400"/>
              <a:buFont typeface="Arial"/>
              <a:buNone/>
            </a:pPr>
            <a:r>
              <a:rPr b="1" i="0" lang="en-US" sz="1400" u="none" cap="none" strike="noStrike">
                <a:solidFill>
                  <a:srgbClr val="11364A"/>
                </a:solidFill>
                <a:latin typeface="Arial"/>
                <a:ea typeface="Arial"/>
                <a:cs typeface="Arial"/>
                <a:sym typeface="Arial"/>
              </a:rPr>
              <a:t>Why preserve original language?</a:t>
            </a:r>
            <a:endParaRPr b="0" i="0" sz="1400" u="none" cap="none" strike="noStrike">
              <a:solidFill>
                <a:schemeClr val="dk1"/>
              </a:solidFill>
              <a:latin typeface="Arial"/>
              <a:ea typeface="Arial"/>
              <a:cs typeface="Arial"/>
              <a:sym typeface="Arial"/>
            </a:endParaRPr>
          </a:p>
        </p:txBody>
      </p:sp>
      <p:sp>
        <p:nvSpPr>
          <p:cNvPr id="70" name="Google Shape;70;p4"/>
          <p:cNvSpPr/>
          <p:nvPr/>
        </p:nvSpPr>
        <p:spPr>
          <a:xfrm>
            <a:off x="960120" y="5010912"/>
            <a:ext cx="502920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350"/>
              <a:buFont typeface="Arial"/>
              <a:buNone/>
            </a:pPr>
            <a:r>
              <a:rPr b="0" i="0" lang="en-US" sz="1350" u="none" cap="none" strike="noStrike">
                <a:solidFill>
                  <a:srgbClr val="59656F"/>
                </a:solidFill>
                <a:latin typeface="Arial"/>
                <a:ea typeface="Arial"/>
                <a:cs typeface="Arial"/>
                <a:sym typeface="Arial"/>
              </a:rPr>
              <a:t>It lets the system be auditable and lets clinicians see the patient’s words behind the inference.</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75" name="Shape 75"/>
        <p:cNvGrpSpPr/>
        <p:nvPr/>
      </p:nvGrpSpPr>
      <p:grpSpPr>
        <a:xfrm>
          <a:off x="0" y="0"/>
          <a:ext cx="0" cy="0"/>
          <a:chOff x="0" y="0"/>
          <a:chExt cx="0" cy="0"/>
        </a:xfrm>
      </p:grpSpPr>
      <p:pic>
        <p:nvPicPr>
          <p:cNvPr id="76" name="Google Shape;76;g3ec88dc7738_0_36"/>
          <p:cNvPicPr preferRelativeResize="0"/>
          <p:nvPr/>
        </p:nvPicPr>
        <p:blipFill rotWithShape="1">
          <a:blip r:embed="rId3">
            <a:alphaModFix/>
          </a:blip>
          <a:srcRect b="40656" l="0" r="0" t="0"/>
          <a:stretch/>
        </p:blipFill>
        <p:spPr>
          <a:xfrm>
            <a:off x="392288" y="1495338"/>
            <a:ext cx="11407099" cy="38673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81" name="Shape 81"/>
        <p:cNvGrpSpPr/>
        <p:nvPr/>
      </p:nvGrpSpPr>
      <p:grpSpPr>
        <a:xfrm>
          <a:off x="0" y="0"/>
          <a:ext cx="0" cy="0"/>
          <a:chOff x="0" y="0"/>
          <a:chExt cx="0" cy="0"/>
        </a:xfrm>
      </p:grpSpPr>
      <p:pic>
        <p:nvPicPr>
          <p:cNvPr id="82" name="Google Shape;82;g3ec88dc7738_0_31"/>
          <p:cNvPicPr preferRelativeResize="0"/>
          <p:nvPr/>
        </p:nvPicPr>
        <p:blipFill>
          <a:blip r:embed="rId3">
            <a:alphaModFix/>
          </a:blip>
          <a:stretch>
            <a:fillRect/>
          </a:stretch>
        </p:blipFill>
        <p:spPr>
          <a:xfrm>
            <a:off x="330825" y="152400"/>
            <a:ext cx="11530030" cy="6553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c88dc7738_0_51"/>
          <p:cNvPicPr preferRelativeResize="0"/>
          <p:nvPr/>
        </p:nvPicPr>
        <p:blipFill rotWithShape="1">
          <a:blip r:embed="rId3">
            <a:alphaModFix/>
          </a:blip>
          <a:srcRect b="12549" l="0" r="0" t="18953"/>
          <a:stretch/>
        </p:blipFill>
        <p:spPr>
          <a:xfrm>
            <a:off x="1219025" y="1563037"/>
            <a:ext cx="9753600" cy="3731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93" name="Shape 93"/>
        <p:cNvGrpSpPr/>
        <p:nvPr/>
      </p:nvGrpSpPr>
      <p:grpSpPr>
        <a:xfrm>
          <a:off x="0" y="0"/>
          <a:ext cx="0" cy="0"/>
          <a:chOff x="0" y="0"/>
          <a:chExt cx="0" cy="0"/>
        </a:xfrm>
      </p:grpSpPr>
      <p:sp>
        <p:nvSpPr>
          <p:cNvPr id="94" name="Google Shape;94;p6"/>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OUTPUT SEMANTICS</a:t>
            </a:r>
            <a:endParaRPr b="0" i="0" sz="850" u="none" cap="none" strike="noStrike">
              <a:solidFill>
                <a:schemeClr val="dk1"/>
              </a:solidFill>
              <a:latin typeface="Arial"/>
              <a:ea typeface="Arial"/>
              <a:cs typeface="Arial"/>
              <a:sym typeface="Arial"/>
            </a:endParaRPr>
          </a:p>
        </p:txBody>
      </p:sp>
      <p:sp>
        <p:nvSpPr>
          <p:cNvPr id="95" name="Google Shape;95;p6"/>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The reasoner is designed to be honest, not overconfident</a:t>
            </a:r>
            <a:endParaRPr b="0" i="0" sz="3000" u="none" cap="none" strike="noStrike">
              <a:solidFill>
                <a:schemeClr val="dk1"/>
              </a:solidFill>
              <a:latin typeface="Arial"/>
              <a:ea typeface="Arial"/>
              <a:cs typeface="Arial"/>
              <a:sym typeface="Arial"/>
            </a:endParaRPr>
          </a:p>
        </p:txBody>
      </p:sp>
      <p:cxnSp>
        <p:nvCxnSpPr>
          <p:cNvPr id="96" name="Google Shape;96;p6"/>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97" name="Google Shape;97;p6"/>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98" name="Google Shape;98;p6"/>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99" name="Google Shape;99;p6"/>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6</a:t>
            </a:r>
            <a:endParaRPr b="0" i="0" sz="750" u="none" cap="none" strike="noStrike">
              <a:solidFill>
                <a:schemeClr val="dk1"/>
              </a:solidFill>
              <a:latin typeface="Arial"/>
              <a:ea typeface="Arial"/>
              <a:cs typeface="Arial"/>
              <a:sym typeface="Arial"/>
            </a:endParaRPr>
          </a:p>
        </p:txBody>
      </p:sp>
      <p:sp>
        <p:nvSpPr>
          <p:cNvPr id="100" name="Google Shape;100;p6"/>
          <p:cNvSpPr/>
          <p:nvPr/>
        </p:nvSpPr>
        <p:spPr>
          <a:xfrm>
            <a:off x="713232" y="1627632"/>
            <a:ext cx="100584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Instead of forcing a binary answer, ADO returns one of four outputs that tell a clinician how much the directive actually says.</a:t>
            </a:r>
            <a:endParaRPr b="0" i="0" sz="1700" u="none" cap="none" strike="noStrike">
              <a:solidFill>
                <a:schemeClr val="dk1"/>
              </a:solidFill>
              <a:latin typeface="Arial"/>
              <a:ea typeface="Arial"/>
              <a:cs typeface="Arial"/>
              <a:sym typeface="Arial"/>
            </a:endParaRPr>
          </a:p>
        </p:txBody>
      </p:sp>
      <p:sp>
        <p:nvSpPr>
          <p:cNvPr id="101" name="Google Shape;101;p6"/>
          <p:cNvSpPr/>
          <p:nvPr/>
        </p:nvSpPr>
        <p:spPr>
          <a:xfrm>
            <a:off x="5303520" y="3383280"/>
            <a:ext cx="1554480" cy="822960"/>
          </a:xfrm>
          <a:prstGeom prst="rect">
            <a:avLst/>
          </a:prstGeom>
          <a:solidFill>
            <a:srgbClr val="11364A"/>
          </a:solidFill>
          <a:ln cap="flat" cmpd="sng" w="15225">
            <a:solidFill>
              <a:srgbClr val="11364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Clinical</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scenario</a:t>
            </a:r>
            <a:endParaRPr b="0" i="0" sz="1500" u="none" cap="none" strike="noStrike">
              <a:solidFill>
                <a:schemeClr val="dk1"/>
              </a:solidFill>
              <a:latin typeface="Arial"/>
              <a:ea typeface="Arial"/>
              <a:cs typeface="Arial"/>
              <a:sym typeface="Arial"/>
            </a:endParaRPr>
          </a:p>
        </p:txBody>
      </p:sp>
      <p:sp>
        <p:nvSpPr>
          <p:cNvPr id="102" name="Google Shape;102;p6"/>
          <p:cNvSpPr/>
          <p:nvPr/>
        </p:nvSpPr>
        <p:spPr>
          <a:xfrm>
            <a:off x="960120" y="2423160"/>
            <a:ext cx="2651760" cy="438912"/>
          </a:xfrm>
          <a:prstGeom prst="rect">
            <a:avLst/>
          </a:prstGeom>
          <a:solidFill>
            <a:srgbClr val="1B7F89"/>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Clear match</a:t>
            </a:r>
            <a:endParaRPr b="0" i="0" sz="1500" u="none" cap="none" strike="noStrike">
              <a:solidFill>
                <a:schemeClr val="dk1"/>
              </a:solidFill>
              <a:latin typeface="Arial"/>
              <a:ea typeface="Arial"/>
              <a:cs typeface="Arial"/>
              <a:sym typeface="Arial"/>
            </a:endParaRPr>
          </a:p>
        </p:txBody>
      </p:sp>
      <p:sp>
        <p:nvSpPr>
          <p:cNvPr id="103" name="Google Shape;103;p6"/>
          <p:cNvSpPr/>
          <p:nvPr/>
        </p:nvSpPr>
        <p:spPr>
          <a:xfrm>
            <a:off x="960120" y="2916936"/>
            <a:ext cx="2651760" cy="548640"/>
          </a:xfrm>
          <a:prstGeom prst="rect">
            <a:avLst/>
          </a:prstGeom>
          <a:solidFill>
            <a:srgbClr val="FFFFFF"/>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200"/>
              <a:buFont typeface="Arial"/>
              <a:buNone/>
            </a:pPr>
            <a:r>
              <a:rPr b="0" i="0" lang="en-US" sz="1200" u="none" cap="none" strike="noStrike">
                <a:solidFill>
                  <a:srgbClr val="59656F"/>
                </a:solidFill>
                <a:latin typeface="Arial"/>
                <a:ea typeface="Arial"/>
                <a:cs typeface="Arial"/>
                <a:sym typeface="Arial"/>
              </a:rPr>
              <a:t>conditions met; unambiguous</a:t>
            </a:r>
            <a:endParaRPr b="0" i="0" sz="1200" u="none" cap="none" strike="noStrike">
              <a:solidFill>
                <a:schemeClr val="dk1"/>
              </a:solidFill>
              <a:latin typeface="Arial"/>
              <a:ea typeface="Arial"/>
              <a:cs typeface="Arial"/>
              <a:sym typeface="Arial"/>
            </a:endParaRPr>
          </a:p>
        </p:txBody>
      </p:sp>
      <p:sp>
        <p:nvSpPr>
          <p:cNvPr id="104" name="Google Shape;104;p6"/>
          <p:cNvSpPr/>
          <p:nvPr/>
        </p:nvSpPr>
        <p:spPr>
          <a:xfrm>
            <a:off x="960120" y="4572000"/>
            <a:ext cx="2651760" cy="438912"/>
          </a:xfrm>
          <a:prstGeom prst="rect">
            <a:avLst/>
          </a:prstGeom>
          <a:solidFill>
            <a:srgbClr val="E8B14D"/>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Partial match</a:t>
            </a:r>
            <a:endParaRPr b="0" i="0" sz="1500" u="none" cap="none" strike="noStrike">
              <a:solidFill>
                <a:schemeClr val="dk1"/>
              </a:solidFill>
              <a:latin typeface="Arial"/>
              <a:ea typeface="Arial"/>
              <a:cs typeface="Arial"/>
              <a:sym typeface="Arial"/>
            </a:endParaRPr>
          </a:p>
        </p:txBody>
      </p:sp>
      <p:sp>
        <p:nvSpPr>
          <p:cNvPr id="105" name="Google Shape;105;p6"/>
          <p:cNvSpPr/>
          <p:nvPr/>
        </p:nvSpPr>
        <p:spPr>
          <a:xfrm>
            <a:off x="960120" y="5065776"/>
            <a:ext cx="2651760" cy="548640"/>
          </a:xfrm>
          <a:prstGeom prst="rect">
            <a:avLst/>
          </a:prstGeom>
          <a:solidFill>
            <a:srgbClr val="FFFFFF"/>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200"/>
              <a:buFont typeface="Arial"/>
              <a:buNone/>
            </a:pPr>
            <a:r>
              <a:rPr b="0" i="0" lang="en-US" sz="1200" u="none" cap="none" strike="noStrike">
                <a:solidFill>
                  <a:srgbClr val="59656F"/>
                </a:solidFill>
                <a:latin typeface="Arial"/>
                <a:ea typeface="Arial"/>
                <a:cs typeface="Arial"/>
                <a:sym typeface="Arial"/>
              </a:rPr>
              <a:t>some conditions uncertain/unmet; defer</a:t>
            </a:r>
            <a:endParaRPr b="0" i="0" sz="1200" u="none" cap="none" strike="noStrike">
              <a:solidFill>
                <a:schemeClr val="dk1"/>
              </a:solidFill>
              <a:latin typeface="Arial"/>
              <a:ea typeface="Arial"/>
              <a:cs typeface="Arial"/>
              <a:sym typeface="Arial"/>
            </a:endParaRPr>
          </a:p>
        </p:txBody>
      </p:sp>
      <p:sp>
        <p:nvSpPr>
          <p:cNvPr id="106" name="Google Shape;106;p6"/>
          <p:cNvSpPr/>
          <p:nvPr/>
        </p:nvSpPr>
        <p:spPr>
          <a:xfrm>
            <a:off x="8229600" y="2423160"/>
            <a:ext cx="2651760" cy="438912"/>
          </a:xfrm>
          <a:prstGeom prst="rect">
            <a:avLst/>
          </a:prstGeom>
          <a:solidFill>
            <a:srgbClr val="D76F5D"/>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No coverage</a:t>
            </a:r>
            <a:endParaRPr b="0" i="0" sz="1500" u="none" cap="none" strike="noStrike">
              <a:solidFill>
                <a:schemeClr val="dk1"/>
              </a:solidFill>
              <a:latin typeface="Arial"/>
              <a:ea typeface="Arial"/>
              <a:cs typeface="Arial"/>
              <a:sym typeface="Arial"/>
            </a:endParaRPr>
          </a:p>
        </p:txBody>
      </p:sp>
      <p:sp>
        <p:nvSpPr>
          <p:cNvPr id="107" name="Google Shape;107;p6"/>
          <p:cNvSpPr/>
          <p:nvPr/>
        </p:nvSpPr>
        <p:spPr>
          <a:xfrm>
            <a:off x="8229600" y="2916936"/>
            <a:ext cx="2651760" cy="548640"/>
          </a:xfrm>
          <a:prstGeom prst="rect">
            <a:avLst/>
          </a:prstGeom>
          <a:solidFill>
            <a:srgbClr val="FFFFFF"/>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200"/>
              <a:buFont typeface="Arial"/>
              <a:buNone/>
            </a:pPr>
            <a:r>
              <a:rPr b="0" i="0" lang="en-US" sz="1200" u="none" cap="none" strike="noStrike">
                <a:solidFill>
                  <a:srgbClr val="59656F"/>
                </a:solidFill>
                <a:latin typeface="Arial"/>
                <a:ea typeface="Arial"/>
                <a:cs typeface="Arial"/>
                <a:sym typeface="Arial"/>
              </a:rPr>
              <a:t>directive is silent for this scenario</a:t>
            </a:r>
            <a:endParaRPr b="0" i="0" sz="1200" u="none" cap="none" strike="noStrike">
              <a:solidFill>
                <a:schemeClr val="dk1"/>
              </a:solidFill>
              <a:latin typeface="Arial"/>
              <a:ea typeface="Arial"/>
              <a:cs typeface="Arial"/>
              <a:sym typeface="Arial"/>
            </a:endParaRPr>
          </a:p>
        </p:txBody>
      </p:sp>
      <p:sp>
        <p:nvSpPr>
          <p:cNvPr id="108" name="Google Shape;108;p6"/>
          <p:cNvSpPr/>
          <p:nvPr/>
        </p:nvSpPr>
        <p:spPr>
          <a:xfrm>
            <a:off x="8229600" y="4572000"/>
            <a:ext cx="2651760" cy="438912"/>
          </a:xfrm>
          <a:prstGeom prst="rect">
            <a:avLst/>
          </a:prstGeom>
          <a:solidFill>
            <a:srgbClr val="68518A"/>
          </a:solidFill>
          <a:ln cap="flat" cmpd="sng" w="15225">
            <a:solidFill>
              <a:srgbClr val="68518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Vague match</a:t>
            </a:r>
            <a:endParaRPr b="0" i="0" sz="1500" u="none" cap="none" strike="noStrike">
              <a:solidFill>
                <a:schemeClr val="dk1"/>
              </a:solidFill>
              <a:latin typeface="Arial"/>
              <a:ea typeface="Arial"/>
              <a:cs typeface="Arial"/>
              <a:sym typeface="Arial"/>
            </a:endParaRPr>
          </a:p>
        </p:txBody>
      </p:sp>
      <p:sp>
        <p:nvSpPr>
          <p:cNvPr id="109" name="Google Shape;109;p6"/>
          <p:cNvSpPr/>
          <p:nvPr/>
        </p:nvSpPr>
        <p:spPr>
          <a:xfrm>
            <a:off x="8229600" y="5065776"/>
            <a:ext cx="2651760" cy="548640"/>
          </a:xfrm>
          <a:prstGeom prst="rect">
            <a:avLst/>
          </a:prstGeom>
          <a:solidFill>
            <a:srgbClr val="FFFFFF"/>
          </a:solidFill>
          <a:ln cap="flat" cmpd="sng" w="15225">
            <a:solidFill>
              <a:srgbClr val="68518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59656F"/>
              </a:buClr>
              <a:buSzPts val="1200"/>
              <a:buFont typeface="Arial"/>
              <a:buNone/>
            </a:pPr>
            <a:r>
              <a:rPr b="0" i="0" lang="en-US" sz="1200" u="none" cap="none" strike="noStrike">
                <a:solidFill>
                  <a:srgbClr val="59656F"/>
                </a:solidFill>
                <a:latin typeface="Arial"/>
                <a:ea typeface="Arial"/>
                <a:cs typeface="Arial"/>
                <a:sym typeface="Arial"/>
              </a:rPr>
              <a:t>imprecise language surfaced</a:t>
            </a:r>
            <a:endParaRPr b="0" i="0" sz="1200" u="none" cap="none" strike="noStrike">
              <a:solidFill>
                <a:schemeClr val="dk1"/>
              </a:solidFill>
              <a:latin typeface="Arial"/>
              <a:ea typeface="Arial"/>
              <a:cs typeface="Arial"/>
              <a:sym typeface="Arial"/>
            </a:endParaRPr>
          </a:p>
        </p:txBody>
      </p:sp>
      <p:sp>
        <p:nvSpPr>
          <p:cNvPr id="110" name="Google Shape;110;p6"/>
          <p:cNvSpPr/>
          <p:nvPr/>
        </p:nvSpPr>
        <p:spPr>
          <a:xfrm>
            <a:off x="2057400" y="5925312"/>
            <a:ext cx="80924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500"/>
              <a:buFont typeface="Arial"/>
              <a:buNone/>
            </a:pPr>
            <a:r>
              <a:rPr b="1" i="0" lang="en-US" sz="1500" u="none" cap="none" strike="noStrike">
                <a:solidFill>
                  <a:srgbClr val="11364A"/>
                </a:solidFill>
                <a:latin typeface="Arial"/>
                <a:ea typeface="Arial"/>
                <a:cs typeface="Arial"/>
                <a:sym typeface="Arial"/>
              </a:rPr>
              <a:t>This is the safety feature: uncertainty becomes visible rather than hidden behind a confident answer.</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115" name="Shape 115"/>
        <p:cNvGrpSpPr/>
        <p:nvPr/>
      </p:nvGrpSpPr>
      <p:grpSpPr>
        <a:xfrm>
          <a:off x="0" y="0"/>
          <a:ext cx="0" cy="0"/>
          <a:chOff x="0" y="0"/>
          <a:chExt cx="0" cy="0"/>
        </a:xfrm>
      </p:grpSpPr>
      <p:pic>
        <p:nvPicPr>
          <p:cNvPr id="116" name="Google Shape;116;g3ec88dc7738_0_16" title="Screenshot 2026-05-31 at 5.42.30 PM.png"/>
          <p:cNvPicPr preferRelativeResize="0"/>
          <p:nvPr/>
        </p:nvPicPr>
        <p:blipFill>
          <a:blip r:embed="rId3">
            <a:alphaModFix/>
          </a:blip>
          <a:stretch>
            <a:fillRect/>
          </a:stretch>
        </p:blipFill>
        <p:spPr>
          <a:xfrm>
            <a:off x="152400" y="901675"/>
            <a:ext cx="11886878" cy="50546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121" name="Shape 121"/>
        <p:cNvGrpSpPr/>
        <p:nvPr/>
      </p:nvGrpSpPr>
      <p:grpSpPr>
        <a:xfrm>
          <a:off x="0" y="0"/>
          <a:ext cx="0" cy="0"/>
          <a:chOff x="0" y="0"/>
          <a:chExt cx="0" cy="0"/>
        </a:xfrm>
      </p:grpSpPr>
      <p:sp>
        <p:nvSpPr>
          <p:cNvPr id="122" name="Google Shape;122;p11"/>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CLINICAL INTEGRATION</a:t>
            </a:r>
            <a:endParaRPr b="0" i="0" sz="850" u="none" cap="none" strike="noStrike">
              <a:solidFill>
                <a:schemeClr val="dk1"/>
              </a:solidFill>
              <a:latin typeface="Arial"/>
              <a:ea typeface="Arial"/>
              <a:cs typeface="Arial"/>
              <a:sym typeface="Arial"/>
            </a:endParaRPr>
          </a:p>
        </p:txBody>
      </p:sp>
      <p:sp>
        <p:nvSpPr>
          <p:cNvPr id="123" name="Google Shape;123;p11"/>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Best workflow fit: pre-populating an ACP note</a:t>
            </a:r>
            <a:endParaRPr b="0" i="0" sz="3000" u="none" cap="none" strike="noStrike">
              <a:solidFill>
                <a:schemeClr val="dk1"/>
              </a:solidFill>
              <a:latin typeface="Arial"/>
              <a:ea typeface="Arial"/>
              <a:cs typeface="Arial"/>
              <a:sym typeface="Arial"/>
            </a:endParaRPr>
          </a:p>
        </p:txBody>
      </p:sp>
      <p:cxnSp>
        <p:nvCxnSpPr>
          <p:cNvPr id="124" name="Google Shape;124;p11"/>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125" name="Google Shape;125;p11"/>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126" name="Google Shape;126;p11"/>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127" name="Google Shape;127;p11"/>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11</a:t>
            </a:r>
            <a:endParaRPr b="0" i="0" sz="750" u="none" cap="none" strike="noStrike">
              <a:solidFill>
                <a:schemeClr val="dk1"/>
              </a:solidFill>
              <a:latin typeface="Arial"/>
              <a:ea typeface="Arial"/>
              <a:cs typeface="Arial"/>
              <a:sym typeface="Arial"/>
            </a:endParaRPr>
          </a:p>
        </p:txBody>
      </p:sp>
      <p:sp>
        <p:nvSpPr>
          <p:cNvPr id="128" name="Google Shape;128;p11"/>
          <p:cNvSpPr/>
          <p:nvPr/>
        </p:nvSpPr>
        <p:spPr>
          <a:xfrm>
            <a:off x="713232" y="1627632"/>
            <a:ext cx="100584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Expert review reframed ADO as documentation support rather than a legal directive. This preserves its value while avoiding the wrong legal claim.</a:t>
            </a:r>
            <a:endParaRPr b="0" i="0" sz="1700" u="none" cap="none" strike="noStrike">
              <a:solidFill>
                <a:schemeClr val="dk1"/>
              </a:solidFill>
              <a:latin typeface="Arial"/>
              <a:ea typeface="Arial"/>
              <a:cs typeface="Arial"/>
              <a:sym typeface="Arial"/>
            </a:endParaRPr>
          </a:p>
        </p:txBody>
      </p:sp>
      <p:sp>
        <p:nvSpPr>
          <p:cNvPr id="129" name="Google Shape;129;p11"/>
          <p:cNvSpPr/>
          <p:nvPr/>
        </p:nvSpPr>
        <p:spPr>
          <a:xfrm>
            <a:off x="822960" y="2788920"/>
            <a:ext cx="1691700" cy="822900"/>
          </a:xfrm>
          <a:prstGeom prst="rect">
            <a:avLst/>
          </a:prstGeom>
          <a:solidFill>
            <a:srgbClr val="FFFFFF"/>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Existing AD</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verbatim wishes</a:t>
            </a:r>
            <a:endParaRPr b="0" i="0" sz="1300" u="none" cap="none" strike="noStrike">
              <a:solidFill>
                <a:schemeClr val="dk1"/>
              </a:solidFill>
              <a:latin typeface="Arial"/>
              <a:ea typeface="Arial"/>
              <a:cs typeface="Arial"/>
              <a:sym typeface="Arial"/>
            </a:endParaRPr>
          </a:p>
        </p:txBody>
      </p:sp>
      <p:sp>
        <p:nvSpPr>
          <p:cNvPr id="130" name="Google Shape;130;p11"/>
          <p:cNvSpPr/>
          <p:nvPr/>
        </p:nvSpPr>
        <p:spPr>
          <a:xfrm>
            <a:off x="3063240" y="2788920"/>
            <a:ext cx="1828800" cy="822960"/>
          </a:xfrm>
          <a:prstGeom prst="rect">
            <a:avLst/>
          </a:prstGeom>
          <a:solidFill>
            <a:srgbClr val="F0FAF8"/>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200" u="none" cap="none" strike="noStrike">
                <a:solidFill>
                  <a:srgbClr val="11364A"/>
                </a:solidFill>
                <a:latin typeface="Arial"/>
                <a:ea typeface="Arial"/>
                <a:cs typeface="Arial"/>
                <a:sym typeface="Arial"/>
              </a:rPr>
              <a:t>ADO</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200" u="none" cap="none" strike="noStrike">
                <a:solidFill>
                  <a:srgbClr val="11364A"/>
                </a:solidFill>
                <a:latin typeface="Arial"/>
                <a:ea typeface="Arial"/>
                <a:cs typeface="Arial"/>
                <a:sym typeface="Arial"/>
              </a:rPr>
              <a:t>structured preferences</a:t>
            </a:r>
            <a:endParaRPr b="0" i="0" sz="1200" u="none" cap="none" strike="noStrike">
              <a:solidFill>
                <a:schemeClr val="dk1"/>
              </a:solidFill>
              <a:latin typeface="Arial"/>
              <a:ea typeface="Arial"/>
              <a:cs typeface="Arial"/>
              <a:sym typeface="Arial"/>
            </a:endParaRPr>
          </a:p>
        </p:txBody>
      </p:sp>
      <p:sp>
        <p:nvSpPr>
          <p:cNvPr id="131" name="Google Shape;131;p11"/>
          <p:cNvSpPr/>
          <p:nvPr/>
        </p:nvSpPr>
        <p:spPr>
          <a:xfrm>
            <a:off x="5486400" y="2788920"/>
            <a:ext cx="1874520" cy="822960"/>
          </a:xfrm>
          <a:prstGeom prst="rect">
            <a:avLst/>
          </a:prstGeom>
          <a:solidFill>
            <a:srgbClr val="FFF9EA"/>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Epic ACP note</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pre-populated fields</a:t>
            </a:r>
            <a:endParaRPr b="0" i="0" sz="1300" u="none" cap="none" strike="noStrike">
              <a:solidFill>
                <a:schemeClr val="dk1"/>
              </a:solidFill>
              <a:latin typeface="Arial"/>
              <a:ea typeface="Arial"/>
              <a:cs typeface="Arial"/>
              <a:sym typeface="Arial"/>
            </a:endParaRPr>
          </a:p>
        </p:txBody>
      </p:sp>
      <p:sp>
        <p:nvSpPr>
          <p:cNvPr id="132" name="Google Shape;132;p11"/>
          <p:cNvSpPr/>
          <p:nvPr/>
        </p:nvSpPr>
        <p:spPr>
          <a:xfrm>
            <a:off x="7767735" y="2788920"/>
            <a:ext cx="2057400" cy="822900"/>
          </a:xfrm>
          <a:prstGeom prst="rect">
            <a:avLst/>
          </a:prstGeom>
          <a:solidFill>
            <a:srgbClr val="FFFFFF"/>
          </a:solidFill>
          <a:ln cap="flat" cmpd="sng" w="15225">
            <a:solidFill>
              <a:srgbClr val="68518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Provider conversation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clarify or override</a:t>
            </a:r>
            <a:endParaRPr b="0" i="0" sz="1300" u="none" cap="none" strike="noStrike">
              <a:solidFill>
                <a:schemeClr val="dk1"/>
              </a:solidFill>
              <a:latin typeface="Arial"/>
              <a:ea typeface="Arial"/>
              <a:cs typeface="Arial"/>
              <a:sym typeface="Arial"/>
            </a:endParaRPr>
          </a:p>
        </p:txBody>
      </p:sp>
      <p:sp>
        <p:nvSpPr>
          <p:cNvPr id="133" name="Google Shape;133;p11"/>
          <p:cNvSpPr/>
          <p:nvPr/>
        </p:nvSpPr>
        <p:spPr>
          <a:xfrm>
            <a:off x="10195560" y="2788920"/>
            <a:ext cx="1554480" cy="822960"/>
          </a:xfrm>
          <a:prstGeom prst="rect">
            <a:avLst/>
          </a:prstGeom>
          <a:solidFill>
            <a:srgbClr val="FCEFEA"/>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150"/>
              <a:buFont typeface="Arial"/>
              <a:buNone/>
            </a:pPr>
            <a:r>
              <a:rPr b="1" i="0" lang="en-US" sz="1150" u="none" cap="none" strike="noStrike">
                <a:solidFill>
                  <a:srgbClr val="11364A"/>
                </a:solidFill>
                <a:latin typeface="Arial"/>
                <a:ea typeface="Arial"/>
                <a:cs typeface="Arial"/>
                <a:sym typeface="Arial"/>
              </a:rPr>
              <a:t>Final record</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150"/>
              <a:buFont typeface="Arial"/>
              <a:buNone/>
            </a:pPr>
            <a:r>
              <a:rPr b="1" i="0" lang="en-US" sz="1150" u="none" cap="none" strike="noStrike">
                <a:solidFill>
                  <a:srgbClr val="11364A"/>
                </a:solidFill>
                <a:latin typeface="Arial"/>
                <a:ea typeface="Arial"/>
                <a:cs typeface="Arial"/>
                <a:sym typeface="Arial"/>
              </a:rPr>
              <a:t>ACP + POLST/code status</a:t>
            </a:r>
            <a:endParaRPr b="0" i="0" sz="1150" u="none" cap="none" strike="noStrike">
              <a:solidFill>
                <a:schemeClr val="dk1"/>
              </a:solidFill>
              <a:latin typeface="Arial"/>
              <a:ea typeface="Arial"/>
              <a:cs typeface="Arial"/>
              <a:sym typeface="Arial"/>
            </a:endParaRPr>
          </a:p>
        </p:txBody>
      </p:sp>
      <p:sp>
        <p:nvSpPr>
          <p:cNvPr id="134" name="Google Shape;134;p11"/>
          <p:cNvSpPr/>
          <p:nvPr/>
        </p:nvSpPr>
        <p:spPr>
          <a:xfrm>
            <a:off x="1234440" y="470916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450"/>
              <a:buFont typeface="Arial"/>
              <a:buNone/>
            </a:pPr>
            <a:r>
              <a:rPr b="1" i="0" lang="en-US" sz="1450" u="none" cap="none" strike="noStrike">
                <a:solidFill>
                  <a:srgbClr val="11364A"/>
                </a:solidFill>
                <a:latin typeface="Arial"/>
                <a:ea typeface="Arial"/>
                <a:cs typeface="Arial"/>
                <a:sym typeface="Arial"/>
              </a:rPr>
              <a:t>Source-of-truth priority</a:t>
            </a:r>
            <a:endParaRPr b="0" i="0" sz="1450" u="none" cap="none" strike="noStrike">
              <a:solidFill>
                <a:schemeClr val="dk1"/>
              </a:solidFill>
              <a:latin typeface="Arial"/>
              <a:ea typeface="Arial"/>
              <a:cs typeface="Arial"/>
              <a:sym typeface="Arial"/>
            </a:endParaRPr>
          </a:p>
        </p:txBody>
      </p:sp>
      <p:sp>
        <p:nvSpPr>
          <p:cNvPr id="135" name="Google Shape;135;p11"/>
          <p:cNvSpPr/>
          <p:nvPr/>
        </p:nvSpPr>
        <p:spPr>
          <a:xfrm>
            <a:off x="1234440" y="5047488"/>
            <a:ext cx="905256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420"/>
              <a:buFont typeface="Arial"/>
              <a:buNone/>
            </a:pPr>
            <a:r>
              <a:rPr b="0" i="0" lang="en-US" sz="1420" u="none" cap="none" strike="noStrike">
                <a:solidFill>
                  <a:srgbClr val="59656F"/>
                </a:solidFill>
                <a:latin typeface="Arial"/>
                <a:ea typeface="Arial"/>
                <a:cs typeface="Arial"/>
                <a:sym typeface="Arial"/>
              </a:rPr>
              <a:t>ACP conversation can clarify or supersede AD preferences. But when a decision is not revisited, the structured AD remains the best available record of the patient’s wishes.</a:t>
            </a:r>
            <a:endParaRPr b="0" i="0" sz="1420" u="none" cap="none" strike="noStrike">
              <a:solidFill>
                <a:schemeClr val="dk1"/>
              </a:solidFill>
              <a:latin typeface="Arial"/>
              <a:ea typeface="Arial"/>
              <a:cs typeface="Arial"/>
              <a:sym typeface="Arial"/>
            </a:endParaRPr>
          </a:p>
        </p:txBody>
      </p:sp>
      <p:sp>
        <p:nvSpPr>
          <p:cNvPr id="136" name="Google Shape;136;p11"/>
          <p:cNvSpPr/>
          <p:nvPr/>
        </p:nvSpPr>
        <p:spPr>
          <a:xfrm>
            <a:off x="2514650" y="3108875"/>
            <a:ext cx="548700" cy="183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1"/>
          <p:cNvSpPr/>
          <p:nvPr/>
        </p:nvSpPr>
        <p:spPr>
          <a:xfrm>
            <a:off x="4914875" y="3108900"/>
            <a:ext cx="548700" cy="183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1"/>
          <p:cNvSpPr/>
          <p:nvPr/>
        </p:nvSpPr>
        <p:spPr>
          <a:xfrm>
            <a:off x="7383750" y="3109025"/>
            <a:ext cx="365700" cy="183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1"/>
          <p:cNvSpPr/>
          <p:nvPr/>
        </p:nvSpPr>
        <p:spPr>
          <a:xfrm>
            <a:off x="9843400" y="3109025"/>
            <a:ext cx="365700" cy="183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144" name="Shape 144"/>
        <p:cNvGrpSpPr/>
        <p:nvPr/>
      </p:nvGrpSpPr>
      <p:grpSpPr>
        <a:xfrm>
          <a:off x="0" y="0"/>
          <a:ext cx="0" cy="0"/>
          <a:chOff x="0" y="0"/>
          <a:chExt cx="0" cy="0"/>
        </a:xfrm>
      </p:grpSpPr>
      <p:sp>
        <p:nvSpPr>
          <p:cNvPr id="145" name="Google Shape;145;p7"/>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SYSTEM IMPLEMENTATION</a:t>
            </a:r>
            <a:endParaRPr b="0" i="0" sz="850" u="none" cap="none" strike="noStrike">
              <a:solidFill>
                <a:schemeClr val="dk1"/>
              </a:solidFill>
              <a:latin typeface="Arial"/>
              <a:ea typeface="Arial"/>
              <a:cs typeface="Arial"/>
              <a:sym typeface="Arial"/>
            </a:endParaRPr>
          </a:p>
        </p:txBody>
      </p:sp>
      <p:sp>
        <p:nvSpPr>
          <p:cNvPr id="146" name="Google Shape;146;p7"/>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End-to-end architecture</a:t>
            </a:r>
            <a:endParaRPr b="0" i="0" sz="3000" u="none" cap="none" strike="noStrike">
              <a:solidFill>
                <a:schemeClr val="dk1"/>
              </a:solidFill>
              <a:latin typeface="Arial"/>
              <a:ea typeface="Arial"/>
              <a:cs typeface="Arial"/>
              <a:sym typeface="Arial"/>
            </a:endParaRPr>
          </a:p>
        </p:txBody>
      </p:sp>
      <p:cxnSp>
        <p:nvCxnSpPr>
          <p:cNvPr id="147" name="Google Shape;147;p7"/>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148" name="Google Shape;148;p7"/>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149" name="Google Shape;149;p7"/>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150" name="Google Shape;150;p7"/>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7</a:t>
            </a:r>
            <a:endParaRPr b="0" i="0" sz="750" u="none" cap="none" strike="noStrike">
              <a:solidFill>
                <a:schemeClr val="dk1"/>
              </a:solidFill>
              <a:latin typeface="Arial"/>
              <a:ea typeface="Arial"/>
              <a:cs typeface="Arial"/>
              <a:sym typeface="Arial"/>
            </a:endParaRPr>
          </a:p>
        </p:txBody>
      </p:sp>
      <p:sp>
        <p:nvSpPr>
          <p:cNvPr id="151" name="Google Shape;151;p7"/>
          <p:cNvSpPr/>
          <p:nvPr/>
        </p:nvSpPr>
        <p:spPr>
          <a:xfrm>
            <a:off x="713232" y="1627632"/>
            <a:ext cx="100584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LLMs are used only at the boundary. The ontology remains the auditable source of truth, and the deterministic reasoner produces the clinical output.</a:t>
            </a:r>
            <a:endParaRPr b="0" i="0" sz="1700" u="none" cap="none" strike="noStrike">
              <a:solidFill>
                <a:schemeClr val="dk1"/>
              </a:solidFill>
              <a:latin typeface="Arial"/>
              <a:ea typeface="Arial"/>
              <a:cs typeface="Arial"/>
              <a:sym typeface="Arial"/>
            </a:endParaRPr>
          </a:p>
        </p:txBody>
      </p:sp>
      <p:sp>
        <p:nvSpPr>
          <p:cNvPr id="152" name="Google Shape;152;p7"/>
          <p:cNvSpPr/>
          <p:nvPr/>
        </p:nvSpPr>
        <p:spPr>
          <a:xfrm>
            <a:off x="685800" y="2971800"/>
            <a:ext cx="1554480" cy="777240"/>
          </a:xfrm>
          <a:prstGeom prst="rect">
            <a:avLst/>
          </a:prstGeom>
          <a:solidFill>
            <a:srgbClr val="FFFFFF"/>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Structured form</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or free text</a:t>
            </a:r>
            <a:endParaRPr b="0" i="0" sz="1300" u="none" cap="none" strike="noStrike">
              <a:solidFill>
                <a:schemeClr val="dk1"/>
              </a:solidFill>
              <a:latin typeface="Arial"/>
              <a:ea typeface="Arial"/>
              <a:cs typeface="Arial"/>
              <a:sym typeface="Arial"/>
            </a:endParaRPr>
          </a:p>
        </p:txBody>
      </p:sp>
      <p:sp>
        <p:nvSpPr>
          <p:cNvPr id="153" name="Google Shape;153;p7"/>
          <p:cNvSpPr/>
          <p:nvPr/>
        </p:nvSpPr>
        <p:spPr>
          <a:xfrm>
            <a:off x="2697480" y="2971800"/>
            <a:ext cx="1554480" cy="777240"/>
          </a:xfrm>
          <a:prstGeom prst="rect">
            <a:avLst/>
          </a:prstGeom>
          <a:solidFill>
            <a:srgbClr val="FFF9EA"/>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Closed-world</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LLM extraction</a:t>
            </a:r>
            <a:endParaRPr b="0" i="0" sz="1300" u="none" cap="none" strike="noStrike">
              <a:solidFill>
                <a:schemeClr val="dk1"/>
              </a:solidFill>
              <a:latin typeface="Arial"/>
              <a:ea typeface="Arial"/>
              <a:cs typeface="Arial"/>
              <a:sym typeface="Arial"/>
            </a:endParaRPr>
          </a:p>
        </p:txBody>
      </p:sp>
      <p:sp>
        <p:nvSpPr>
          <p:cNvPr id="154" name="Google Shape;154;p7"/>
          <p:cNvSpPr/>
          <p:nvPr/>
        </p:nvSpPr>
        <p:spPr>
          <a:xfrm>
            <a:off x="4709160" y="2971800"/>
            <a:ext cx="1554480" cy="777240"/>
          </a:xfrm>
          <a:prstGeom prst="rect">
            <a:avLst/>
          </a:prstGeom>
          <a:solidFill>
            <a:srgbClr val="FFFFFF"/>
          </a:solidFill>
          <a:ln cap="flat" cmpd="sng" w="15225">
            <a:solidFill>
              <a:srgbClr val="38A6A5"/>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Validated JSON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preferences</a:t>
            </a:r>
            <a:endParaRPr b="0" i="0" sz="1300" u="none" cap="none" strike="noStrike">
              <a:solidFill>
                <a:schemeClr val="dk1"/>
              </a:solidFill>
              <a:latin typeface="Arial"/>
              <a:ea typeface="Arial"/>
              <a:cs typeface="Arial"/>
              <a:sym typeface="Arial"/>
            </a:endParaRPr>
          </a:p>
        </p:txBody>
      </p:sp>
      <p:sp>
        <p:nvSpPr>
          <p:cNvPr id="155" name="Google Shape;155;p7"/>
          <p:cNvSpPr/>
          <p:nvPr/>
        </p:nvSpPr>
        <p:spPr>
          <a:xfrm>
            <a:off x="6720840" y="2971800"/>
            <a:ext cx="1554480" cy="777240"/>
          </a:xfrm>
          <a:prstGeom prst="rect">
            <a:avLst/>
          </a:prstGeom>
          <a:solidFill>
            <a:srgbClr val="F0FAF8"/>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OWL ontology</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 individuals</a:t>
            </a:r>
            <a:endParaRPr b="0" i="0" sz="1300" u="none" cap="none" strike="noStrike">
              <a:solidFill>
                <a:schemeClr val="dk1"/>
              </a:solidFill>
              <a:latin typeface="Arial"/>
              <a:ea typeface="Arial"/>
              <a:cs typeface="Arial"/>
              <a:sym typeface="Arial"/>
            </a:endParaRPr>
          </a:p>
        </p:txBody>
      </p:sp>
      <p:sp>
        <p:nvSpPr>
          <p:cNvPr id="156" name="Google Shape;156;p7"/>
          <p:cNvSpPr/>
          <p:nvPr/>
        </p:nvSpPr>
        <p:spPr>
          <a:xfrm>
            <a:off x="8732520" y="2971800"/>
            <a:ext cx="1554480" cy="777240"/>
          </a:xfrm>
          <a:prstGeom prst="rect">
            <a:avLst/>
          </a:prstGeom>
          <a:solidFill>
            <a:srgbClr val="11364A"/>
          </a:solidFill>
          <a:ln cap="flat" cmpd="sng" w="15225">
            <a:solidFill>
              <a:srgbClr val="11364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Scenario-based</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reasoner</a:t>
            </a:r>
            <a:endParaRPr b="0" i="0" sz="1300" u="none" cap="none" strike="noStrike">
              <a:solidFill>
                <a:schemeClr val="dk1"/>
              </a:solidFill>
              <a:latin typeface="Arial"/>
              <a:ea typeface="Arial"/>
              <a:cs typeface="Arial"/>
              <a:sym typeface="Arial"/>
            </a:endParaRPr>
          </a:p>
        </p:txBody>
      </p:sp>
      <p:sp>
        <p:nvSpPr>
          <p:cNvPr id="157" name="Google Shape;157;p7"/>
          <p:cNvSpPr/>
          <p:nvPr/>
        </p:nvSpPr>
        <p:spPr>
          <a:xfrm>
            <a:off x="10561320" y="2971800"/>
            <a:ext cx="1417320" cy="777240"/>
          </a:xfrm>
          <a:prstGeom prst="rect">
            <a:avLst/>
          </a:prstGeom>
          <a:solidFill>
            <a:srgbClr val="FCEFEA"/>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ACP note</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POLST/code status</a:t>
            </a:r>
            <a:endParaRPr b="0" i="0" sz="1200" u="none" cap="none" strike="noStrike">
              <a:solidFill>
                <a:schemeClr val="dk1"/>
              </a:solidFill>
              <a:latin typeface="Arial"/>
              <a:ea typeface="Arial"/>
              <a:cs typeface="Arial"/>
              <a:sym typeface="Arial"/>
            </a:endParaRPr>
          </a:p>
        </p:txBody>
      </p:sp>
      <p:sp>
        <p:nvSpPr>
          <p:cNvPr id="158" name="Google Shape;158;p7"/>
          <p:cNvSpPr/>
          <p:nvPr/>
        </p:nvSpPr>
        <p:spPr>
          <a:xfrm>
            <a:off x="2697480" y="4160520"/>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Closed-world rule</a:t>
            </a:r>
            <a:endParaRPr b="0" i="0" sz="1200" u="none" cap="none" strike="noStrike">
              <a:solidFill>
                <a:schemeClr val="dk1"/>
              </a:solidFill>
              <a:latin typeface="Arial"/>
              <a:ea typeface="Arial"/>
              <a:cs typeface="Arial"/>
              <a:sym typeface="Arial"/>
            </a:endParaRPr>
          </a:p>
        </p:txBody>
      </p:sp>
      <p:sp>
        <p:nvSpPr>
          <p:cNvPr id="159" name="Google Shape;159;p7"/>
          <p:cNvSpPr/>
          <p:nvPr/>
        </p:nvSpPr>
        <p:spPr>
          <a:xfrm>
            <a:off x="2057400" y="4498848"/>
            <a:ext cx="2743200" cy="64008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200"/>
              <a:buFont typeface="Arial"/>
              <a:buNone/>
            </a:pPr>
            <a:r>
              <a:rPr b="0" i="0" lang="en-US" sz="1200" u="none" cap="none" strike="noStrike">
                <a:solidFill>
                  <a:srgbClr val="59656F"/>
                </a:solidFill>
                <a:latin typeface="Arial"/>
                <a:ea typeface="Arial"/>
                <a:cs typeface="Arial"/>
                <a:sym typeface="Arial"/>
              </a:rPr>
              <a:t>Extract only what the patient explicitly states; do not map out-of-scope content to the nearest covered class.</a:t>
            </a:r>
            <a:endParaRPr b="0" i="0" sz="1200" u="none" cap="none" strike="noStrike">
              <a:solidFill>
                <a:schemeClr val="dk1"/>
              </a:solidFill>
              <a:latin typeface="Arial"/>
              <a:ea typeface="Arial"/>
              <a:cs typeface="Arial"/>
              <a:sym typeface="Arial"/>
            </a:endParaRPr>
          </a:p>
        </p:txBody>
      </p:sp>
      <p:sp>
        <p:nvSpPr>
          <p:cNvPr id="160" name="Google Shape;160;p7"/>
          <p:cNvSpPr/>
          <p:nvPr/>
        </p:nvSpPr>
        <p:spPr>
          <a:xfrm>
            <a:off x="8183880" y="4160520"/>
            <a:ext cx="2148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200"/>
              <a:buFont typeface="Arial"/>
              <a:buNone/>
            </a:pPr>
            <a:r>
              <a:rPr b="1" i="0" lang="en-US" sz="1200" u="none" cap="none" strike="noStrike">
                <a:solidFill>
                  <a:srgbClr val="11364A"/>
                </a:solidFill>
                <a:latin typeface="Arial"/>
                <a:ea typeface="Arial"/>
                <a:cs typeface="Arial"/>
                <a:sym typeface="Arial"/>
              </a:rPr>
              <a:t>Reasoner responsibility</a:t>
            </a:r>
            <a:endParaRPr b="0" i="0" sz="1200" u="none" cap="none" strike="noStrike">
              <a:solidFill>
                <a:schemeClr val="dk1"/>
              </a:solidFill>
              <a:latin typeface="Arial"/>
              <a:ea typeface="Arial"/>
              <a:cs typeface="Arial"/>
              <a:sym typeface="Arial"/>
            </a:endParaRPr>
          </a:p>
        </p:txBody>
      </p:sp>
      <p:sp>
        <p:nvSpPr>
          <p:cNvPr id="161" name="Google Shape;161;p7"/>
          <p:cNvSpPr/>
          <p:nvPr/>
        </p:nvSpPr>
        <p:spPr>
          <a:xfrm>
            <a:off x="7818120" y="4498848"/>
            <a:ext cx="2926080" cy="59436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200"/>
              <a:buFont typeface="Arial"/>
              <a:buNone/>
            </a:pPr>
            <a:r>
              <a:rPr b="0" i="0" lang="en-US" sz="1200" u="none" cap="none" strike="noStrike">
                <a:solidFill>
                  <a:srgbClr val="59656F"/>
                </a:solidFill>
                <a:latin typeface="Arial"/>
                <a:ea typeface="Arial"/>
                <a:cs typeface="Arial"/>
                <a:sym typeface="Arial"/>
              </a:rPr>
              <a:t>Match intervention + activation conditions + negation + strength against the clinical scenario.</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166" name="Shape 166"/>
        <p:cNvGrpSpPr/>
        <p:nvPr/>
      </p:nvGrpSpPr>
      <p:grpSpPr>
        <a:xfrm>
          <a:off x="0" y="0"/>
          <a:ext cx="0" cy="0"/>
          <a:chOff x="0" y="0"/>
          <a:chExt cx="0" cy="0"/>
        </a:xfrm>
      </p:grpSpPr>
      <p:sp>
        <p:nvSpPr>
          <p:cNvPr id="167" name="Google Shape;167;p12"/>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LIMITS + PRIORITIES</a:t>
            </a:r>
            <a:endParaRPr b="0" i="0" sz="850" u="none" cap="none" strike="noStrike">
              <a:solidFill>
                <a:schemeClr val="dk1"/>
              </a:solidFill>
              <a:latin typeface="Arial"/>
              <a:ea typeface="Arial"/>
              <a:cs typeface="Arial"/>
              <a:sym typeface="Arial"/>
            </a:endParaRPr>
          </a:p>
        </p:txBody>
      </p:sp>
      <p:sp>
        <p:nvSpPr>
          <p:cNvPr id="168" name="Google Shape;168;p12"/>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lang="en-US" sz="3000">
                <a:solidFill>
                  <a:srgbClr val="11364A"/>
                </a:solidFill>
              </a:rPr>
              <a:t>Expert </a:t>
            </a:r>
            <a:r>
              <a:rPr b="1" lang="en-US" sz="3000">
                <a:solidFill>
                  <a:srgbClr val="11364A"/>
                </a:solidFill>
              </a:rPr>
              <a:t>Qualitative</a:t>
            </a:r>
            <a:r>
              <a:rPr b="1" lang="en-US" sz="3000">
                <a:solidFill>
                  <a:srgbClr val="11364A"/>
                </a:solidFill>
              </a:rPr>
              <a:t> Review - Dr. David Magnus</a:t>
            </a:r>
            <a:endParaRPr b="0" i="0" sz="3000" u="none" cap="none" strike="noStrike">
              <a:solidFill>
                <a:schemeClr val="dk1"/>
              </a:solidFill>
              <a:latin typeface="Arial"/>
              <a:ea typeface="Arial"/>
              <a:cs typeface="Arial"/>
              <a:sym typeface="Arial"/>
            </a:endParaRPr>
          </a:p>
        </p:txBody>
      </p:sp>
      <p:cxnSp>
        <p:nvCxnSpPr>
          <p:cNvPr id="169" name="Google Shape;169;p12"/>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170" name="Google Shape;170;p12"/>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171" name="Google Shape;171;p12"/>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172" name="Google Shape;172;p12"/>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12</a:t>
            </a:r>
            <a:endParaRPr b="0" i="0" sz="750" u="none" cap="none" strike="noStrike">
              <a:solidFill>
                <a:schemeClr val="dk1"/>
              </a:solidFill>
              <a:latin typeface="Arial"/>
              <a:ea typeface="Arial"/>
              <a:cs typeface="Arial"/>
              <a:sym typeface="Arial"/>
            </a:endParaRPr>
          </a:p>
        </p:txBody>
      </p:sp>
      <p:sp>
        <p:nvSpPr>
          <p:cNvPr id="173" name="Google Shape;173;p12"/>
          <p:cNvSpPr/>
          <p:nvPr/>
        </p:nvSpPr>
        <p:spPr>
          <a:xfrm>
            <a:off x="713232" y="1627632"/>
            <a:ext cx="100584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The critique did not eliminate the system’s value; it moved ADO to the right place in the clinical workflow and exposed the next modeling gaps.</a:t>
            </a:r>
            <a:endParaRPr b="0" i="0" sz="1700" u="none" cap="none" strike="noStrike">
              <a:solidFill>
                <a:schemeClr val="dk1"/>
              </a:solidFill>
              <a:latin typeface="Arial"/>
              <a:ea typeface="Arial"/>
              <a:cs typeface="Arial"/>
              <a:sym typeface="Arial"/>
            </a:endParaRPr>
          </a:p>
        </p:txBody>
      </p:sp>
      <p:sp>
        <p:nvSpPr>
          <p:cNvPr id="174" name="Google Shape;174;p12"/>
          <p:cNvSpPr/>
          <p:nvPr/>
        </p:nvSpPr>
        <p:spPr>
          <a:xfrm>
            <a:off x="987552" y="2542032"/>
            <a:ext cx="2148840" cy="384048"/>
          </a:xfrm>
          <a:prstGeom prst="rect">
            <a:avLst/>
          </a:prstGeom>
          <a:solidFill>
            <a:srgbClr val="1B7F89"/>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Positioning</a:t>
            </a:r>
            <a:endParaRPr b="0" i="0" sz="1300" u="none" cap="none" strike="noStrike">
              <a:solidFill>
                <a:schemeClr val="dk1"/>
              </a:solidFill>
              <a:latin typeface="Arial"/>
              <a:ea typeface="Arial"/>
              <a:cs typeface="Arial"/>
              <a:sym typeface="Arial"/>
            </a:endParaRPr>
          </a:p>
        </p:txBody>
      </p:sp>
      <p:sp>
        <p:nvSpPr>
          <p:cNvPr id="175" name="Google Shape;175;p12"/>
          <p:cNvSpPr/>
          <p:nvPr/>
        </p:nvSpPr>
        <p:spPr>
          <a:xfrm>
            <a:off x="3337560" y="2569464"/>
            <a:ext cx="72694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360"/>
              <a:buFont typeface="Arial"/>
              <a:buNone/>
            </a:pPr>
            <a:r>
              <a:rPr b="0" i="0" lang="en-US" sz="1360" u="none" cap="none" strike="noStrike">
                <a:solidFill>
                  <a:srgbClr val="59656F"/>
                </a:solidFill>
                <a:latin typeface="Arial"/>
                <a:ea typeface="Arial"/>
                <a:cs typeface="Arial"/>
                <a:sym typeface="Arial"/>
              </a:rPr>
              <a:t>Decision-support aid, not a signed legal directive</a:t>
            </a:r>
            <a:endParaRPr b="0" i="0" sz="1360" u="none" cap="none" strike="noStrike">
              <a:solidFill>
                <a:schemeClr val="dk1"/>
              </a:solidFill>
              <a:latin typeface="Arial"/>
              <a:ea typeface="Arial"/>
              <a:cs typeface="Arial"/>
              <a:sym typeface="Arial"/>
            </a:endParaRPr>
          </a:p>
        </p:txBody>
      </p:sp>
      <p:sp>
        <p:nvSpPr>
          <p:cNvPr id="176" name="Google Shape;176;p12"/>
          <p:cNvSpPr/>
          <p:nvPr/>
        </p:nvSpPr>
        <p:spPr>
          <a:xfrm>
            <a:off x="987552" y="3200400"/>
            <a:ext cx="2148840" cy="384048"/>
          </a:xfrm>
          <a:prstGeom prst="rect">
            <a:avLst/>
          </a:prstGeom>
          <a:solidFill>
            <a:srgbClr val="E8B14D"/>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Dimensionality</a:t>
            </a:r>
            <a:endParaRPr b="0" i="0" sz="1300" u="none" cap="none" strike="noStrike">
              <a:solidFill>
                <a:schemeClr val="dk1"/>
              </a:solidFill>
              <a:latin typeface="Arial"/>
              <a:ea typeface="Arial"/>
              <a:cs typeface="Arial"/>
              <a:sym typeface="Arial"/>
            </a:endParaRPr>
          </a:p>
        </p:txBody>
      </p:sp>
      <p:sp>
        <p:nvSpPr>
          <p:cNvPr id="177" name="Google Shape;177;p12"/>
          <p:cNvSpPr/>
          <p:nvPr/>
        </p:nvSpPr>
        <p:spPr>
          <a:xfrm>
            <a:off x="3337560" y="3227832"/>
            <a:ext cx="72694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360"/>
              <a:buFont typeface="Arial"/>
              <a:buNone/>
            </a:pPr>
            <a:r>
              <a:rPr b="0" i="0" lang="en-US" sz="1360" u="none" cap="none" strike="noStrike">
                <a:solidFill>
                  <a:srgbClr val="59656F"/>
                </a:solidFill>
                <a:latin typeface="Arial"/>
                <a:ea typeface="Arial"/>
                <a:cs typeface="Arial"/>
                <a:sym typeface="Arial"/>
              </a:rPr>
              <a:t>Current model covers what intervention; next model must cover who decides</a:t>
            </a:r>
            <a:endParaRPr b="0" i="0" sz="1360" u="none" cap="none" strike="noStrike">
              <a:solidFill>
                <a:schemeClr val="dk1"/>
              </a:solidFill>
              <a:latin typeface="Arial"/>
              <a:ea typeface="Arial"/>
              <a:cs typeface="Arial"/>
              <a:sym typeface="Arial"/>
            </a:endParaRPr>
          </a:p>
        </p:txBody>
      </p:sp>
      <p:sp>
        <p:nvSpPr>
          <p:cNvPr id="178" name="Google Shape;178;p12"/>
          <p:cNvSpPr/>
          <p:nvPr/>
        </p:nvSpPr>
        <p:spPr>
          <a:xfrm>
            <a:off x="987552" y="3858768"/>
            <a:ext cx="2148840" cy="384048"/>
          </a:xfrm>
          <a:prstGeom prst="rect">
            <a:avLst/>
          </a:prstGeom>
          <a:solidFill>
            <a:srgbClr val="D76F5D"/>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Coverage gaps</a:t>
            </a:r>
            <a:endParaRPr b="0" i="0" sz="1300" u="none" cap="none" strike="noStrike">
              <a:solidFill>
                <a:schemeClr val="dk1"/>
              </a:solidFill>
              <a:latin typeface="Arial"/>
              <a:ea typeface="Arial"/>
              <a:cs typeface="Arial"/>
              <a:sym typeface="Arial"/>
            </a:endParaRPr>
          </a:p>
        </p:txBody>
      </p:sp>
      <p:sp>
        <p:nvSpPr>
          <p:cNvPr id="179" name="Google Shape;179;p12"/>
          <p:cNvSpPr/>
          <p:nvPr/>
        </p:nvSpPr>
        <p:spPr>
          <a:xfrm>
            <a:off x="3337560" y="3886200"/>
            <a:ext cx="72694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360"/>
              <a:buFont typeface="Arial"/>
              <a:buNone/>
            </a:pPr>
            <a:r>
              <a:rPr b="0" i="0" lang="en-US" sz="1360" u="none" cap="none" strike="noStrike">
                <a:solidFill>
                  <a:srgbClr val="59656F"/>
                </a:solidFill>
                <a:latin typeface="Arial"/>
                <a:ea typeface="Arial"/>
                <a:cs typeface="Arial"/>
                <a:sym typeface="Arial"/>
              </a:rPr>
              <a:t>Artificial hydration/nutrition; antibiotics; comfort-care decisions</a:t>
            </a:r>
            <a:endParaRPr b="0" i="0" sz="1360" u="none" cap="none" strike="noStrike">
              <a:solidFill>
                <a:schemeClr val="dk1"/>
              </a:solidFill>
              <a:latin typeface="Arial"/>
              <a:ea typeface="Arial"/>
              <a:cs typeface="Arial"/>
              <a:sym typeface="Arial"/>
            </a:endParaRPr>
          </a:p>
        </p:txBody>
      </p:sp>
      <p:sp>
        <p:nvSpPr>
          <p:cNvPr id="180" name="Google Shape;180;p12"/>
          <p:cNvSpPr/>
          <p:nvPr/>
        </p:nvSpPr>
        <p:spPr>
          <a:xfrm>
            <a:off x="987552" y="4517136"/>
            <a:ext cx="2148840" cy="384048"/>
          </a:xfrm>
          <a:prstGeom prst="rect">
            <a:avLst/>
          </a:prstGeom>
          <a:solidFill>
            <a:srgbClr val="68518A"/>
          </a:solidFill>
          <a:ln cap="flat" cmpd="sng" w="15225">
            <a:solidFill>
              <a:srgbClr val="68518A"/>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Temporal limits</a:t>
            </a:r>
            <a:endParaRPr b="0" i="0" sz="1300" u="none" cap="none" strike="noStrike">
              <a:solidFill>
                <a:schemeClr val="dk1"/>
              </a:solidFill>
              <a:latin typeface="Arial"/>
              <a:ea typeface="Arial"/>
              <a:cs typeface="Arial"/>
              <a:sym typeface="Arial"/>
            </a:endParaRPr>
          </a:p>
        </p:txBody>
      </p:sp>
      <p:sp>
        <p:nvSpPr>
          <p:cNvPr id="181" name="Google Shape;181;p12"/>
          <p:cNvSpPr/>
          <p:nvPr/>
        </p:nvSpPr>
        <p:spPr>
          <a:xfrm>
            <a:off x="3337560" y="4544568"/>
            <a:ext cx="72694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360"/>
              <a:buFont typeface="Arial"/>
              <a:buNone/>
            </a:pPr>
            <a:r>
              <a:rPr b="0" i="0" lang="en-US" sz="1360" u="none" cap="none" strike="noStrike">
                <a:solidFill>
                  <a:srgbClr val="59656F"/>
                </a:solidFill>
                <a:latin typeface="Arial"/>
                <a:ea typeface="Arial"/>
                <a:cs typeface="Arial"/>
                <a:sym typeface="Arial"/>
              </a:rPr>
              <a:t>OWL lacks native temporal reasoning; ADO uses numeric time bounds</a:t>
            </a:r>
            <a:endParaRPr b="0" i="0" sz="1360" u="none" cap="none" strike="noStrike">
              <a:solidFill>
                <a:schemeClr val="dk1"/>
              </a:solidFill>
              <a:latin typeface="Arial"/>
              <a:ea typeface="Arial"/>
              <a:cs typeface="Arial"/>
              <a:sym typeface="Arial"/>
            </a:endParaRPr>
          </a:p>
        </p:txBody>
      </p:sp>
      <p:sp>
        <p:nvSpPr>
          <p:cNvPr id="182" name="Google Shape;182;p12"/>
          <p:cNvSpPr/>
          <p:nvPr/>
        </p:nvSpPr>
        <p:spPr>
          <a:xfrm>
            <a:off x="987552" y="5175504"/>
            <a:ext cx="2148840" cy="384048"/>
          </a:xfrm>
          <a:prstGeom prst="rect">
            <a:avLst/>
          </a:prstGeom>
          <a:solidFill>
            <a:srgbClr val="38A6A5"/>
          </a:solidFill>
          <a:ln cap="flat" cmpd="sng" w="15225">
            <a:solidFill>
              <a:srgbClr val="38A6A5"/>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Validation limits</a:t>
            </a:r>
            <a:endParaRPr b="0" i="0" sz="1300" u="none" cap="none" strike="noStrike">
              <a:solidFill>
                <a:schemeClr val="dk1"/>
              </a:solidFill>
              <a:latin typeface="Arial"/>
              <a:ea typeface="Arial"/>
              <a:cs typeface="Arial"/>
              <a:sym typeface="Arial"/>
            </a:endParaRPr>
          </a:p>
        </p:txBody>
      </p:sp>
      <p:sp>
        <p:nvSpPr>
          <p:cNvPr id="183" name="Google Shape;183;p12"/>
          <p:cNvSpPr/>
          <p:nvPr/>
        </p:nvSpPr>
        <p:spPr>
          <a:xfrm>
            <a:off x="3337560" y="5202936"/>
            <a:ext cx="72694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360"/>
              <a:buFont typeface="Arial"/>
              <a:buNone/>
            </a:pPr>
            <a:r>
              <a:rPr b="0" i="0" lang="en-US" sz="1360" u="none" cap="none" strike="noStrike">
                <a:solidFill>
                  <a:srgbClr val="59656F"/>
                </a:solidFill>
                <a:latin typeface="Arial"/>
                <a:ea typeface="Arial"/>
                <a:cs typeface="Arial"/>
                <a:sym typeface="Arial"/>
              </a:rPr>
              <a:t>Team-authored gold standards; real-EHR validation remains future work</a:t>
            </a:r>
            <a:endParaRPr b="0" i="0" sz="1360" u="none" cap="none" strike="noStrike">
              <a:solidFill>
                <a:schemeClr val="dk1"/>
              </a:solidFill>
              <a:latin typeface="Arial"/>
              <a:ea typeface="Arial"/>
              <a:cs typeface="Arial"/>
              <a:sym typeface="Arial"/>
            </a:endParaRPr>
          </a:p>
        </p:txBody>
      </p:sp>
      <p:sp>
        <p:nvSpPr>
          <p:cNvPr id="184" name="Google Shape;184;p12"/>
          <p:cNvSpPr/>
          <p:nvPr/>
        </p:nvSpPr>
        <p:spPr>
          <a:xfrm>
            <a:off x="1554480" y="5779008"/>
            <a:ext cx="9098280" cy="384048"/>
          </a:xfrm>
          <a:prstGeom prst="rect">
            <a:avLst/>
          </a:prstGeom>
          <a:solidFill>
            <a:srgbClr val="11364A"/>
          </a:solidFill>
          <a:ln cap="flat" cmpd="sng" w="9525">
            <a:solidFill>
              <a:srgbClr val="11364A">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Design principle: use the reasoner to surface uncertainty, not to replace clinicians or surrogates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364A"/>
        </a:solidFill>
      </p:bgPr>
    </p:bg>
    <p:spTree>
      <p:nvGrpSpPr>
        <p:cNvPr id="189" name="Shape 189"/>
        <p:cNvGrpSpPr/>
        <p:nvPr/>
      </p:nvGrpSpPr>
      <p:grpSpPr>
        <a:xfrm>
          <a:off x="0" y="0"/>
          <a:ext cx="0" cy="0"/>
          <a:chOff x="0" y="0"/>
          <a:chExt cx="0" cy="0"/>
        </a:xfrm>
      </p:grpSpPr>
      <p:sp>
        <p:nvSpPr>
          <p:cNvPr id="190" name="Google Shape;190;p13"/>
          <p:cNvSpPr/>
          <p:nvPr/>
        </p:nvSpPr>
        <p:spPr>
          <a:xfrm>
            <a:off x="713232" y="804672"/>
            <a:ext cx="5486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Takeaways</a:t>
            </a:r>
            <a:endParaRPr b="0" i="0" sz="3600" u="none" cap="none" strike="noStrike">
              <a:solidFill>
                <a:schemeClr val="dk1"/>
              </a:solidFill>
              <a:latin typeface="Arial"/>
              <a:ea typeface="Arial"/>
              <a:cs typeface="Arial"/>
              <a:sym typeface="Arial"/>
            </a:endParaRPr>
          </a:p>
        </p:txBody>
      </p:sp>
      <p:cxnSp>
        <p:nvCxnSpPr>
          <p:cNvPr id="191" name="Google Shape;191;p13"/>
          <p:cNvCxnSpPr/>
          <p:nvPr/>
        </p:nvCxnSpPr>
        <p:spPr>
          <a:xfrm>
            <a:off x="731520" y="1481328"/>
            <a:ext cx="2103120" cy="0"/>
          </a:xfrm>
          <a:prstGeom prst="straightConnector1">
            <a:avLst/>
          </a:prstGeom>
          <a:noFill/>
          <a:ln cap="flat" cmpd="sng" w="38100">
            <a:solidFill>
              <a:srgbClr val="E8B14D"/>
            </a:solidFill>
            <a:prstDash val="solid"/>
            <a:round/>
            <a:headEnd len="sm" w="sm" type="none"/>
            <a:tailEnd len="sm" w="sm" type="none"/>
          </a:ln>
        </p:spPr>
      </p:cxnSp>
      <p:sp>
        <p:nvSpPr>
          <p:cNvPr id="192" name="Google Shape;192;p13"/>
          <p:cNvSpPr/>
          <p:nvPr/>
        </p:nvSpPr>
        <p:spPr>
          <a:xfrm>
            <a:off x="868680" y="2057400"/>
            <a:ext cx="411480" cy="411480"/>
          </a:xfrm>
          <a:prstGeom prst="rect">
            <a:avLst/>
          </a:prstGeom>
          <a:solidFill>
            <a:srgbClr val="E8B14D"/>
          </a:solidFill>
          <a:ln cap="flat" cmpd="sng" w="9525">
            <a:solidFill>
              <a:srgbClr val="E8B14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1</a:t>
            </a:r>
            <a:endParaRPr b="0" i="0" sz="1600" u="none" cap="none" strike="noStrike">
              <a:solidFill>
                <a:schemeClr val="dk1"/>
              </a:solidFill>
              <a:latin typeface="Arial"/>
              <a:ea typeface="Arial"/>
              <a:cs typeface="Arial"/>
              <a:sym typeface="Arial"/>
            </a:endParaRPr>
          </a:p>
        </p:txBody>
      </p:sp>
      <p:sp>
        <p:nvSpPr>
          <p:cNvPr id="193" name="Google Shape;193;p13"/>
          <p:cNvSpPr/>
          <p:nvPr/>
        </p:nvSpPr>
        <p:spPr>
          <a:xfrm>
            <a:off x="1508760" y="2075688"/>
            <a:ext cx="960120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7F4F4"/>
              </a:buClr>
              <a:buSzPts val="1800"/>
              <a:buFont typeface="Arial"/>
              <a:buNone/>
            </a:pPr>
            <a:r>
              <a:rPr b="0" i="0" lang="en-US" sz="1800" u="none" cap="none" strike="noStrike">
                <a:solidFill>
                  <a:srgbClr val="E7F4F4"/>
                </a:solidFill>
                <a:latin typeface="Arial"/>
                <a:ea typeface="Arial"/>
                <a:cs typeface="Arial"/>
                <a:sym typeface="Arial"/>
              </a:rPr>
              <a:t>ADO makes conditional, graded, negatable EOL preferences computable.</a:t>
            </a:r>
            <a:endParaRPr b="0" i="0" sz="1800" u="none" cap="none" strike="noStrike">
              <a:solidFill>
                <a:schemeClr val="dk1"/>
              </a:solidFill>
              <a:latin typeface="Arial"/>
              <a:ea typeface="Arial"/>
              <a:cs typeface="Arial"/>
              <a:sym typeface="Arial"/>
            </a:endParaRPr>
          </a:p>
        </p:txBody>
      </p:sp>
      <p:sp>
        <p:nvSpPr>
          <p:cNvPr id="194" name="Google Shape;194;p13"/>
          <p:cNvSpPr/>
          <p:nvPr/>
        </p:nvSpPr>
        <p:spPr>
          <a:xfrm>
            <a:off x="868680" y="2834640"/>
            <a:ext cx="411480" cy="411480"/>
          </a:xfrm>
          <a:prstGeom prst="rect">
            <a:avLst/>
          </a:prstGeom>
          <a:solidFill>
            <a:srgbClr val="E8B14D"/>
          </a:solidFill>
          <a:ln cap="flat" cmpd="sng" w="9525">
            <a:solidFill>
              <a:srgbClr val="E8B14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2</a:t>
            </a:r>
            <a:endParaRPr b="0" i="0" sz="1600" u="none" cap="none" strike="noStrike">
              <a:solidFill>
                <a:schemeClr val="dk1"/>
              </a:solidFill>
              <a:latin typeface="Arial"/>
              <a:ea typeface="Arial"/>
              <a:cs typeface="Arial"/>
              <a:sym typeface="Arial"/>
            </a:endParaRPr>
          </a:p>
        </p:txBody>
      </p:sp>
      <p:sp>
        <p:nvSpPr>
          <p:cNvPr id="195" name="Google Shape;195;p13"/>
          <p:cNvSpPr/>
          <p:nvPr/>
        </p:nvSpPr>
        <p:spPr>
          <a:xfrm>
            <a:off x="1508760" y="2852928"/>
            <a:ext cx="960120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7F4F4"/>
              </a:buClr>
              <a:buSzPts val="1800"/>
              <a:buFont typeface="Arial"/>
              <a:buNone/>
            </a:pPr>
            <a:r>
              <a:rPr b="0" i="0" lang="en-US" sz="1800" u="none" cap="none" strike="noStrike">
                <a:solidFill>
                  <a:srgbClr val="E7F4F4"/>
                </a:solidFill>
                <a:latin typeface="Arial"/>
                <a:ea typeface="Arial"/>
                <a:cs typeface="Arial"/>
                <a:sym typeface="Arial"/>
              </a:rPr>
              <a:t>The safest outputs include honest non-answers: no coverage, partial, and vague.</a:t>
            </a:r>
            <a:endParaRPr b="0" i="0" sz="1800" u="none" cap="none" strike="noStrike">
              <a:solidFill>
                <a:schemeClr val="dk1"/>
              </a:solidFill>
              <a:latin typeface="Arial"/>
              <a:ea typeface="Arial"/>
              <a:cs typeface="Arial"/>
              <a:sym typeface="Arial"/>
            </a:endParaRPr>
          </a:p>
        </p:txBody>
      </p:sp>
      <p:sp>
        <p:nvSpPr>
          <p:cNvPr id="196" name="Google Shape;196;p13"/>
          <p:cNvSpPr/>
          <p:nvPr/>
        </p:nvSpPr>
        <p:spPr>
          <a:xfrm>
            <a:off x="868680" y="3611880"/>
            <a:ext cx="411480" cy="411480"/>
          </a:xfrm>
          <a:prstGeom prst="rect">
            <a:avLst/>
          </a:prstGeom>
          <a:solidFill>
            <a:srgbClr val="E8B14D"/>
          </a:solidFill>
          <a:ln cap="flat" cmpd="sng" w="9525">
            <a:solidFill>
              <a:srgbClr val="E8B14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3</a:t>
            </a:r>
            <a:endParaRPr b="0" i="0" sz="1600" u="none" cap="none" strike="noStrike">
              <a:solidFill>
                <a:schemeClr val="dk1"/>
              </a:solidFill>
              <a:latin typeface="Arial"/>
              <a:ea typeface="Arial"/>
              <a:cs typeface="Arial"/>
              <a:sym typeface="Arial"/>
            </a:endParaRPr>
          </a:p>
        </p:txBody>
      </p:sp>
      <p:sp>
        <p:nvSpPr>
          <p:cNvPr id="197" name="Google Shape;197;p13"/>
          <p:cNvSpPr/>
          <p:nvPr/>
        </p:nvSpPr>
        <p:spPr>
          <a:xfrm>
            <a:off x="1508760" y="3630168"/>
            <a:ext cx="960120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7F4F4"/>
              </a:buClr>
              <a:buSzPts val="1800"/>
              <a:buFont typeface="Arial"/>
              <a:buNone/>
            </a:pPr>
            <a:r>
              <a:rPr b="0" i="0" lang="en-US" sz="1800" u="none" cap="none" strike="noStrike">
                <a:solidFill>
                  <a:srgbClr val="E7F4F4"/>
                </a:solidFill>
                <a:latin typeface="Arial"/>
                <a:ea typeface="Arial"/>
                <a:cs typeface="Arial"/>
                <a:sym typeface="Arial"/>
              </a:rPr>
              <a:t>LLMs are useful for extraction, but the auditable ontology/reasoner should own inference.</a:t>
            </a:r>
            <a:endParaRPr b="0" i="0" sz="1800" u="none" cap="none" strike="noStrike">
              <a:solidFill>
                <a:schemeClr val="dk1"/>
              </a:solidFill>
              <a:latin typeface="Arial"/>
              <a:ea typeface="Arial"/>
              <a:cs typeface="Arial"/>
              <a:sym typeface="Arial"/>
            </a:endParaRPr>
          </a:p>
        </p:txBody>
      </p:sp>
      <p:sp>
        <p:nvSpPr>
          <p:cNvPr id="198" name="Google Shape;198;p13"/>
          <p:cNvSpPr/>
          <p:nvPr/>
        </p:nvSpPr>
        <p:spPr>
          <a:xfrm>
            <a:off x="868680" y="4389120"/>
            <a:ext cx="411480" cy="411480"/>
          </a:xfrm>
          <a:prstGeom prst="rect">
            <a:avLst/>
          </a:prstGeom>
          <a:solidFill>
            <a:srgbClr val="E8B14D"/>
          </a:solidFill>
          <a:ln cap="flat" cmpd="sng" w="9525">
            <a:solidFill>
              <a:srgbClr val="E8B14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4</a:t>
            </a:r>
            <a:endParaRPr b="0" i="0" sz="1600" u="none" cap="none" strike="noStrike">
              <a:solidFill>
                <a:schemeClr val="dk1"/>
              </a:solidFill>
              <a:latin typeface="Arial"/>
              <a:ea typeface="Arial"/>
              <a:cs typeface="Arial"/>
              <a:sym typeface="Arial"/>
            </a:endParaRPr>
          </a:p>
        </p:txBody>
      </p:sp>
      <p:sp>
        <p:nvSpPr>
          <p:cNvPr id="199" name="Google Shape;199;p13"/>
          <p:cNvSpPr/>
          <p:nvPr/>
        </p:nvSpPr>
        <p:spPr>
          <a:xfrm>
            <a:off x="1508760" y="4407408"/>
            <a:ext cx="960120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7F4F4"/>
              </a:buClr>
              <a:buSzPts val="1800"/>
              <a:buFont typeface="Arial"/>
              <a:buNone/>
            </a:pPr>
            <a:r>
              <a:rPr b="0" i="0" lang="en-US" sz="1800" u="none" cap="none" strike="noStrike">
                <a:solidFill>
                  <a:srgbClr val="E7F4F4"/>
                </a:solidFill>
                <a:latin typeface="Arial"/>
                <a:ea typeface="Arial"/>
                <a:cs typeface="Arial"/>
                <a:sym typeface="Arial"/>
              </a:rPr>
              <a:t>The near-term product is ACP documentation support, not a legal directive.</a:t>
            </a:r>
            <a:endParaRPr b="0" i="0" sz="1800" u="none" cap="none" strike="noStrike">
              <a:solidFill>
                <a:schemeClr val="dk1"/>
              </a:solidFill>
              <a:latin typeface="Arial"/>
              <a:ea typeface="Arial"/>
              <a:cs typeface="Arial"/>
              <a:sym typeface="Arial"/>
            </a:endParaRPr>
          </a:p>
        </p:txBody>
      </p:sp>
      <p:sp>
        <p:nvSpPr>
          <p:cNvPr id="200" name="Google Shape;200;p13"/>
          <p:cNvSpPr/>
          <p:nvPr/>
        </p:nvSpPr>
        <p:spPr>
          <a:xfrm>
            <a:off x="868680" y="5715000"/>
            <a:ext cx="10698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Next steps: surrogate/override modeling • artificial nutrition/hydration • time-limited trials • real-EHR validation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205" name="Shape 205"/>
        <p:cNvGrpSpPr/>
        <p:nvPr/>
      </p:nvGrpSpPr>
      <p:grpSpPr>
        <a:xfrm>
          <a:off x="0" y="0"/>
          <a:ext cx="0" cy="0"/>
          <a:chOff x="0" y="0"/>
          <a:chExt cx="0" cy="0"/>
        </a:xfrm>
      </p:grpSpPr>
      <p:sp>
        <p:nvSpPr>
          <p:cNvPr id="206" name="Google Shape;206;g3ec88dc7738_0_66"/>
          <p:cNvSpPr/>
          <p:nvPr/>
        </p:nvSpPr>
        <p:spPr>
          <a:xfrm>
            <a:off x="658368" y="713232"/>
            <a:ext cx="10607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lang="en-US" sz="3000">
                <a:solidFill>
                  <a:srgbClr val="11364A"/>
                </a:solidFill>
              </a:rPr>
              <a:t>References</a:t>
            </a:r>
            <a:endParaRPr b="0" i="0" sz="3000" u="none" cap="none" strike="noStrike">
              <a:solidFill>
                <a:schemeClr val="dk1"/>
              </a:solidFill>
              <a:latin typeface="Arial"/>
              <a:ea typeface="Arial"/>
              <a:cs typeface="Arial"/>
              <a:sym typeface="Arial"/>
            </a:endParaRPr>
          </a:p>
        </p:txBody>
      </p:sp>
      <p:cxnSp>
        <p:nvCxnSpPr>
          <p:cNvPr id="207" name="Google Shape;207;g3ec88dc7738_0_66"/>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sp>
        <p:nvSpPr>
          <p:cNvPr id="208" name="Google Shape;208;g3ec88dc7738_0_66"/>
          <p:cNvSpPr/>
          <p:nvPr/>
        </p:nvSpPr>
        <p:spPr>
          <a:xfrm>
            <a:off x="713225" y="1627577"/>
            <a:ext cx="10058400" cy="503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1. Respecting Choices &amp; National POLST Paradigm. POLST: Physician Orders for Life-Sustaining Treatment. https://polst.org</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2. Jaarsma, T., et al. (2018). Advanced heart failure: a position statement of the Heart Failure Association of the ESC. European Journal of Heart Failure, 20(12), 1505–1535.</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3. Billings, J. A. (2011). The need for safeguards in advance care planning. Journal of Palliative Medicine, 14(12), 1389–1395.</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4. W3C OWL Working Group. (2012). OWL 2 Web Ontology Language: Profiles. https://www.w3.org/TR/owl2-profiles/</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5. Musen, M. A. (2015). The Protégé project: a look back and a look forward. AI Matters, 1(4), 1–4.</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6. Tsatsaronis, G., et al. (2015). An overview of the BIOASQ large-scale biomedical semantic indexing and question answering competition. BMC Bioinformatics, 16(1), 138.</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7. Ong, L. M., et al. (2023). Large language models in medicine: Opportunities for clinical applications. JAMA Network Open, 6(8), e2333856.</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8. Shortliffe, E. H., &amp; Buchanan, B. G. (1975). A model of inexact reasoning in medicine. Mathematical Biosciences, 23(3), 351–379.</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9. Bossuyt, P. M., et al. (2015). STARD 2015: an updated statement for reporting diagnostic accuracy studies. BMJ, 351, h5527.</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10. Linden, M. (2026). Expert review: ADO ontology completeness and clinical integration. Stanford University, May 27, 2026. [Internal review]</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rPr lang="en-US" sz="1200">
                <a:solidFill>
                  <a:srgbClr val="59656F"/>
                </a:solidFill>
              </a:rPr>
              <a:t>11. Lampert, R., et al. (2010). HRS expert consensus statement on the management of cardiovascular implantable electronic devices in patients nearing end of life or requesting withdrawal of therapy. Circulation, 122(16), 1666–1675.</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a:p>
            <a:pPr indent="0" lvl="0" marL="0" marR="0" rtl="0" algn="l">
              <a:spcBef>
                <a:spcPts val="0"/>
              </a:spcBef>
              <a:spcAft>
                <a:spcPts val="0"/>
              </a:spcAft>
              <a:buClr>
                <a:srgbClr val="59656F"/>
              </a:buClr>
              <a:buSzPts val="1700"/>
              <a:buFont typeface="Arial"/>
              <a:buNone/>
            </a:pPr>
            <a:r>
              <a:t/>
            </a:r>
            <a:endParaRPr sz="1200">
              <a:solidFill>
                <a:srgbClr val="59656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EF"/>
        </a:solidFill>
      </p:bgPr>
    </p:bg>
    <p:spTree>
      <p:nvGrpSpPr>
        <p:cNvPr id="213" name="Shape 213"/>
        <p:cNvGrpSpPr/>
        <p:nvPr/>
      </p:nvGrpSpPr>
      <p:grpSpPr>
        <a:xfrm>
          <a:off x="0" y="0"/>
          <a:ext cx="0" cy="0"/>
          <a:chOff x="0" y="0"/>
          <a:chExt cx="0" cy="0"/>
        </a:xfrm>
      </p:grpSpPr>
      <p:sp>
        <p:nvSpPr>
          <p:cNvPr id="214" name="Google Shape;214;g3ec88dc7738_0_93"/>
          <p:cNvSpPr/>
          <p:nvPr/>
        </p:nvSpPr>
        <p:spPr>
          <a:xfrm>
            <a:off x="658368" y="713232"/>
            <a:ext cx="10607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lang="en-US" sz="3000">
                <a:solidFill>
                  <a:srgbClr val="11364A"/>
                </a:solidFill>
              </a:rPr>
              <a:t>GitHub Repo</a:t>
            </a:r>
            <a:endParaRPr b="0" i="0" sz="3000" u="none" cap="none" strike="noStrike">
              <a:solidFill>
                <a:schemeClr val="dk1"/>
              </a:solidFill>
              <a:latin typeface="Arial"/>
              <a:ea typeface="Arial"/>
              <a:cs typeface="Arial"/>
              <a:sym typeface="Arial"/>
            </a:endParaRPr>
          </a:p>
        </p:txBody>
      </p:sp>
      <p:cxnSp>
        <p:nvCxnSpPr>
          <p:cNvPr id="215" name="Google Shape;215;g3ec88dc7738_0_93"/>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pic>
        <p:nvPicPr>
          <p:cNvPr id="216" name="Google Shape;216;g3ec88dc7738_0_93"/>
          <p:cNvPicPr preferRelativeResize="0"/>
          <p:nvPr/>
        </p:nvPicPr>
        <p:blipFill>
          <a:blip r:embed="rId3">
            <a:alphaModFix/>
          </a:blip>
          <a:stretch>
            <a:fillRect/>
          </a:stretch>
        </p:blipFill>
        <p:spPr>
          <a:xfrm>
            <a:off x="3714575" y="1843434"/>
            <a:ext cx="4762500" cy="4762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EF"/>
        </a:solidFill>
      </p:bgPr>
    </p:bg>
    <p:spTree>
      <p:nvGrpSpPr>
        <p:cNvPr id="221" name="Shape 221"/>
        <p:cNvGrpSpPr/>
        <p:nvPr/>
      </p:nvGrpSpPr>
      <p:grpSpPr>
        <a:xfrm>
          <a:off x="0" y="0"/>
          <a:ext cx="0" cy="0"/>
          <a:chOff x="0" y="0"/>
          <a:chExt cx="0" cy="0"/>
        </a:xfrm>
      </p:grpSpPr>
      <p:sp>
        <p:nvSpPr>
          <p:cNvPr id="222" name="Google Shape;222;p9"/>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QUANTITATIVE EVALUATION</a:t>
            </a:r>
            <a:endParaRPr b="0" i="0" sz="850" u="none" cap="none" strike="noStrike">
              <a:solidFill>
                <a:schemeClr val="dk1"/>
              </a:solidFill>
              <a:latin typeface="Arial"/>
              <a:ea typeface="Arial"/>
              <a:cs typeface="Arial"/>
              <a:sym typeface="Arial"/>
            </a:endParaRPr>
          </a:p>
        </p:txBody>
      </p:sp>
      <p:sp>
        <p:nvSpPr>
          <p:cNvPr id="223" name="Google Shape;223;p9"/>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Results</a:t>
            </a:r>
            <a:endParaRPr b="0" i="0" sz="3000" u="none" cap="none" strike="noStrike">
              <a:solidFill>
                <a:schemeClr val="dk1"/>
              </a:solidFill>
              <a:latin typeface="Arial"/>
              <a:ea typeface="Arial"/>
              <a:cs typeface="Arial"/>
              <a:sym typeface="Arial"/>
            </a:endParaRPr>
          </a:p>
        </p:txBody>
      </p:sp>
      <p:cxnSp>
        <p:nvCxnSpPr>
          <p:cNvPr id="224" name="Google Shape;224;p9"/>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225" name="Google Shape;225;p9"/>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226" name="Google Shape;226;p9"/>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227" name="Google Shape;227;p9"/>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9</a:t>
            </a:r>
            <a:endParaRPr b="0" i="0" sz="750" u="none" cap="none" strike="noStrike">
              <a:solidFill>
                <a:schemeClr val="dk1"/>
              </a:solidFill>
              <a:latin typeface="Arial"/>
              <a:ea typeface="Arial"/>
              <a:cs typeface="Arial"/>
              <a:sym typeface="Arial"/>
            </a:endParaRPr>
          </a:p>
        </p:txBody>
      </p:sp>
      <p:sp>
        <p:nvSpPr>
          <p:cNvPr id="228" name="Google Shape;228;p9"/>
          <p:cNvSpPr/>
          <p:nvPr/>
        </p:nvSpPr>
        <p:spPr>
          <a:xfrm>
            <a:off x="777240" y="1620775"/>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F89"/>
              </a:buClr>
              <a:buSzPts val="2900"/>
              <a:buFont typeface="Arial"/>
              <a:buNone/>
            </a:pPr>
            <a:r>
              <a:rPr b="1" i="0" lang="en-US" sz="2900" u="none" cap="none" strike="noStrike">
                <a:solidFill>
                  <a:srgbClr val="1B7F89"/>
                </a:solidFill>
                <a:latin typeface="Arial"/>
                <a:ea typeface="Arial"/>
                <a:cs typeface="Arial"/>
                <a:sym typeface="Arial"/>
              </a:rPr>
              <a:t>16/16</a:t>
            </a:r>
            <a:endParaRPr b="0" i="0" sz="2900" u="none" cap="none" strike="noStrike">
              <a:solidFill>
                <a:schemeClr val="dk1"/>
              </a:solidFill>
              <a:latin typeface="Arial"/>
              <a:ea typeface="Arial"/>
              <a:cs typeface="Arial"/>
              <a:sym typeface="Arial"/>
            </a:endParaRPr>
          </a:p>
        </p:txBody>
      </p:sp>
      <p:sp>
        <p:nvSpPr>
          <p:cNvPr id="229" name="Google Shape;229;p9"/>
          <p:cNvSpPr/>
          <p:nvPr/>
        </p:nvSpPr>
        <p:spPr>
          <a:xfrm>
            <a:off x="777240" y="2141984"/>
            <a:ext cx="2011800" cy="4389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150"/>
              <a:buFont typeface="Arial"/>
              <a:buNone/>
            </a:pPr>
            <a:r>
              <a:rPr b="0" i="0" lang="en-US" sz="1150" u="none" cap="none" strike="noStrike">
                <a:solidFill>
                  <a:srgbClr val="59656F"/>
                </a:solidFill>
                <a:latin typeface="Arial"/>
                <a:ea typeface="Arial"/>
                <a:cs typeface="Arial"/>
                <a:sym typeface="Arial"/>
              </a:rPr>
              <a:t>vignette decision accuracy</a:t>
            </a:r>
            <a:endParaRPr b="0" i="0" sz="1150" u="none" cap="none" strike="noStrike">
              <a:solidFill>
                <a:schemeClr val="dk1"/>
              </a:solidFill>
              <a:latin typeface="Arial"/>
              <a:ea typeface="Arial"/>
              <a:cs typeface="Arial"/>
              <a:sym typeface="Arial"/>
            </a:endParaRPr>
          </a:p>
        </p:txBody>
      </p:sp>
      <p:sp>
        <p:nvSpPr>
          <p:cNvPr id="230" name="Google Shape;230;p9"/>
          <p:cNvSpPr/>
          <p:nvPr/>
        </p:nvSpPr>
        <p:spPr>
          <a:xfrm>
            <a:off x="2926080" y="1620775"/>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A6A5"/>
              </a:buClr>
              <a:buSzPts val="2900"/>
              <a:buFont typeface="Arial"/>
              <a:buNone/>
            </a:pPr>
            <a:r>
              <a:rPr b="1" i="0" lang="en-US" sz="2900" u="none" cap="none" strike="noStrike">
                <a:solidFill>
                  <a:srgbClr val="38A6A5"/>
                </a:solidFill>
                <a:latin typeface="Arial"/>
                <a:ea typeface="Arial"/>
                <a:cs typeface="Arial"/>
                <a:sym typeface="Arial"/>
              </a:rPr>
              <a:t>16/16</a:t>
            </a:r>
            <a:endParaRPr b="0" i="0" sz="2900" u="none" cap="none" strike="noStrike">
              <a:solidFill>
                <a:schemeClr val="dk1"/>
              </a:solidFill>
              <a:latin typeface="Arial"/>
              <a:ea typeface="Arial"/>
              <a:cs typeface="Arial"/>
              <a:sym typeface="Arial"/>
            </a:endParaRPr>
          </a:p>
        </p:txBody>
      </p:sp>
      <p:sp>
        <p:nvSpPr>
          <p:cNvPr id="231" name="Google Shape;231;p9"/>
          <p:cNvSpPr/>
          <p:nvPr/>
        </p:nvSpPr>
        <p:spPr>
          <a:xfrm>
            <a:off x="2926080" y="2141984"/>
            <a:ext cx="1828800" cy="4389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150"/>
              <a:buFont typeface="Arial"/>
              <a:buNone/>
            </a:pPr>
            <a:r>
              <a:rPr b="0" i="0" lang="en-US" sz="1150" u="none" cap="none" strike="noStrike">
                <a:solidFill>
                  <a:srgbClr val="59656F"/>
                </a:solidFill>
                <a:latin typeface="Arial"/>
                <a:ea typeface="Arial"/>
                <a:cs typeface="Arial"/>
                <a:sym typeface="Arial"/>
              </a:rPr>
              <a:t>match-type accuracy</a:t>
            </a:r>
            <a:endParaRPr b="0" i="0" sz="1150" u="none" cap="none" strike="noStrike">
              <a:solidFill>
                <a:schemeClr val="dk1"/>
              </a:solidFill>
              <a:latin typeface="Arial"/>
              <a:ea typeface="Arial"/>
              <a:cs typeface="Arial"/>
              <a:sym typeface="Arial"/>
            </a:endParaRPr>
          </a:p>
        </p:txBody>
      </p:sp>
      <p:sp>
        <p:nvSpPr>
          <p:cNvPr id="232" name="Google Shape;232;p9"/>
          <p:cNvSpPr/>
          <p:nvPr/>
        </p:nvSpPr>
        <p:spPr>
          <a:xfrm>
            <a:off x="4983480" y="1620775"/>
            <a:ext cx="150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B14D"/>
              </a:buClr>
              <a:buSzPts val="2900"/>
              <a:buFont typeface="Arial"/>
              <a:buNone/>
            </a:pPr>
            <a:r>
              <a:rPr b="1" i="0" lang="en-US" sz="2900" u="none" cap="none" strike="noStrike">
                <a:solidFill>
                  <a:srgbClr val="E8B14D"/>
                </a:solidFill>
                <a:latin typeface="Arial"/>
                <a:ea typeface="Arial"/>
                <a:cs typeface="Arial"/>
                <a:sym typeface="Arial"/>
              </a:rPr>
              <a:t>0.97</a:t>
            </a:r>
            <a:endParaRPr b="0" i="0" sz="2900" u="none" cap="none" strike="noStrike">
              <a:solidFill>
                <a:schemeClr val="dk1"/>
              </a:solidFill>
              <a:latin typeface="Arial"/>
              <a:ea typeface="Arial"/>
              <a:cs typeface="Arial"/>
              <a:sym typeface="Arial"/>
            </a:endParaRPr>
          </a:p>
        </p:txBody>
      </p:sp>
      <p:sp>
        <p:nvSpPr>
          <p:cNvPr id="233" name="Google Shape;233;p9"/>
          <p:cNvSpPr/>
          <p:nvPr/>
        </p:nvSpPr>
        <p:spPr>
          <a:xfrm>
            <a:off x="4983480" y="2141984"/>
            <a:ext cx="1508700" cy="4389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150"/>
              <a:buFont typeface="Arial"/>
              <a:buNone/>
            </a:pPr>
            <a:r>
              <a:rPr b="0" i="0" lang="en-US" sz="1150" u="none" cap="none" strike="noStrike">
                <a:solidFill>
                  <a:srgbClr val="59656F"/>
                </a:solidFill>
                <a:latin typeface="Arial"/>
                <a:ea typeface="Arial"/>
                <a:cs typeface="Arial"/>
                <a:sym typeface="Arial"/>
              </a:rPr>
              <a:t>LLM extraction F1</a:t>
            </a:r>
            <a:endParaRPr b="0" i="0" sz="1150" u="none" cap="none" strike="noStrike">
              <a:solidFill>
                <a:schemeClr val="dk1"/>
              </a:solidFill>
              <a:latin typeface="Arial"/>
              <a:ea typeface="Arial"/>
              <a:cs typeface="Arial"/>
              <a:sym typeface="Arial"/>
            </a:endParaRPr>
          </a:p>
        </p:txBody>
      </p:sp>
      <p:sp>
        <p:nvSpPr>
          <p:cNvPr id="234" name="Google Shape;234;p9"/>
          <p:cNvSpPr/>
          <p:nvPr/>
        </p:nvSpPr>
        <p:spPr>
          <a:xfrm>
            <a:off x="6858000" y="1620775"/>
            <a:ext cx="21030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6F5D"/>
              </a:buClr>
              <a:buSzPts val="2900"/>
              <a:buFont typeface="Arial"/>
              <a:buNone/>
            </a:pPr>
            <a:r>
              <a:rPr b="1" i="0" lang="en-US" sz="2900" u="none" cap="none" strike="noStrike">
                <a:solidFill>
                  <a:srgbClr val="D76F5D"/>
                </a:solidFill>
                <a:latin typeface="Arial"/>
                <a:ea typeface="Arial"/>
                <a:cs typeface="Arial"/>
                <a:sym typeface="Arial"/>
              </a:rPr>
              <a:t>35/36</a:t>
            </a:r>
            <a:endParaRPr b="0" i="0" sz="2900" u="none" cap="none" strike="noStrike">
              <a:solidFill>
                <a:schemeClr val="dk1"/>
              </a:solidFill>
              <a:latin typeface="Arial"/>
              <a:ea typeface="Arial"/>
              <a:cs typeface="Arial"/>
              <a:sym typeface="Arial"/>
            </a:endParaRPr>
          </a:p>
        </p:txBody>
      </p:sp>
      <p:sp>
        <p:nvSpPr>
          <p:cNvPr id="235" name="Google Shape;235;p9"/>
          <p:cNvSpPr/>
          <p:nvPr/>
        </p:nvSpPr>
        <p:spPr>
          <a:xfrm>
            <a:off x="6858000" y="2141984"/>
            <a:ext cx="2103000" cy="4389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150"/>
              <a:buFont typeface="Arial"/>
              <a:buNone/>
            </a:pPr>
            <a:r>
              <a:rPr b="0" i="0" lang="en-US" sz="1150" u="none" cap="none" strike="noStrike">
                <a:solidFill>
                  <a:srgbClr val="59656F"/>
                </a:solidFill>
                <a:latin typeface="Arial"/>
                <a:ea typeface="Arial"/>
                <a:cs typeface="Arial"/>
                <a:sym typeface="Arial"/>
              </a:rPr>
              <a:t>code/POLST field agreement</a:t>
            </a:r>
            <a:endParaRPr b="0" i="0" sz="1150" u="none" cap="none" strike="noStrike">
              <a:solidFill>
                <a:schemeClr val="dk1"/>
              </a:solidFill>
              <a:latin typeface="Arial"/>
              <a:ea typeface="Arial"/>
              <a:cs typeface="Arial"/>
              <a:sym typeface="Arial"/>
            </a:endParaRPr>
          </a:p>
        </p:txBody>
      </p:sp>
      <p:sp>
        <p:nvSpPr>
          <p:cNvPr id="236" name="Google Shape;236;p9"/>
          <p:cNvSpPr/>
          <p:nvPr/>
        </p:nvSpPr>
        <p:spPr>
          <a:xfrm>
            <a:off x="9144000" y="1620775"/>
            <a:ext cx="19203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8518A"/>
              </a:buClr>
              <a:buSzPts val="2900"/>
              <a:buFont typeface="Arial"/>
              <a:buNone/>
            </a:pPr>
            <a:r>
              <a:rPr b="1" i="0" lang="en-US" sz="2900" u="none" cap="none" strike="noStrike">
                <a:solidFill>
                  <a:srgbClr val="68518A"/>
                </a:solidFill>
                <a:latin typeface="Arial"/>
                <a:ea typeface="Arial"/>
                <a:cs typeface="Arial"/>
                <a:sym typeface="Arial"/>
              </a:rPr>
              <a:t>κ=1.00</a:t>
            </a:r>
            <a:endParaRPr b="0" i="0" sz="2900" u="none" cap="none" strike="noStrike">
              <a:solidFill>
                <a:schemeClr val="dk1"/>
              </a:solidFill>
              <a:latin typeface="Arial"/>
              <a:ea typeface="Arial"/>
              <a:cs typeface="Arial"/>
              <a:sym typeface="Arial"/>
            </a:endParaRPr>
          </a:p>
        </p:txBody>
      </p:sp>
      <p:sp>
        <p:nvSpPr>
          <p:cNvPr id="237" name="Google Shape;237;p9"/>
          <p:cNvSpPr/>
          <p:nvPr/>
        </p:nvSpPr>
        <p:spPr>
          <a:xfrm>
            <a:off x="9144000" y="2141984"/>
            <a:ext cx="1920300" cy="4389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59656F"/>
              </a:buClr>
              <a:buSzPts val="1150"/>
              <a:buFont typeface="Arial"/>
              <a:buNone/>
            </a:pPr>
            <a:r>
              <a:rPr b="0" i="0" lang="en-US" sz="1150" u="none" cap="none" strike="noStrike">
                <a:solidFill>
                  <a:srgbClr val="59656F"/>
                </a:solidFill>
                <a:latin typeface="Arial"/>
                <a:ea typeface="Arial"/>
                <a:cs typeface="Arial"/>
                <a:sym typeface="Arial"/>
              </a:rPr>
              <a:t>code status + POLST A</a:t>
            </a:r>
            <a:endParaRPr b="0" i="0" sz="1150" u="none" cap="none" strike="noStrike">
              <a:solidFill>
                <a:schemeClr val="dk1"/>
              </a:solidFill>
              <a:latin typeface="Arial"/>
              <a:ea typeface="Arial"/>
              <a:cs typeface="Arial"/>
              <a:sym typeface="Arial"/>
            </a:endParaRPr>
          </a:p>
        </p:txBody>
      </p:sp>
      <p:sp>
        <p:nvSpPr>
          <p:cNvPr id="238" name="Google Shape;238;p9"/>
          <p:cNvSpPr/>
          <p:nvPr/>
        </p:nvSpPr>
        <p:spPr>
          <a:xfrm>
            <a:off x="1234440" y="2752305"/>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400"/>
              <a:buFont typeface="Arial"/>
              <a:buNone/>
            </a:pPr>
            <a:r>
              <a:rPr b="1" lang="en-US">
                <a:solidFill>
                  <a:srgbClr val="11364A"/>
                </a:solidFill>
              </a:rPr>
              <a:t>Ontology and </a:t>
            </a:r>
            <a:r>
              <a:rPr b="1" i="0" lang="en-US" sz="1400" u="none" cap="none" strike="noStrike">
                <a:solidFill>
                  <a:srgbClr val="11364A"/>
                </a:solidFill>
                <a:latin typeface="Arial"/>
                <a:ea typeface="Arial"/>
                <a:cs typeface="Arial"/>
                <a:sym typeface="Arial"/>
              </a:rPr>
              <a:t>Reasoner ablation</a:t>
            </a:r>
            <a:endParaRPr b="0" i="0" sz="1400" u="none" cap="none" strike="noStrike">
              <a:solidFill>
                <a:schemeClr val="dk1"/>
              </a:solidFill>
              <a:latin typeface="Arial"/>
              <a:ea typeface="Arial"/>
              <a:cs typeface="Arial"/>
              <a:sym typeface="Arial"/>
            </a:endParaRPr>
          </a:p>
        </p:txBody>
      </p:sp>
      <p:sp>
        <p:nvSpPr>
          <p:cNvPr id="239" name="Google Shape;239;p9"/>
          <p:cNvSpPr/>
          <p:nvPr/>
        </p:nvSpPr>
        <p:spPr>
          <a:xfrm>
            <a:off x="1234440" y="3163785"/>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Full reasoner</a:t>
            </a:r>
            <a:endParaRPr b="0" i="0" sz="1100" u="none" cap="none" strike="noStrike">
              <a:solidFill>
                <a:schemeClr val="dk1"/>
              </a:solidFill>
              <a:latin typeface="Arial"/>
              <a:ea typeface="Arial"/>
              <a:cs typeface="Arial"/>
              <a:sym typeface="Arial"/>
            </a:endParaRPr>
          </a:p>
        </p:txBody>
      </p:sp>
      <p:sp>
        <p:nvSpPr>
          <p:cNvPr id="240" name="Google Shape;240;p9"/>
          <p:cNvSpPr/>
          <p:nvPr/>
        </p:nvSpPr>
        <p:spPr>
          <a:xfrm>
            <a:off x="2697480" y="3163785"/>
            <a:ext cx="3108900" cy="320100"/>
          </a:xfrm>
          <a:prstGeom prst="rect">
            <a:avLst/>
          </a:prstGeom>
          <a:solidFill>
            <a:srgbClr val="1B7F89"/>
          </a:solidFill>
          <a:ln cap="flat" cmpd="sng" w="12700">
            <a:solidFill>
              <a:srgbClr val="1B7F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5916168" y="3200361"/>
            <a:ext cx="548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100"/>
              <a:buFont typeface="Arial"/>
              <a:buNone/>
            </a:pPr>
            <a:r>
              <a:rPr b="1" i="0" lang="en-US" sz="1100" u="none" cap="none" strike="noStrike">
                <a:solidFill>
                  <a:srgbClr val="11364A"/>
                </a:solidFill>
                <a:latin typeface="Arial"/>
                <a:ea typeface="Arial"/>
                <a:cs typeface="Arial"/>
                <a:sym typeface="Arial"/>
              </a:rPr>
              <a:t>100%</a:t>
            </a:r>
            <a:endParaRPr b="0" i="0" sz="1100" u="none" cap="none" strike="noStrike">
              <a:solidFill>
                <a:schemeClr val="dk1"/>
              </a:solidFill>
              <a:latin typeface="Arial"/>
              <a:ea typeface="Arial"/>
              <a:cs typeface="Arial"/>
              <a:sym typeface="Arial"/>
            </a:endParaRPr>
          </a:p>
        </p:txBody>
      </p:sp>
      <p:sp>
        <p:nvSpPr>
          <p:cNvPr id="242" name="Google Shape;242;p9"/>
          <p:cNvSpPr/>
          <p:nvPr/>
        </p:nvSpPr>
        <p:spPr>
          <a:xfrm>
            <a:off x="1234440" y="3832451"/>
            <a:ext cx="141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100"/>
              <a:buFont typeface="Arial"/>
              <a:buNone/>
            </a:pPr>
            <a:r>
              <a:rPr b="0" i="0" lang="en-US" sz="1100" u="none" cap="none" strike="noStrike">
                <a:solidFill>
                  <a:srgbClr val="59656F"/>
                </a:solidFill>
                <a:latin typeface="Arial"/>
                <a:ea typeface="Arial"/>
                <a:cs typeface="Arial"/>
                <a:sym typeface="Arial"/>
              </a:rPr>
              <a:t>Condition-blind</a:t>
            </a:r>
            <a:endParaRPr b="0" i="0" sz="1100" u="none" cap="none" strike="noStrike">
              <a:solidFill>
                <a:schemeClr val="dk1"/>
              </a:solidFill>
              <a:latin typeface="Arial"/>
              <a:ea typeface="Arial"/>
              <a:cs typeface="Arial"/>
              <a:sym typeface="Arial"/>
            </a:endParaRPr>
          </a:p>
        </p:txBody>
      </p:sp>
      <p:sp>
        <p:nvSpPr>
          <p:cNvPr id="243" name="Google Shape;243;p9"/>
          <p:cNvSpPr/>
          <p:nvPr/>
        </p:nvSpPr>
        <p:spPr>
          <a:xfrm>
            <a:off x="2697480" y="3832451"/>
            <a:ext cx="2331600" cy="320100"/>
          </a:xfrm>
          <a:prstGeom prst="rect">
            <a:avLst/>
          </a:prstGeom>
          <a:solidFill>
            <a:srgbClr val="D76F5D"/>
          </a:solidFill>
          <a:ln cap="flat" cmpd="sng" w="12700">
            <a:solidFill>
              <a:srgbClr val="D76F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5138928" y="3869027"/>
            <a:ext cx="548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100"/>
              <a:buFont typeface="Arial"/>
              <a:buNone/>
            </a:pPr>
            <a:r>
              <a:rPr b="1" i="0" lang="en-US" sz="1100" u="none" cap="none" strike="noStrike">
                <a:solidFill>
                  <a:srgbClr val="11364A"/>
                </a:solidFill>
                <a:latin typeface="Arial"/>
                <a:ea typeface="Arial"/>
                <a:cs typeface="Arial"/>
                <a:sym typeface="Arial"/>
              </a:rPr>
              <a:t>75%</a:t>
            </a:r>
            <a:endParaRPr b="0" i="0" sz="1100" u="none" cap="none" strike="noStrike">
              <a:solidFill>
                <a:schemeClr val="dk1"/>
              </a:solidFill>
              <a:latin typeface="Arial"/>
              <a:ea typeface="Arial"/>
              <a:cs typeface="Arial"/>
              <a:sym typeface="Arial"/>
            </a:endParaRPr>
          </a:p>
        </p:txBody>
      </p:sp>
      <p:sp>
        <p:nvSpPr>
          <p:cNvPr id="245" name="Google Shape;245;p9"/>
          <p:cNvSpPr/>
          <p:nvPr/>
        </p:nvSpPr>
        <p:spPr>
          <a:xfrm>
            <a:off x="6925100" y="3236925"/>
            <a:ext cx="4642200" cy="658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500"/>
              <a:buFont typeface="Arial"/>
              <a:buNone/>
            </a:pPr>
            <a:r>
              <a:rPr i="0" lang="en-US" sz="1500" u="none" cap="none" strike="noStrike">
                <a:solidFill>
                  <a:srgbClr val="59656F"/>
                </a:solidFill>
              </a:rPr>
              <a:t>Ignoring activation conditions produced false-confident errors on the four conditional cases.</a:t>
            </a:r>
            <a:endParaRPr i="0" sz="1500" u="none" cap="none" strike="noStrike">
              <a:solidFill>
                <a:schemeClr val="dk1"/>
              </a:solidFill>
            </a:endParaRPr>
          </a:p>
        </p:txBody>
      </p:sp>
      <p:sp>
        <p:nvSpPr>
          <p:cNvPr id="246" name="Google Shape;246;p9"/>
          <p:cNvSpPr/>
          <p:nvPr/>
        </p:nvSpPr>
        <p:spPr>
          <a:xfrm>
            <a:off x="2743200" y="5925327"/>
            <a:ext cx="6766500" cy="384000"/>
          </a:xfrm>
          <a:prstGeom prst="rect">
            <a:avLst/>
          </a:prstGeom>
          <a:solidFill>
            <a:srgbClr val="11364A"/>
          </a:solidFill>
          <a:ln cap="flat" cmpd="sng" w="9525">
            <a:solidFill>
              <a:srgbClr val="11364A">
                <a:alpha val="0"/>
              </a:srgbClr>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Key finding: conditional logic prevents dangerous over-reading</a:t>
            </a:r>
            <a:endParaRPr b="0" i="0" sz="1500" u="none" cap="none" strike="noStrike">
              <a:solidFill>
                <a:schemeClr val="dk1"/>
              </a:solidFill>
              <a:latin typeface="Arial"/>
              <a:ea typeface="Arial"/>
              <a:cs typeface="Arial"/>
              <a:sym typeface="Arial"/>
            </a:endParaRPr>
          </a:p>
        </p:txBody>
      </p:sp>
      <p:sp>
        <p:nvSpPr>
          <p:cNvPr id="247" name="Google Shape;247;p9"/>
          <p:cNvSpPr/>
          <p:nvPr/>
        </p:nvSpPr>
        <p:spPr>
          <a:xfrm>
            <a:off x="1234440" y="4437176"/>
            <a:ext cx="141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100"/>
              <a:buFont typeface="Arial"/>
              <a:buNone/>
            </a:pPr>
            <a:r>
              <a:rPr lang="en-US" sz="1100">
                <a:solidFill>
                  <a:srgbClr val="59656F"/>
                </a:solidFill>
              </a:rPr>
              <a:t>E2E LLM Chatbot-style</a:t>
            </a:r>
            <a:endParaRPr b="0" i="0" sz="1100" u="none" cap="none" strike="noStrike">
              <a:solidFill>
                <a:schemeClr val="dk1"/>
              </a:solidFill>
              <a:latin typeface="Arial"/>
              <a:ea typeface="Arial"/>
              <a:cs typeface="Arial"/>
              <a:sym typeface="Arial"/>
            </a:endParaRPr>
          </a:p>
        </p:txBody>
      </p:sp>
      <p:sp>
        <p:nvSpPr>
          <p:cNvPr id="248" name="Google Shape;248;p9"/>
          <p:cNvSpPr/>
          <p:nvPr/>
        </p:nvSpPr>
        <p:spPr>
          <a:xfrm>
            <a:off x="2697476" y="4437175"/>
            <a:ext cx="2011800" cy="320100"/>
          </a:xfrm>
          <a:prstGeom prst="rect">
            <a:avLst/>
          </a:prstGeom>
          <a:solidFill>
            <a:srgbClr val="E8B1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4781944" y="4473752"/>
            <a:ext cx="548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100"/>
              <a:buFont typeface="Arial"/>
              <a:buNone/>
            </a:pPr>
            <a:r>
              <a:rPr b="1" lang="en-US" sz="1100">
                <a:solidFill>
                  <a:srgbClr val="11364A"/>
                </a:solidFill>
              </a:rPr>
              <a:t>62</a:t>
            </a:r>
            <a:r>
              <a:rPr b="1" i="0" lang="en-US" sz="1100" u="none" cap="none" strike="noStrike">
                <a:solidFill>
                  <a:srgbClr val="11364A"/>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250" name="Google Shape;250;p9"/>
          <p:cNvSpPr/>
          <p:nvPr/>
        </p:nvSpPr>
        <p:spPr>
          <a:xfrm>
            <a:off x="1234440" y="4984663"/>
            <a:ext cx="141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100"/>
              <a:buFont typeface="Arial"/>
              <a:buNone/>
            </a:pPr>
            <a:r>
              <a:rPr lang="en-US" sz="1100">
                <a:solidFill>
                  <a:srgbClr val="59656F"/>
                </a:solidFill>
              </a:rPr>
              <a:t>E2E </a:t>
            </a:r>
            <a:r>
              <a:rPr lang="en-US" sz="1100">
                <a:solidFill>
                  <a:srgbClr val="59656F"/>
                </a:solidFill>
              </a:rPr>
              <a:t>Full context LLM API call</a:t>
            </a:r>
            <a:endParaRPr b="0" i="0" sz="1100" u="none" cap="none" strike="noStrike">
              <a:solidFill>
                <a:schemeClr val="dk1"/>
              </a:solidFill>
              <a:latin typeface="Arial"/>
              <a:ea typeface="Arial"/>
              <a:cs typeface="Arial"/>
              <a:sym typeface="Arial"/>
            </a:endParaRPr>
          </a:p>
        </p:txBody>
      </p:sp>
      <p:sp>
        <p:nvSpPr>
          <p:cNvPr id="251" name="Google Shape;251;p9"/>
          <p:cNvSpPr/>
          <p:nvPr/>
        </p:nvSpPr>
        <p:spPr>
          <a:xfrm>
            <a:off x="2697480" y="4984663"/>
            <a:ext cx="2331600" cy="320100"/>
          </a:xfrm>
          <a:prstGeom prst="rect">
            <a:avLst/>
          </a:prstGeom>
          <a:solidFill>
            <a:srgbClr val="38A6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5138928" y="5021239"/>
            <a:ext cx="548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1100"/>
              <a:buFont typeface="Arial"/>
              <a:buNone/>
            </a:pPr>
            <a:r>
              <a:rPr b="1" i="0" lang="en-US" sz="1100" u="none" cap="none" strike="noStrike">
                <a:solidFill>
                  <a:srgbClr val="11364A"/>
                </a:solidFill>
                <a:latin typeface="Arial"/>
                <a:ea typeface="Arial"/>
                <a:cs typeface="Arial"/>
                <a:sym typeface="Arial"/>
              </a:rPr>
              <a:t>75%</a:t>
            </a:r>
            <a:endParaRPr b="0" i="0" sz="1100" u="none" cap="none" strike="noStrike">
              <a:solidFill>
                <a:schemeClr val="dk1"/>
              </a:solidFill>
              <a:latin typeface="Arial"/>
              <a:ea typeface="Arial"/>
              <a:cs typeface="Arial"/>
              <a:sym typeface="Arial"/>
            </a:endParaRPr>
          </a:p>
        </p:txBody>
      </p:sp>
      <p:sp>
        <p:nvSpPr>
          <p:cNvPr id="253" name="Google Shape;253;p9"/>
          <p:cNvSpPr/>
          <p:nvPr/>
        </p:nvSpPr>
        <p:spPr>
          <a:xfrm>
            <a:off x="6925100" y="4239305"/>
            <a:ext cx="46422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656F"/>
              </a:buClr>
              <a:buSzPts val="1500"/>
              <a:buFont typeface="Arial"/>
              <a:buNone/>
            </a:pPr>
            <a:r>
              <a:rPr lang="en-US" sz="1500">
                <a:solidFill>
                  <a:srgbClr val="59656F"/>
                </a:solidFill>
              </a:rPr>
              <a:t>Dropping the ontology and reasoner entirely resulted in dropped performance on ambiguous cases.</a:t>
            </a:r>
            <a:endParaRPr i="0" sz="1500" u="none" cap="none" strike="noStrike">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EF"/>
        </a:solidFill>
      </p:bgPr>
    </p:bg>
    <p:spTree>
      <p:nvGrpSpPr>
        <p:cNvPr id="258" name="Shape 258"/>
        <p:cNvGrpSpPr/>
        <p:nvPr/>
      </p:nvGrpSpPr>
      <p:grpSpPr>
        <a:xfrm>
          <a:off x="0" y="0"/>
          <a:ext cx="0" cy="0"/>
          <a:chOff x="0" y="0"/>
          <a:chExt cx="0" cy="0"/>
        </a:xfrm>
      </p:grpSpPr>
      <p:pic>
        <p:nvPicPr>
          <p:cNvPr id="259" name="Google Shape;259;g3ec88dc7738_0_21" title="Screenshot 2026-05-31 at 6.02.02 PM.png"/>
          <p:cNvPicPr preferRelativeResize="0"/>
          <p:nvPr/>
        </p:nvPicPr>
        <p:blipFill>
          <a:blip r:embed="rId3">
            <a:alphaModFix/>
          </a:blip>
          <a:stretch>
            <a:fillRect/>
          </a:stretch>
        </p:blipFill>
        <p:spPr>
          <a:xfrm>
            <a:off x="1896163" y="152400"/>
            <a:ext cx="8399344" cy="655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EF"/>
        </a:solidFill>
      </p:bgPr>
    </p:bg>
    <p:spTree>
      <p:nvGrpSpPr>
        <p:cNvPr id="264" name="Shape 264"/>
        <p:cNvGrpSpPr/>
        <p:nvPr/>
      </p:nvGrpSpPr>
      <p:grpSpPr>
        <a:xfrm>
          <a:off x="0" y="0"/>
          <a:ext cx="0" cy="0"/>
          <a:chOff x="0" y="0"/>
          <a:chExt cx="0" cy="0"/>
        </a:xfrm>
      </p:grpSpPr>
      <p:sp>
        <p:nvSpPr>
          <p:cNvPr id="265" name="Google Shape;265;p10"/>
          <p:cNvSpPr/>
          <p:nvPr/>
        </p:nvSpPr>
        <p:spPr>
          <a:xfrm>
            <a:off x="685800" y="438912"/>
            <a:ext cx="7132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F89"/>
              </a:buClr>
              <a:buSzPts val="850"/>
              <a:buFont typeface="Arial"/>
              <a:buNone/>
            </a:pPr>
            <a:r>
              <a:rPr b="1" i="0" lang="en-US" sz="850" u="none" cap="none" strike="noStrike">
                <a:solidFill>
                  <a:srgbClr val="1B7F89"/>
                </a:solidFill>
                <a:latin typeface="Arial"/>
                <a:ea typeface="Arial"/>
                <a:cs typeface="Arial"/>
                <a:sym typeface="Arial"/>
              </a:rPr>
              <a:t>EXAMPLE DECISION LOGIC</a:t>
            </a:r>
            <a:endParaRPr b="0" i="0" sz="850" u="none" cap="none" strike="noStrike">
              <a:solidFill>
                <a:schemeClr val="dk1"/>
              </a:solidFill>
              <a:latin typeface="Arial"/>
              <a:ea typeface="Arial"/>
              <a:cs typeface="Arial"/>
              <a:sym typeface="Arial"/>
            </a:endParaRPr>
          </a:p>
        </p:txBody>
      </p:sp>
      <p:sp>
        <p:nvSpPr>
          <p:cNvPr id="266" name="Google Shape;266;p10"/>
          <p:cNvSpPr/>
          <p:nvPr/>
        </p:nvSpPr>
        <p:spPr>
          <a:xfrm>
            <a:off x="658368" y="713232"/>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364A"/>
              </a:buClr>
              <a:buSzPts val="3000"/>
              <a:buFont typeface="Arial"/>
              <a:buNone/>
            </a:pPr>
            <a:r>
              <a:rPr b="1" i="0" lang="en-US" sz="3000" u="none" cap="none" strike="noStrike">
                <a:solidFill>
                  <a:srgbClr val="11364A"/>
                </a:solidFill>
                <a:latin typeface="Arial"/>
                <a:ea typeface="Arial"/>
                <a:cs typeface="Arial"/>
                <a:sym typeface="Arial"/>
              </a:rPr>
              <a:t>What conditional reasoning changes</a:t>
            </a:r>
            <a:endParaRPr b="0" i="0" sz="3000" u="none" cap="none" strike="noStrike">
              <a:solidFill>
                <a:schemeClr val="dk1"/>
              </a:solidFill>
              <a:latin typeface="Arial"/>
              <a:ea typeface="Arial"/>
              <a:cs typeface="Arial"/>
              <a:sym typeface="Arial"/>
            </a:endParaRPr>
          </a:p>
        </p:txBody>
      </p:sp>
      <p:cxnSp>
        <p:nvCxnSpPr>
          <p:cNvPr id="267" name="Google Shape;267;p10"/>
          <p:cNvCxnSpPr/>
          <p:nvPr/>
        </p:nvCxnSpPr>
        <p:spPr>
          <a:xfrm>
            <a:off x="685800" y="1389888"/>
            <a:ext cx="3200400" cy="0"/>
          </a:xfrm>
          <a:prstGeom prst="straightConnector1">
            <a:avLst/>
          </a:prstGeom>
          <a:noFill/>
          <a:ln cap="flat" cmpd="sng" w="27925">
            <a:solidFill>
              <a:srgbClr val="E8B14D"/>
            </a:solidFill>
            <a:prstDash val="solid"/>
            <a:round/>
            <a:headEnd len="sm" w="sm" type="none"/>
            <a:tailEnd len="sm" w="sm" type="none"/>
          </a:ln>
        </p:spPr>
      </p:cxnSp>
      <p:cxnSp>
        <p:nvCxnSpPr>
          <p:cNvPr id="268" name="Google Shape;268;p10"/>
          <p:cNvCxnSpPr/>
          <p:nvPr/>
        </p:nvCxnSpPr>
        <p:spPr>
          <a:xfrm>
            <a:off x="594360" y="6473952"/>
            <a:ext cx="11000232" cy="0"/>
          </a:xfrm>
          <a:prstGeom prst="straightConnector1">
            <a:avLst/>
          </a:prstGeom>
          <a:noFill/>
          <a:ln cap="flat" cmpd="sng" w="9525">
            <a:solidFill>
              <a:srgbClr val="D8DFE1"/>
            </a:solidFill>
            <a:prstDash val="solid"/>
            <a:round/>
            <a:headEnd len="sm" w="sm" type="none"/>
            <a:tailEnd len="sm" w="sm" type="none"/>
          </a:ln>
        </p:spPr>
      </p:cxnSp>
      <p:sp>
        <p:nvSpPr>
          <p:cNvPr id="269" name="Google Shape;269;p10"/>
          <p:cNvSpPr/>
          <p:nvPr/>
        </p:nvSpPr>
        <p:spPr>
          <a:xfrm>
            <a:off x="658368" y="6556248"/>
            <a:ext cx="71323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Advance Directive Ontology (ADO)  |  BMDS 210 / CS 270</a:t>
            </a:r>
            <a:endParaRPr b="0" i="0" sz="750" u="none" cap="none" strike="noStrike">
              <a:solidFill>
                <a:schemeClr val="dk1"/>
              </a:solidFill>
              <a:latin typeface="Arial"/>
              <a:ea typeface="Arial"/>
              <a:cs typeface="Arial"/>
              <a:sym typeface="Arial"/>
            </a:endParaRPr>
          </a:p>
        </p:txBody>
      </p:sp>
      <p:sp>
        <p:nvSpPr>
          <p:cNvPr id="270" name="Google Shape;270;p10"/>
          <p:cNvSpPr/>
          <p:nvPr/>
        </p:nvSpPr>
        <p:spPr>
          <a:xfrm>
            <a:off x="11201400" y="6556248"/>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7C"/>
              </a:buClr>
              <a:buSzPts val="750"/>
              <a:buFont typeface="Arial"/>
              <a:buNone/>
            </a:pPr>
            <a:r>
              <a:rPr b="0" i="0" lang="en-US" sz="750" u="none" cap="none" strike="noStrike">
                <a:solidFill>
                  <a:srgbClr val="6B767C"/>
                </a:solidFill>
                <a:latin typeface="Arial"/>
                <a:ea typeface="Arial"/>
                <a:cs typeface="Arial"/>
                <a:sym typeface="Arial"/>
              </a:rPr>
              <a:t>10</a:t>
            </a:r>
            <a:endParaRPr b="0" i="0" sz="750" u="none" cap="none" strike="noStrike">
              <a:solidFill>
                <a:schemeClr val="dk1"/>
              </a:solidFill>
              <a:latin typeface="Arial"/>
              <a:ea typeface="Arial"/>
              <a:cs typeface="Arial"/>
              <a:sym typeface="Arial"/>
            </a:endParaRPr>
          </a:p>
        </p:txBody>
      </p:sp>
      <p:sp>
        <p:nvSpPr>
          <p:cNvPr id="271" name="Google Shape;271;p10"/>
          <p:cNvSpPr/>
          <p:nvPr/>
        </p:nvSpPr>
        <p:spPr>
          <a:xfrm>
            <a:off x="713232" y="1627632"/>
            <a:ext cx="100584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9656F"/>
              </a:buClr>
              <a:buSzPts val="1700"/>
              <a:buFont typeface="Arial"/>
              <a:buNone/>
            </a:pPr>
            <a:r>
              <a:rPr b="0" i="0" lang="en-US" sz="1700" u="none" cap="none" strike="noStrike">
                <a:solidFill>
                  <a:srgbClr val="59656F"/>
                </a:solidFill>
                <a:latin typeface="Arial"/>
                <a:ea typeface="Arial"/>
                <a:cs typeface="Arial"/>
                <a:sym typeface="Arial"/>
              </a:rPr>
              <a:t>The same directive can map to different bedside outputs depending on the scenario. ADO keeps that conditionality explicit.</a:t>
            </a:r>
            <a:endParaRPr b="0" i="0" sz="1700" u="none" cap="none" strike="noStrike">
              <a:solidFill>
                <a:schemeClr val="dk1"/>
              </a:solidFill>
              <a:latin typeface="Arial"/>
              <a:ea typeface="Arial"/>
              <a:cs typeface="Arial"/>
              <a:sym typeface="Arial"/>
            </a:endParaRPr>
          </a:p>
        </p:txBody>
      </p:sp>
      <p:sp>
        <p:nvSpPr>
          <p:cNvPr id="272" name="Google Shape;272;p10"/>
          <p:cNvSpPr/>
          <p:nvPr/>
        </p:nvSpPr>
        <p:spPr>
          <a:xfrm>
            <a:off x="3401568" y="2331720"/>
            <a:ext cx="5394960" cy="777240"/>
          </a:xfrm>
          <a:prstGeom prst="rect">
            <a:avLst/>
          </a:prstGeom>
          <a:solidFill>
            <a:srgbClr val="FFF9EA"/>
          </a:solidFill>
          <a:ln cap="flat" cmpd="sng" w="15225">
            <a:solidFill>
              <a:srgbClr val="E8B14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Directive preference</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600"/>
              <a:buFont typeface="Arial"/>
              <a:buNone/>
            </a:pPr>
            <a:r>
              <a:rPr b="1" i="0" lang="en-US" sz="1600" u="none" cap="none" strike="noStrike">
                <a:solidFill>
                  <a:srgbClr val="11364A"/>
                </a:solidFill>
                <a:latin typeface="Arial"/>
                <a:ea typeface="Arial"/>
                <a:cs typeface="Arial"/>
                <a:sym typeface="Arial"/>
              </a:rPr>
              <a:t>“No CPR if NYHA IV and no reversible cause.”</a:t>
            </a:r>
            <a:endParaRPr b="0" i="0" sz="1600" u="none" cap="none" strike="noStrike">
              <a:solidFill>
                <a:schemeClr val="dk1"/>
              </a:solidFill>
              <a:latin typeface="Arial"/>
              <a:ea typeface="Arial"/>
              <a:cs typeface="Arial"/>
              <a:sym typeface="Arial"/>
            </a:endParaRPr>
          </a:p>
        </p:txBody>
      </p:sp>
      <p:sp>
        <p:nvSpPr>
          <p:cNvPr id="273" name="Google Shape;273;p10"/>
          <p:cNvSpPr/>
          <p:nvPr/>
        </p:nvSpPr>
        <p:spPr>
          <a:xfrm>
            <a:off x="1143000" y="3886200"/>
            <a:ext cx="2971800" cy="658368"/>
          </a:xfrm>
          <a:prstGeom prst="rect">
            <a:avLst/>
          </a:prstGeom>
          <a:solidFill>
            <a:srgbClr val="FFFFFF"/>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Scenario A</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NYHA IV + no reversible cause</a:t>
            </a:r>
            <a:endParaRPr b="0" i="0" sz="1300" u="none" cap="none" strike="noStrike">
              <a:solidFill>
                <a:schemeClr val="dk1"/>
              </a:solidFill>
              <a:latin typeface="Arial"/>
              <a:ea typeface="Arial"/>
              <a:cs typeface="Arial"/>
              <a:sym typeface="Arial"/>
            </a:endParaRPr>
          </a:p>
        </p:txBody>
      </p:sp>
      <p:sp>
        <p:nvSpPr>
          <p:cNvPr id="274" name="Google Shape;274;p10"/>
          <p:cNvSpPr/>
          <p:nvPr/>
        </p:nvSpPr>
        <p:spPr>
          <a:xfrm>
            <a:off x="1143000" y="4718304"/>
            <a:ext cx="2971800" cy="658368"/>
          </a:xfrm>
          <a:prstGeom prst="rect">
            <a:avLst/>
          </a:prstGeom>
          <a:solidFill>
            <a:srgbClr val="E8F3F2"/>
          </a:solidFill>
          <a:ln cap="flat" cmpd="sng" w="15225">
            <a:solidFill>
              <a:srgbClr val="1B7F89"/>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500"/>
              <a:buFont typeface="Arial"/>
              <a:buNone/>
            </a:pPr>
            <a:r>
              <a:rPr b="1" i="0" lang="en-US" sz="1500" u="none" cap="none" strike="noStrike">
                <a:solidFill>
                  <a:srgbClr val="11364A"/>
                </a:solidFill>
                <a:latin typeface="Arial"/>
                <a:ea typeface="Arial"/>
                <a:cs typeface="Arial"/>
                <a:sym typeface="Arial"/>
              </a:rPr>
              <a:t>ADO output</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500"/>
              <a:buFont typeface="Arial"/>
              <a:buNone/>
            </a:pPr>
            <a:r>
              <a:rPr b="1" i="0" lang="en-US" sz="1500" u="none" cap="none" strike="noStrike">
                <a:solidFill>
                  <a:srgbClr val="11364A"/>
                </a:solidFill>
                <a:latin typeface="Arial"/>
                <a:ea typeface="Arial"/>
                <a:cs typeface="Arial"/>
                <a:sym typeface="Arial"/>
              </a:rPr>
              <a:t>DNR / clear match</a:t>
            </a:r>
            <a:endParaRPr b="0" i="0" sz="1500" u="none" cap="none" strike="noStrike">
              <a:solidFill>
                <a:schemeClr val="dk1"/>
              </a:solidFill>
              <a:latin typeface="Arial"/>
              <a:ea typeface="Arial"/>
              <a:cs typeface="Arial"/>
              <a:sym typeface="Arial"/>
            </a:endParaRPr>
          </a:p>
        </p:txBody>
      </p:sp>
      <p:sp>
        <p:nvSpPr>
          <p:cNvPr id="275" name="Google Shape;275;p10"/>
          <p:cNvSpPr/>
          <p:nvPr/>
        </p:nvSpPr>
        <p:spPr>
          <a:xfrm>
            <a:off x="8046720" y="3886200"/>
            <a:ext cx="2971800" cy="658368"/>
          </a:xfrm>
          <a:prstGeom prst="rect">
            <a:avLst/>
          </a:prstGeom>
          <a:solidFill>
            <a:srgbClr val="FFFFFF"/>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Scenario B</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300"/>
              <a:buFont typeface="Arial"/>
              <a:buNone/>
            </a:pPr>
            <a:r>
              <a:rPr b="1" i="0" lang="en-US" sz="1300" u="none" cap="none" strike="noStrike">
                <a:solidFill>
                  <a:srgbClr val="11364A"/>
                </a:solidFill>
                <a:latin typeface="Arial"/>
                <a:ea typeface="Arial"/>
                <a:cs typeface="Arial"/>
                <a:sym typeface="Arial"/>
              </a:rPr>
              <a:t>NYHA III + reversible cause</a:t>
            </a:r>
            <a:endParaRPr b="0" i="0" sz="1300" u="none" cap="none" strike="noStrike">
              <a:solidFill>
                <a:schemeClr val="dk1"/>
              </a:solidFill>
              <a:latin typeface="Arial"/>
              <a:ea typeface="Arial"/>
              <a:cs typeface="Arial"/>
              <a:sym typeface="Arial"/>
            </a:endParaRPr>
          </a:p>
        </p:txBody>
      </p:sp>
      <p:sp>
        <p:nvSpPr>
          <p:cNvPr id="276" name="Google Shape;276;p10"/>
          <p:cNvSpPr/>
          <p:nvPr/>
        </p:nvSpPr>
        <p:spPr>
          <a:xfrm>
            <a:off x="8046720" y="4718304"/>
            <a:ext cx="2971800" cy="658368"/>
          </a:xfrm>
          <a:prstGeom prst="rect">
            <a:avLst/>
          </a:prstGeom>
          <a:solidFill>
            <a:srgbClr val="FCEFEA"/>
          </a:solidFill>
          <a:ln cap="flat" cmpd="sng" w="15225">
            <a:solidFill>
              <a:srgbClr val="D76F5D"/>
            </a:solidFill>
            <a:prstDash val="solid"/>
            <a:round/>
            <a:headEnd len="sm" w="sm" type="none"/>
            <a:tailEnd len="sm" w="sm" type="none"/>
          </a:ln>
          <a:effectLst>
            <a:outerShdw blurRad="25400" rotWithShape="0" algn="bl" dir="2700000" dist="12700">
              <a:srgbClr val="000000">
                <a:alpha val="7843"/>
              </a:srgbClr>
            </a:outerShdw>
          </a:effectLst>
        </p:spPr>
        <p:txBody>
          <a:bodyPr anchorCtr="0" anchor="ctr" bIns="1500" lIns="1500" spcFirstLastPara="1" rIns="1500" wrap="square" tIns="1500">
            <a:normAutofit/>
          </a:bodyPr>
          <a:lstStyle/>
          <a:p>
            <a:pPr indent="0" lvl="0" marL="0" marR="0" rtl="0" algn="ctr">
              <a:spcBef>
                <a:spcPts val="0"/>
              </a:spcBef>
              <a:spcAft>
                <a:spcPts val="0"/>
              </a:spcAft>
              <a:buClr>
                <a:srgbClr val="11364A"/>
              </a:buClr>
              <a:buSzPts val="1500"/>
              <a:buFont typeface="Arial"/>
              <a:buNone/>
            </a:pPr>
            <a:r>
              <a:rPr b="1" i="0" lang="en-US" sz="1500" u="none" cap="none" strike="noStrike">
                <a:solidFill>
                  <a:srgbClr val="11364A"/>
                </a:solidFill>
                <a:latin typeface="Arial"/>
                <a:ea typeface="Arial"/>
                <a:cs typeface="Arial"/>
                <a:sym typeface="Arial"/>
              </a:rPr>
              <a:t>ADO output</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364A"/>
              </a:buClr>
              <a:buSzPts val="1500"/>
              <a:buFont typeface="Arial"/>
              <a:buNone/>
            </a:pPr>
            <a:r>
              <a:rPr b="1" i="0" lang="en-US" sz="1500" u="none" cap="none" strike="noStrike">
                <a:solidFill>
                  <a:srgbClr val="11364A"/>
                </a:solidFill>
                <a:latin typeface="Arial"/>
                <a:ea typeface="Arial"/>
                <a:cs typeface="Arial"/>
                <a:sym typeface="Arial"/>
              </a:rPr>
              <a:t>Full code / partial</a:t>
            </a:r>
            <a:endParaRPr b="0" i="0" sz="1500" u="none" cap="none" strike="noStrike">
              <a:solidFill>
                <a:schemeClr val="dk1"/>
              </a:solidFill>
              <a:latin typeface="Arial"/>
              <a:ea typeface="Arial"/>
              <a:cs typeface="Arial"/>
              <a:sym typeface="Arial"/>
            </a:endParaRPr>
          </a:p>
        </p:txBody>
      </p:sp>
      <p:sp>
        <p:nvSpPr>
          <p:cNvPr id="277" name="Google Shape;277;p10"/>
          <p:cNvSpPr/>
          <p:nvPr/>
        </p:nvSpPr>
        <p:spPr>
          <a:xfrm>
            <a:off x="1920240" y="5797296"/>
            <a:ext cx="84124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9656F"/>
              </a:buClr>
              <a:buSzPts val="1450"/>
              <a:buFont typeface="Arial"/>
              <a:buNone/>
            </a:pPr>
            <a:r>
              <a:rPr b="0" i="0" lang="en-US" sz="1450" u="none" cap="none" strike="noStrike">
                <a:solidFill>
                  <a:srgbClr val="59656F"/>
                </a:solidFill>
                <a:latin typeface="Arial"/>
                <a:ea typeface="Arial"/>
                <a:cs typeface="Arial"/>
                <a:sym typeface="Arial"/>
              </a:rPr>
              <a:t>A flat checkbox cannot carry this “if/then” structure; it must either over-apply or discard it.</a:t>
            </a:r>
            <a:endParaRPr b="0" i="0" sz="14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2026-05-31T02:48:26Z</dcterms:created>
  <dc:creator>OpenAI</dc:creator>
</cp:coreProperties>
</file>